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embeddedFontLst>
    <p:embeddedFont>
      <p:font typeface="Roboto Mono Medium"/>
      <p:regular r:id="rId21"/>
      <p:bold r:id="rId22"/>
      <p:italic r:id="rId23"/>
      <p:boldItalic r:id="rId24"/>
    </p:embeddedFont>
    <p:embeddedFont>
      <p:font typeface="Inter SemiBold"/>
      <p:regular r:id="rId25"/>
      <p:bold r:id="rId26"/>
      <p:italic r:id="rId27"/>
      <p:boldItalic r:id="rId28"/>
    </p:embeddedFont>
    <p:embeddedFont>
      <p:font typeface="Inter"/>
      <p:bold r:id="rId29"/>
      <p:boldItalic r:id="rId30"/>
    </p:embeddedFont>
    <p:embeddedFont>
      <p:font typeface="Inter ExtraBold"/>
      <p:bold r:id="rId31"/>
      <p:boldItalic r:id="rId32"/>
    </p:embeddedFont>
    <p:embeddedFont>
      <p:font typeface="Roboto Mono"/>
      <p:bold r:id="rId33"/>
      <p:boldItalic r:id="rId34"/>
    </p:embeddedFont>
    <p:embeddedFont>
      <p:font typeface="Inter Medium"/>
      <p:regular r:id="rId35"/>
      <p:bold r:id="rId36"/>
      <p:italic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RobotoMonoMedium-bold.fntdata"/><Relationship Id="rId21" Type="http://schemas.openxmlformats.org/officeDocument/2006/relationships/font" Target="fonts/RobotoMonoMedium-regular.fntdata"/><Relationship Id="rId24" Type="http://schemas.openxmlformats.org/officeDocument/2006/relationships/font" Target="fonts/RobotoMonoMedium-boldItalic.fntdata"/><Relationship Id="rId23" Type="http://schemas.openxmlformats.org/officeDocument/2006/relationships/font" Target="fonts/RobotoMonoMedium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InterSemiBold-bold.fntdata"/><Relationship Id="rId25" Type="http://schemas.openxmlformats.org/officeDocument/2006/relationships/font" Target="fonts/InterSemiBold-regular.fntdata"/><Relationship Id="rId28" Type="http://schemas.openxmlformats.org/officeDocument/2006/relationships/font" Target="fonts/InterSemiBold-boldItalic.fntdata"/><Relationship Id="rId27" Type="http://schemas.openxmlformats.org/officeDocument/2006/relationships/font" Target="fonts/InterSemiBold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Inter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InterExtraBold-bold.fntdata"/><Relationship Id="rId30" Type="http://schemas.openxmlformats.org/officeDocument/2006/relationships/font" Target="fonts/Inter-boldItalic.fntdata"/><Relationship Id="rId11" Type="http://schemas.openxmlformats.org/officeDocument/2006/relationships/slide" Target="slides/slide6.xml"/><Relationship Id="rId33" Type="http://schemas.openxmlformats.org/officeDocument/2006/relationships/font" Target="fonts/RobotoMono-bold.fntdata"/><Relationship Id="rId10" Type="http://schemas.openxmlformats.org/officeDocument/2006/relationships/slide" Target="slides/slide5.xml"/><Relationship Id="rId32" Type="http://schemas.openxmlformats.org/officeDocument/2006/relationships/font" Target="fonts/InterExtraBold-boldItalic.fntdata"/><Relationship Id="rId13" Type="http://schemas.openxmlformats.org/officeDocument/2006/relationships/slide" Target="slides/slide8.xml"/><Relationship Id="rId35" Type="http://schemas.openxmlformats.org/officeDocument/2006/relationships/font" Target="fonts/InterMedium-regular.fntdata"/><Relationship Id="rId12" Type="http://schemas.openxmlformats.org/officeDocument/2006/relationships/slide" Target="slides/slide7.xml"/><Relationship Id="rId34" Type="http://schemas.openxmlformats.org/officeDocument/2006/relationships/font" Target="fonts/RobotoMono-boldItalic.fntdata"/><Relationship Id="rId15" Type="http://schemas.openxmlformats.org/officeDocument/2006/relationships/slide" Target="slides/slide10.xml"/><Relationship Id="rId37" Type="http://schemas.openxmlformats.org/officeDocument/2006/relationships/font" Target="fonts/InterMedium-italic.fntdata"/><Relationship Id="rId14" Type="http://schemas.openxmlformats.org/officeDocument/2006/relationships/slide" Target="slides/slide9.xml"/><Relationship Id="rId36" Type="http://schemas.openxmlformats.org/officeDocument/2006/relationships/font" Target="fonts/InterMedium-bold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38" Type="http://schemas.openxmlformats.org/officeDocument/2006/relationships/font" Target="fonts/InterMedium-bold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409bf74f11f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g409bf74f11f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fa3b4e7faa_26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fa3b4e7faa_2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409bf74f11f_0_25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409bf74f11f_0_25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fa3b4e7faa_24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fa3b4e7faa_2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fa5ed671d9_1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3fa5ed671d9_1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fa5ed671d9_10_2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3fa5ed671d9_10_2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3fa5ed671d9_10_4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3fa5ed671d9_10_4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3fa3b73068e_22_18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4" name="Google Shape;384;g3fa3b73068e_22_18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3fa3b73068e_22_22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5" name="Google Shape;435;g3fa3b73068e_22_22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3fa3b73068e_22_28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5" name="Google Shape;465;g3fa3b73068e_22_28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g3fa3b73068e_22_4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3" name="Google Shape;493;g3fa3b73068e_22_4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g3fa3b73068e_22_36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5" name="Google Shape;535;g3fa3b73068e_22_36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g3fa3b4e7faa_15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6" name="Google Shape;616;g3fa3b4e7faa_1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g3fa5ed671d9_10_19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3" name="Google Shape;643;g3fa5ed671d9_10_19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g3fa5ed671d9_10_11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6" name="Google Shape;686;g3fa5ed671d9_10_1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fa3b4e7faa_13_0)">
  <p:cSld name="Generated (g3fa3b4e7faa_13_0)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" name="Google Shape;16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" name="Google Shape;23;p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" name="Google Shape;31;p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5" name="Google Shape;3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1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9" name="Google Shape;39;p1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0" name="Google Shape;40;p1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1" name="Google Shape;41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4" name="Google Shape;44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" name="Google Shape;47;p1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409bcc69b39_9_0)">
  <p:cSld name="Generated (g409bcc69b39_9_0)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Relationship Id="rId4" Type="http://schemas.openxmlformats.org/officeDocument/2006/relationships/image" Target="../media/image23.png"/><Relationship Id="rId5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9.png"/><Relationship Id="rId4" Type="http://schemas.openxmlformats.org/officeDocument/2006/relationships/image" Target="../media/image1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9.png"/><Relationship Id="rId4" Type="http://schemas.openxmlformats.org/officeDocument/2006/relationships/image" Target="../media/image4.png"/><Relationship Id="rId5" Type="http://schemas.openxmlformats.org/officeDocument/2006/relationships/image" Target="../media/image3.png"/><Relationship Id="rId6" Type="http://schemas.openxmlformats.org/officeDocument/2006/relationships/image" Target="../media/image7.png"/><Relationship Id="rId7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9.png"/><Relationship Id="rId4" Type="http://schemas.openxmlformats.org/officeDocument/2006/relationships/image" Target="../media/image13.png"/><Relationship Id="rId5" Type="http://schemas.openxmlformats.org/officeDocument/2006/relationships/image" Target="../media/image1.png"/><Relationship Id="rId6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9.png"/><Relationship Id="rId4" Type="http://schemas.openxmlformats.org/officeDocument/2006/relationships/image" Target="../media/image26.png"/><Relationship Id="rId5" Type="http://schemas.openxmlformats.org/officeDocument/2006/relationships/image" Target="../media/image2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3.png"/><Relationship Id="rId4" Type="http://schemas.openxmlformats.org/officeDocument/2006/relationships/image" Target="../media/image2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3.png"/></Relationships>
</file>

<file path=ppt/slides/_rels/slide12.xml.rels><?xml version="1.0" encoding="UTF-8" standalone="yes"?><Relationships xmlns="http://schemas.openxmlformats.org/package/2006/relationships"><Relationship Id="rId10" Type="http://schemas.openxmlformats.org/officeDocument/2006/relationships/image" Target="../media/image31.png"/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Relationship Id="rId4" Type="http://schemas.openxmlformats.org/officeDocument/2006/relationships/image" Target="../media/image33.png"/><Relationship Id="rId9" Type="http://schemas.openxmlformats.org/officeDocument/2006/relationships/image" Target="../media/image24.png"/><Relationship Id="rId5" Type="http://schemas.openxmlformats.org/officeDocument/2006/relationships/image" Target="../media/image37.png"/><Relationship Id="rId6" Type="http://schemas.openxmlformats.org/officeDocument/2006/relationships/image" Target="../media/image21.png"/><Relationship Id="rId7" Type="http://schemas.openxmlformats.org/officeDocument/2006/relationships/image" Target="../media/image35.png"/><Relationship Id="rId8" Type="http://schemas.openxmlformats.org/officeDocument/2006/relationships/image" Target="../media/image3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15"/>
          <p:cNvPicPr preferRelativeResize="0"/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>
            <a:off x="0" y="19936"/>
            <a:ext cx="9144002" cy="5103629"/>
          </a:xfrm>
          <a:prstGeom prst="rect">
            <a:avLst/>
          </a:prstGeom>
          <a:noFill/>
          <a:ln>
            <a:noFill/>
          </a:ln>
          <a:effectLst>
            <a:reflection blurRad="0" dir="5400000" dist="38100" endA="0" endPos="30000" fadeDir="5400012" kx="0" rotWithShape="0" algn="bl" stA="9000" stPos="0" sy="-100000" ky="0"/>
          </a:effectLst>
        </p:spPr>
      </p:pic>
      <p:grpSp>
        <p:nvGrpSpPr>
          <p:cNvPr id="57" name="Google Shape;57;p15"/>
          <p:cNvGrpSpPr/>
          <p:nvPr/>
        </p:nvGrpSpPr>
        <p:grpSpPr>
          <a:xfrm>
            <a:off x="762000" y="600075"/>
            <a:ext cx="380925" cy="190500"/>
            <a:chOff x="0" y="0"/>
            <a:chExt cx="380925" cy="190500"/>
          </a:xfrm>
        </p:grpSpPr>
        <p:sp>
          <p:nvSpPr>
            <p:cNvPr id="58" name="Google Shape;58;p15"/>
            <p:cNvSpPr/>
            <p:nvPr/>
          </p:nvSpPr>
          <p:spPr>
            <a:xfrm>
              <a:off x="0" y="0"/>
              <a:ext cx="285900" cy="190500"/>
            </a:xfrm>
            <a:custGeom>
              <a:rect b="b" l="l" r="r" t="t"/>
              <a:pathLst>
                <a:path extrusionOk="0" h="120000" w="120000">
                  <a:moveTo>
                    <a:pt x="40000" y="0"/>
                  </a:moveTo>
                  <a:lnTo>
                    <a:pt x="120000" y="0"/>
                  </a:lnTo>
                  <a:lnTo>
                    <a:pt x="8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06B6D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15"/>
            <p:cNvSpPr/>
            <p:nvPr/>
          </p:nvSpPr>
          <p:spPr>
            <a:xfrm>
              <a:off x="238125" y="0"/>
              <a:ext cx="142800" cy="190500"/>
            </a:xfrm>
            <a:custGeom>
              <a:rect b="b" l="l" r="r" t="t"/>
              <a:pathLst>
                <a:path extrusionOk="0" h="120000" w="120000">
                  <a:moveTo>
                    <a:pt x="80000" y="0"/>
                  </a:moveTo>
                  <a:lnTo>
                    <a:pt x="120000" y="0"/>
                  </a:lnTo>
                  <a:lnTo>
                    <a:pt x="4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15"/>
          <p:cNvSpPr txBox="1"/>
          <p:nvPr/>
        </p:nvSpPr>
        <p:spPr>
          <a:xfrm>
            <a:off x="762000" y="1276885"/>
            <a:ext cx="3905400" cy="3238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3200">
                <a:solidFill>
                  <a:srgbClr val="0A192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Adversarial Robustness in Network Intrusion Detection Systems</a:t>
            </a:r>
            <a:endParaRPr b="0" sz="3200">
              <a:solidFill>
                <a:srgbClr val="0A192F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b="0" lang="en" sz="1350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via Attribution-Guided Feature Selection and Dynamic Multi-Stage Adversarial Training</a:t>
            </a:r>
            <a:endParaRPr b="0" sz="1350">
              <a:solidFill>
                <a:srgbClr val="2563EB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61" name="Google Shape;61;p15"/>
          <p:cNvSpPr/>
          <p:nvPr/>
        </p:nvSpPr>
        <p:spPr>
          <a:xfrm>
            <a:off x="5143500" y="619125"/>
            <a:ext cx="3238500" cy="3905400"/>
          </a:xfrm>
          <a:prstGeom prst="roundRect">
            <a:avLst>
              <a:gd fmla="val 3529" name="adj"/>
            </a:avLst>
          </a:prstGeom>
          <a:solidFill>
            <a:srgbClr val="FFFFFF"/>
          </a:solidFill>
          <a:ln cap="flat" cmpd="sng" w="14300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5"/>
          <p:cNvSpPr/>
          <p:nvPr/>
        </p:nvSpPr>
        <p:spPr>
          <a:xfrm>
            <a:off x="5143500" y="619125"/>
            <a:ext cx="3238500" cy="152400"/>
          </a:xfrm>
          <a:custGeom>
            <a:rect b="b" l="l" r="r" t="t"/>
            <a:pathLst>
              <a:path extrusionOk="0" h="120000" w="120000">
                <a:moveTo>
                  <a:pt x="4235" y="0"/>
                </a:moveTo>
                <a:lnTo>
                  <a:pt x="115765" y="0"/>
                </a:lnTo>
                <a:cubicBezTo>
                  <a:pt x="118094" y="0"/>
                  <a:pt x="120000" y="40500"/>
                  <a:pt x="120000" y="90000"/>
                </a:cubicBezTo>
                <a:lnTo>
                  <a:pt x="120000" y="120000"/>
                </a:lnTo>
                <a:lnTo>
                  <a:pt x="0" y="120000"/>
                </a:lnTo>
                <a:lnTo>
                  <a:pt x="0" y="90000"/>
                </a:lnTo>
                <a:cubicBezTo>
                  <a:pt x="0" y="40500"/>
                  <a:pt x="1906" y="0"/>
                  <a:pt x="4235" y="0"/>
                </a:cubicBezTo>
                <a:close/>
              </a:path>
            </a:pathLst>
          </a:custGeom>
          <a:solidFill>
            <a:srgbClr val="2563EB"/>
          </a:solidFill>
          <a:ln cap="flat" cmpd="sng" w="9525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5"/>
          <p:cNvSpPr txBox="1"/>
          <p:nvPr/>
        </p:nvSpPr>
        <p:spPr>
          <a:xfrm>
            <a:off x="5381625" y="952500"/>
            <a:ext cx="2762400" cy="333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PRESENTED BY</a:t>
            </a:r>
            <a:endParaRPr b="1" sz="1100">
              <a:solidFill>
                <a:srgbClr val="2563E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A192F"/>
                </a:solidFill>
                <a:latin typeface="Inter"/>
                <a:ea typeface="Inter"/>
                <a:cs typeface="Inter"/>
                <a:sym typeface="Inter"/>
              </a:rPr>
              <a:t>Sadman Hossain Sajid</a:t>
            </a:r>
            <a:endParaRPr b="1" sz="1300">
              <a:solidFill>
                <a:srgbClr val="0A192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50"/>
              </a:spcBef>
              <a:spcAft>
                <a:spcPts val="0"/>
              </a:spcAft>
              <a:buNone/>
            </a:pPr>
            <a:r>
              <a:rPr b="0" lang="en" sz="950">
                <a:solidFill>
                  <a:srgbClr val="64748B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ID: 2023200000062</a:t>
            </a:r>
            <a:br>
              <a:rPr b="0" lang="en" sz="950">
                <a:solidFill>
                  <a:srgbClr val="64748B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</a:br>
            <a:r>
              <a:rPr b="0" lang="en" sz="950">
                <a:solidFill>
                  <a:srgbClr val="64748B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Southeast University</a:t>
            </a:r>
            <a:endParaRPr b="0" sz="950">
              <a:solidFill>
                <a:srgbClr val="64748B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A192F"/>
                </a:solidFill>
                <a:latin typeface="Inter"/>
                <a:ea typeface="Inter"/>
                <a:cs typeface="Inter"/>
                <a:sym typeface="Inter"/>
              </a:rPr>
              <a:t>Redoan Islam</a:t>
            </a:r>
            <a:endParaRPr b="1" sz="1300">
              <a:solidFill>
                <a:srgbClr val="0A192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50"/>
              </a:spcBef>
              <a:spcAft>
                <a:spcPts val="0"/>
              </a:spcAft>
              <a:buNone/>
            </a:pPr>
            <a:r>
              <a:rPr b="0" lang="en" sz="950">
                <a:solidFill>
                  <a:srgbClr val="64748B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ID: 2023200000689</a:t>
            </a:r>
            <a:endParaRPr b="0" sz="950">
              <a:solidFill>
                <a:srgbClr val="64748B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0" lvl="0" marL="0" rtl="0" algn="l">
              <a:spcBef>
                <a:spcPts val="15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50">
                <a:solidFill>
                  <a:srgbClr val="64748B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Southeast University</a:t>
            </a:r>
            <a:br>
              <a:rPr lang="en" sz="950">
                <a:solidFill>
                  <a:srgbClr val="64748B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</a:br>
            <a:endParaRPr sz="950">
              <a:solidFill>
                <a:srgbClr val="64748B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SUPERVISOR</a:t>
            </a:r>
            <a:endParaRPr b="1" sz="1100">
              <a:solidFill>
                <a:srgbClr val="2563E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rgbClr val="0A192F"/>
                </a:solidFill>
                <a:latin typeface="Inter"/>
                <a:ea typeface="Inter"/>
                <a:cs typeface="Inter"/>
                <a:sym typeface="Inter"/>
              </a:rPr>
              <a:t>Mahjabin Sultana</a:t>
            </a:r>
            <a:endParaRPr b="1" sz="1350">
              <a:solidFill>
                <a:srgbClr val="0A192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50"/>
              </a:spcBef>
              <a:spcAft>
                <a:spcPts val="0"/>
              </a:spcAft>
              <a:buNone/>
            </a:pPr>
            <a:r>
              <a:rPr b="0" lang="en" sz="10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Lecturer, Department of CSE</a:t>
            </a:r>
            <a:endParaRPr b="0" sz="105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5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Southeast </a:t>
            </a:r>
            <a:r>
              <a:rPr lang="en" sz="10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University</a:t>
            </a:r>
            <a:endParaRPr sz="105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5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DATE</a:t>
            </a:r>
            <a:endParaRPr sz="105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64748B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September 10, 2026</a:t>
            </a:r>
            <a:endParaRPr b="0" sz="1000">
              <a:solidFill>
                <a:srgbClr val="64748B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pic>
        <p:nvPicPr>
          <p:cNvPr id="64" name="Google Shape;64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38325" y="375411"/>
            <a:ext cx="923600" cy="92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6"/>
          <p:cNvPicPr preferRelativeResize="0"/>
          <p:nvPr/>
        </p:nvPicPr>
        <p:blipFill>
          <a:blip r:embed="rId3">
            <a:alphaModFix amt="40000"/>
          </a:blip>
          <a:stretch>
            <a:fillRect/>
          </a:stretch>
        </p:blipFill>
        <p:spPr>
          <a:xfrm>
            <a:off x="0" y="19936"/>
            <a:ext cx="9144002" cy="510362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0" name="Google Shape;70;p16"/>
          <p:cNvGrpSpPr/>
          <p:nvPr/>
        </p:nvGrpSpPr>
        <p:grpSpPr>
          <a:xfrm>
            <a:off x="285750" y="381000"/>
            <a:ext cx="8477175" cy="857400"/>
            <a:chOff x="-95250" y="0"/>
            <a:chExt cx="8477175" cy="857400"/>
          </a:xfrm>
        </p:grpSpPr>
        <p:grpSp>
          <p:nvGrpSpPr>
            <p:cNvPr id="71" name="Google Shape;71;p16"/>
            <p:cNvGrpSpPr/>
            <p:nvPr/>
          </p:nvGrpSpPr>
          <p:grpSpPr>
            <a:xfrm>
              <a:off x="-95250" y="57150"/>
              <a:ext cx="380925" cy="190500"/>
              <a:chOff x="-95250" y="0"/>
              <a:chExt cx="380925" cy="190500"/>
            </a:xfrm>
          </p:grpSpPr>
          <p:sp>
            <p:nvSpPr>
              <p:cNvPr id="72" name="Google Shape;72;p16"/>
              <p:cNvSpPr/>
              <p:nvPr/>
            </p:nvSpPr>
            <p:spPr>
              <a:xfrm>
                <a:off x="-95250" y="0"/>
                <a:ext cx="285900" cy="190500"/>
              </a:xfrm>
              <a:custGeom>
                <a:rect b="b" l="l" r="r" t="t"/>
                <a:pathLst>
                  <a:path extrusionOk="0" h="120000" w="120000">
                    <a:moveTo>
                      <a:pt x="40000" y="0"/>
                    </a:moveTo>
                    <a:lnTo>
                      <a:pt x="120000" y="0"/>
                    </a:lnTo>
                    <a:lnTo>
                      <a:pt x="80000" y="120000"/>
                    </a:lnTo>
                    <a:lnTo>
                      <a:pt x="0" y="120000"/>
                    </a:lnTo>
                    <a:close/>
                  </a:path>
                </a:pathLst>
              </a:custGeom>
              <a:solidFill>
                <a:srgbClr val="06B6D4">
                  <a:alpha val="80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16"/>
              <p:cNvSpPr/>
              <p:nvPr/>
            </p:nvSpPr>
            <p:spPr>
              <a:xfrm>
                <a:off x="142875" y="0"/>
                <a:ext cx="142800" cy="190500"/>
              </a:xfrm>
              <a:custGeom>
                <a:rect b="b" l="l" r="r" t="t"/>
                <a:pathLst>
                  <a:path extrusionOk="0" h="120000" w="120000">
                    <a:moveTo>
                      <a:pt x="80000" y="0"/>
                    </a:moveTo>
                    <a:lnTo>
                      <a:pt x="120000" y="0"/>
                    </a:lnTo>
                    <a:lnTo>
                      <a:pt x="40000" y="120000"/>
                    </a:lnTo>
                    <a:lnTo>
                      <a:pt x="0" y="120000"/>
                    </a:lnTo>
                    <a:close/>
                  </a:path>
                </a:pathLst>
              </a:custGeom>
              <a:solidFill>
                <a:srgbClr val="2563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74" name="Google Shape;74;p16"/>
            <p:cNvSpPr txBox="1"/>
            <p:nvPr/>
          </p:nvSpPr>
          <p:spPr>
            <a:xfrm>
              <a:off x="428625" y="0"/>
              <a:ext cx="79533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2400">
                  <a:solidFill>
                    <a:srgbClr val="0A192F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Presentation Outline</a:t>
              </a:r>
              <a:endParaRPr b="0" sz="2400">
                <a:solidFill>
                  <a:srgbClr val="0A192F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Overview of the research structure and milestones.</a:t>
              </a:r>
              <a:endParaRPr b="0" sz="14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75" name="Google Shape;75;p16"/>
          <p:cNvGrpSpPr/>
          <p:nvPr/>
        </p:nvGrpSpPr>
        <p:grpSpPr>
          <a:xfrm>
            <a:off x="476250" y="1333500"/>
            <a:ext cx="8191650" cy="3105300"/>
            <a:chOff x="476250" y="1333500"/>
            <a:chExt cx="8191650" cy="3105300"/>
          </a:xfrm>
        </p:grpSpPr>
        <p:grpSp>
          <p:nvGrpSpPr>
            <p:cNvPr id="76" name="Google Shape;76;p16"/>
            <p:cNvGrpSpPr/>
            <p:nvPr/>
          </p:nvGrpSpPr>
          <p:grpSpPr>
            <a:xfrm>
              <a:off x="476250" y="1333500"/>
              <a:ext cx="3905400" cy="514500"/>
              <a:chOff x="0" y="0"/>
              <a:chExt cx="3905400" cy="514500"/>
            </a:xfrm>
          </p:grpSpPr>
          <p:sp>
            <p:nvSpPr>
              <p:cNvPr id="77" name="Google Shape;77;p16"/>
              <p:cNvSpPr/>
              <p:nvPr/>
            </p:nvSpPr>
            <p:spPr>
              <a:xfrm>
                <a:off x="0" y="0"/>
                <a:ext cx="3905400" cy="514500"/>
              </a:xfrm>
              <a:prstGeom prst="roundRect">
                <a:avLst>
                  <a:gd fmla="val 14814" name="adj"/>
                </a:avLst>
              </a:prstGeom>
              <a:solidFill>
                <a:srgbClr val="FFFFFF"/>
              </a:solidFill>
              <a:ln cap="flat" cmpd="sng" w="14300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16"/>
              <p:cNvSpPr/>
              <p:nvPr/>
            </p:nvSpPr>
            <p:spPr>
              <a:xfrm>
                <a:off x="0" y="0"/>
                <a:ext cx="47700" cy="514500"/>
              </a:xfrm>
              <a:prstGeom prst="roundRect">
                <a:avLst>
                  <a:gd fmla="val 50000" name="adj"/>
                </a:avLst>
              </a:prstGeom>
              <a:solidFill>
                <a:srgbClr val="2563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16"/>
              <p:cNvSpPr/>
              <p:nvPr/>
            </p:nvSpPr>
            <p:spPr>
              <a:xfrm>
                <a:off x="152400" y="114300"/>
                <a:ext cx="342900" cy="285900"/>
              </a:xfrm>
              <a:prstGeom prst="roundRect">
                <a:avLst>
                  <a:gd fmla="val 20000" name="adj"/>
                </a:avLst>
              </a:prstGeom>
              <a:solidFill>
                <a:srgbClr val="EFF6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16"/>
              <p:cNvSpPr txBox="1"/>
              <p:nvPr/>
            </p:nvSpPr>
            <p:spPr>
              <a:xfrm>
                <a:off x="152400" y="114300"/>
                <a:ext cx="3429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2563EB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01</a:t>
                </a:r>
                <a:endParaRPr b="1" sz="1100">
                  <a:solidFill>
                    <a:srgbClr val="2563EB"/>
                  </a:solidFill>
                  <a:latin typeface="Roboto Mono"/>
                  <a:ea typeface="Roboto Mono"/>
                  <a:cs typeface="Roboto Mono"/>
                  <a:sym typeface="Roboto Mono"/>
                </a:endParaRPr>
              </a:p>
            </p:txBody>
          </p:sp>
          <p:sp>
            <p:nvSpPr>
              <p:cNvPr id="81" name="Google Shape;81;p16"/>
              <p:cNvSpPr txBox="1"/>
              <p:nvPr/>
            </p:nvSpPr>
            <p:spPr>
              <a:xfrm>
                <a:off x="647700" y="114300"/>
                <a:ext cx="31053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300">
                    <a:solidFill>
                      <a:srgbClr val="0A192F"/>
                    </a:solidFill>
                    <a:latin typeface="Inter"/>
                    <a:ea typeface="Inter"/>
                    <a:cs typeface="Inter"/>
                    <a:sym typeface="Inter"/>
                  </a:rPr>
                  <a:t>Problem Statement</a:t>
                </a:r>
                <a:endParaRPr b="1" sz="1300">
                  <a:solidFill>
                    <a:srgbClr val="0A192F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82" name="Google Shape;82;p16"/>
            <p:cNvGrpSpPr/>
            <p:nvPr/>
          </p:nvGrpSpPr>
          <p:grpSpPr>
            <a:xfrm>
              <a:off x="476250" y="1981200"/>
              <a:ext cx="3905400" cy="514500"/>
              <a:chOff x="0" y="0"/>
              <a:chExt cx="3905400" cy="514500"/>
            </a:xfrm>
          </p:grpSpPr>
          <p:sp>
            <p:nvSpPr>
              <p:cNvPr id="83" name="Google Shape;83;p16"/>
              <p:cNvSpPr/>
              <p:nvPr/>
            </p:nvSpPr>
            <p:spPr>
              <a:xfrm>
                <a:off x="0" y="0"/>
                <a:ext cx="3905400" cy="514500"/>
              </a:xfrm>
              <a:prstGeom prst="roundRect">
                <a:avLst>
                  <a:gd fmla="val 14814" name="adj"/>
                </a:avLst>
              </a:prstGeom>
              <a:solidFill>
                <a:srgbClr val="FFFFFF"/>
              </a:solidFill>
              <a:ln cap="flat" cmpd="sng" w="14300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" name="Google Shape;84;p16"/>
              <p:cNvSpPr/>
              <p:nvPr/>
            </p:nvSpPr>
            <p:spPr>
              <a:xfrm>
                <a:off x="0" y="0"/>
                <a:ext cx="47700" cy="514500"/>
              </a:xfrm>
              <a:prstGeom prst="roundRect">
                <a:avLst>
                  <a:gd fmla="val 50000" name="adj"/>
                </a:avLst>
              </a:prstGeom>
              <a:solidFill>
                <a:srgbClr val="2563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" name="Google Shape;85;p16"/>
              <p:cNvSpPr/>
              <p:nvPr/>
            </p:nvSpPr>
            <p:spPr>
              <a:xfrm>
                <a:off x="152400" y="114300"/>
                <a:ext cx="342900" cy="285900"/>
              </a:xfrm>
              <a:prstGeom prst="roundRect">
                <a:avLst>
                  <a:gd fmla="val 20000" name="adj"/>
                </a:avLst>
              </a:prstGeom>
              <a:solidFill>
                <a:srgbClr val="EFF6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" name="Google Shape;86;p16"/>
              <p:cNvSpPr txBox="1"/>
              <p:nvPr/>
            </p:nvSpPr>
            <p:spPr>
              <a:xfrm>
                <a:off x="152400" y="114300"/>
                <a:ext cx="3429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2563EB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02</a:t>
                </a:r>
                <a:endParaRPr b="1" sz="1100">
                  <a:solidFill>
                    <a:srgbClr val="2563EB"/>
                  </a:solidFill>
                  <a:latin typeface="Roboto Mono"/>
                  <a:ea typeface="Roboto Mono"/>
                  <a:cs typeface="Roboto Mono"/>
                  <a:sym typeface="Roboto Mono"/>
                </a:endParaRPr>
              </a:p>
            </p:txBody>
          </p:sp>
          <p:sp>
            <p:nvSpPr>
              <p:cNvPr id="87" name="Google Shape;87;p16"/>
              <p:cNvSpPr txBox="1"/>
              <p:nvPr/>
            </p:nvSpPr>
            <p:spPr>
              <a:xfrm>
                <a:off x="647700" y="114300"/>
                <a:ext cx="31053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300">
                    <a:solidFill>
                      <a:srgbClr val="0A192F"/>
                    </a:solidFill>
                    <a:latin typeface="Inter"/>
                    <a:ea typeface="Inter"/>
                    <a:cs typeface="Inter"/>
                    <a:sym typeface="Inter"/>
                  </a:rPr>
                  <a:t>Motivation &amp; Objectives</a:t>
                </a:r>
                <a:endParaRPr b="1" sz="1300">
                  <a:solidFill>
                    <a:srgbClr val="0A192F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88" name="Google Shape;88;p16"/>
            <p:cNvGrpSpPr/>
            <p:nvPr/>
          </p:nvGrpSpPr>
          <p:grpSpPr>
            <a:xfrm>
              <a:off x="476250" y="2628900"/>
              <a:ext cx="3905400" cy="514500"/>
              <a:chOff x="0" y="0"/>
              <a:chExt cx="3905400" cy="514500"/>
            </a:xfrm>
          </p:grpSpPr>
          <p:sp>
            <p:nvSpPr>
              <p:cNvPr id="89" name="Google Shape;89;p16"/>
              <p:cNvSpPr/>
              <p:nvPr/>
            </p:nvSpPr>
            <p:spPr>
              <a:xfrm>
                <a:off x="0" y="0"/>
                <a:ext cx="3905400" cy="514500"/>
              </a:xfrm>
              <a:prstGeom prst="roundRect">
                <a:avLst>
                  <a:gd fmla="val 14814" name="adj"/>
                </a:avLst>
              </a:prstGeom>
              <a:solidFill>
                <a:srgbClr val="FFFFFF"/>
              </a:solidFill>
              <a:ln cap="flat" cmpd="sng" w="14300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" name="Google Shape;90;p16"/>
              <p:cNvSpPr/>
              <p:nvPr/>
            </p:nvSpPr>
            <p:spPr>
              <a:xfrm>
                <a:off x="0" y="0"/>
                <a:ext cx="47700" cy="514500"/>
              </a:xfrm>
              <a:prstGeom prst="roundRect">
                <a:avLst>
                  <a:gd fmla="val 50000" name="adj"/>
                </a:avLst>
              </a:prstGeom>
              <a:solidFill>
                <a:srgbClr val="2563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" name="Google Shape;91;p16"/>
              <p:cNvSpPr/>
              <p:nvPr/>
            </p:nvSpPr>
            <p:spPr>
              <a:xfrm>
                <a:off x="152400" y="114300"/>
                <a:ext cx="342900" cy="285900"/>
              </a:xfrm>
              <a:prstGeom prst="roundRect">
                <a:avLst>
                  <a:gd fmla="val 20000" name="adj"/>
                </a:avLst>
              </a:prstGeom>
              <a:solidFill>
                <a:srgbClr val="EFF6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" name="Google Shape;92;p16"/>
              <p:cNvSpPr txBox="1"/>
              <p:nvPr/>
            </p:nvSpPr>
            <p:spPr>
              <a:xfrm>
                <a:off x="152400" y="114300"/>
                <a:ext cx="3429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2563EB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03</a:t>
                </a:r>
                <a:endParaRPr b="1" sz="1100">
                  <a:solidFill>
                    <a:srgbClr val="2563EB"/>
                  </a:solidFill>
                  <a:latin typeface="Roboto Mono"/>
                  <a:ea typeface="Roboto Mono"/>
                  <a:cs typeface="Roboto Mono"/>
                  <a:sym typeface="Roboto Mono"/>
                </a:endParaRPr>
              </a:p>
            </p:txBody>
          </p:sp>
          <p:sp>
            <p:nvSpPr>
              <p:cNvPr id="93" name="Google Shape;93;p16"/>
              <p:cNvSpPr txBox="1"/>
              <p:nvPr/>
            </p:nvSpPr>
            <p:spPr>
              <a:xfrm>
                <a:off x="647700" y="114300"/>
                <a:ext cx="31053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300">
                    <a:solidFill>
                      <a:srgbClr val="0A192F"/>
                    </a:solidFill>
                    <a:latin typeface="Inter"/>
                    <a:ea typeface="Inter"/>
                    <a:cs typeface="Inter"/>
                    <a:sym typeface="Inter"/>
                  </a:rPr>
                  <a:t>Literature Review</a:t>
                </a:r>
                <a:endParaRPr b="1" sz="1300">
                  <a:solidFill>
                    <a:srgbClr val="0A192F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94" name="Google Shape;94;p16"/>
            <p:cNvGrpSpPr/>
            <p:nvPr/>
          </p:nvGrpSpPr>
          <p:grpSpPr>
            <a:xfrm>
              <a:off x="476250" y="3276600"/>
              <a:ext cx="3905400" cy="514500"/>
              <a:chOff x="0" y="0"/>
              <a:chExt cx="3905400" cy="514500"/>
            </a:xfrm>
          </p:grpSpPr>
          <p:sp>
            <p:nvSpPr>
              <p:cNvPr id="95" name="Google Shape;95;p16"/>
              <p:cNvSpPr/>
              <p:nvPr/>
            </p:nvSpPr>
            <p:spPr>
              <a:xfrm>
                <a:off x="0" y="0"/>
                <a:ext cx="3905400" cy="514500"/>
              </a:xfrm>
              <a:prstGeom prst="roundRect">
                <a:avLst>
                  <a:gd fmla="val 14814" name="adj"/>
                </a:avLst>
              </a:prstGeom>
              <a:solidFill>
                <a:srgbClr val="FFFFFF"/>
              </a:solidFill>
              <a:ln cap="flat" cmpd="sng" w="14300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" name="Google Shape;96;p16"/>
              <p:cNvSpPr/>
              <p:nvPr/>
            </p:nvSpPr>
            <p:spPr>
              <a:xfrm>
                <a:off x="0" y="0"/>
                <a:ext cx="47700" cy="514500"/>
              </a:xfrm>
              <a:prstGeom prst="roundRect">
                <a:avLst>
                  <a:gd fmla="val 50000" name="adj"/>
                </a:avLst>
              </a:prstGeom>
              <a:solidFill>
                <a:srgbClr val="2563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" name="Google Shape;97;p16"/>
              <p:cNvSpPr/>
              <p:nvPr/>
            </p:nvSpPr>
            <p:spPr>
              <a:xfrm>
                <a:off x="152400" y="114300"/>
                <a:ext cx="342900" cy="285900"/>
              </a:xfrm>
              <a:prstGeom prst="roundRect">
                <a:avLst>
                  <a:gd fmla="val 20000" name="adj"/>
                </a:avLst>
              </a:prstGeom>
              <a:solidFill>
                <a:srgbClr val="EFF6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" name="Google Shape;98;p16"/>
              <p:cNvSpPr txBox="1"/>
              <p:nvPr/>
            </p:nvSpPr>
            <p:spPr>
              <a:xfrm>
                <a:off x="152400" y="114300"/>
                <a:ext cx="3429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2563EB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04</a:t>
                </a:r>
                <a:endParaRPr b="1" sz="1100">
                  <a:solidFill>
                    <a:srgbClr val="2563EB"/>
                  </a:solidFill>
                  <a:latin typeface="Roboto Mono"/>
                  <a:ea typeface="Roboto Mono"/>
                  <a:cs typeface="Roboto Mono"/>
                  <a:sym typeface="Roboto Mono"/>
                </a:endParaRPr>
              </a:p>
            </p:txBody>
          </p:sp>
          <p:sp>
            <p:nvSpPr>
              <p:cNvPr id="99" name="Google Shape;99;p16"/>
              <p:cNvSpPr txBox="1"/>
              <p:nvPr/>
            </p:nvSpPr>
            <p:spPr>
              <a:xfrm>
                <a:off x="647700" y="114300"/>
                <a:ext cx="31053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300">
                    <a:solidFill>
                      <a:srgbClr val="0A192F"/>
                    </a:solidFill>
                    <a:latin typeface="Inter"/>
                    <a:ea typeface="Inter"/>
                    <a:cs typeface="Inter"/>
                    <a:sym typeface="Inter"/>
                  </a:rPr>
                  <a:t>Comparative Analysis</a:t>
                </a:r>
                <a:endParaRPr b="1" sz="1300">
                  <a:solidFill>
                    <a:srgbClr val="0A192F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100" name="Google Shape;100;p16"/>
            <p:cNvGrpSpPr/>
            <p:nvPr/>
          </p:nvGrpSpPr>
          <p:grpSpPr>
            <a:xfrm>
              <a:off x="476250" y="3924300"/>
              <a:ext cx="3905400" cy="514500"/>
              <a:chOff x="0" y="0"/>
              <a:chExt cx="3905400" cy="514500"/>
            </a:xfrm>
          </p:grpSpPr>
          <p:sp>
            <p:nvSpPr>
              <p:cNvPr id="101" name="Google Shape;101;p16"/>
              <p:cNvSpPr/>
              <p:nvPr/>
            </p:nvSpPr>
            <p:spPr>
              <a:xfrm>
                <a:off x="0" y="0"/>
                <a:ext cx="3905400" cy="514500"/>
              </a:xfrm>
              <a:prstGeom prst="roundRect">
                <a:avLst>
                  <a:gd fmla="val 14814" name="adj"/>
                </a:avLst>
              </a:prstGeom>
              <a:solidFill>
                <a:srgbClr val="FFFFFF"/>
              </a:solidFill>
              <a:ln cap="flat" cmpd="sng" w="14300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" name="Google Shape;102;p16"/>
              <p:cNvSpPr/>
              <p:nvPr/>
            </p:nvSpPr>
            <p:spPr>
              <a:xfrm>
                <a:off x="0" y="0"/>
                <a:ext cx="47700" cy="514500"/>
              </a:xfrm>
              <a:prstGeom prst="roundRect">
                <a:avLst>
                  <a:gd fmla="val 50000" name="adj"/>
                </a:avLst>
              </a:prstGeom>
              <a:solidFill>
                <a:srgbClr val="2563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" name="Google Shape;103;p16"/>
              <p:cNvSpPr/>
              <p:nvPr/>
            </p:nvSpPr>
            <p:spPr>
              <a:xfrm>
                <a:off x="152400" y="114300"/>
                <a:ext cx="342900" cy="285900"/>
              </a:xfrm>
              <a:prstGeom prst="roundRect">
                <a:avLst>
                  <a:gd fmla="val 20000" name="adj"/>
                </a:avLst>
              </a:prstGeom>
              <a:solidFill>
                <a:srgbClr val="EFF6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" name="Google Shape;104;p16"/>
              <p:cNvSpPr txBox="1"/>
              <p:nvPr/>
            </p:nvSpPr>
            <p:spPr>
              <a:xfrm>
                <a:off x="152400" y="114300"/>
                <a:ext cx="3429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2563EB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05</a:t>
                </a:r>
                <a:endParaRPr b="1" sz="1100">
                  <a:solidFill>
                    <a:srgbClr val="2563EB"/>
                  </a:solidFill>
                  <a:latin typeface="Roboto Mono"/>
                  <a:ea typeface="Roboto Mono"/>
                  <a:cs typeface="Roboto Mono"/>
                  <a:sym typeface="Roboto Mono"/>
                </a:endParaRPr>
              </a:p>
            </p:txBody>
          </p:sp>
          <p:sp>
            <p:nvSpPr>
              <p:cNvPr id="105" name="Google Shape;105;p16"/>
              <p:cNvSpPr txBox="1"/>
              <p:nvPr/>
            </p:nvSpPr>
            <p:spPr>
              <a:xfrm>
                <a:off x="647700" y="114300"/>
                <a:ext cx="31053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300">
                    <a:solidFill>
                      <a:srgbClr val="0A192F"/>
                    </a:solidFill>
                    <a:latin typeface="Inter"/>
                    <a:ea typeface="Inter"/>
                    <a:cs typeface="Inter"/>
                    <a:sym typeface="Inter"/>
                  </a:rPr>
                  <a:t>Proposed Methodology</a:t>
                </a:r>
                <a:endParaRPr b="1" sz="1300">
                  <a:solidFill>
                    <a:srgbClr val="0A192F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106" name="Google Shape;106;p16"/>
            <p:cNvGrpSpPr/>
            <p:nvPr/>
          </p:nvGrpSpPr>
          <p:grpSpPr>
            <a:xfrm>
              <a:off x="4762500" y="1333500"/>
              <a:ext cx="3905400" cy="514500"/>
              <a:chOff x="0" y="0"/>
              <a:chExt cx="3905400" cy="514500"/>
            </a:xfrm>
          </p:grpSpPr>
          <p:sp>
            <p:nvSpPr>
              <p:cNvPr id="107" name="Google Shape;107;p16"/>
              <p:cNvSpPr/>
              <p:nvPr/>
            </p:nvSpPr>
            <p:spPr>
              <a:xfrm>
                <a:off x="0" y="0"/>
                <a:ext cx="3905400" cy="514500"/>
              </a:xfrm>
              <a:prstGeom prst="roundRect">
                <a:avLst>
                  <a:gd fmla="val 14814" name="adj"/>
                </a:avLst>
              </a:prstGeom>
              <a:solidFill>
                <a:srgbClr val="FFFFFF"/>
              </a:solidFill>
              <a:ln cap="flat" cmpd="sng" w="14300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" name="Google Shape;108;p16"/>
              <p:cNvSpPr/>
              <p:nvPr/>
            </p:nvSpPr>
            <p:spPr>
              <a:xfrm>
                <a:off x="0" y="0"/>
                <a:ext cx="47700" cy="514500"/>
              </a:xfrm>
              <a:prstGeom prst="roundRect">
                <a:avLst>
                  <a:gd fmla="val 50000" name="adj"/>
                </a:avLst>
              </a:prstGeom>
              <a:solidFill>
                <a:srgbClr val="06B6D4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" name="Google Shape;109;p16"/>
              <p:cNvSpPr/>
              <p:nvPr/>
            </p:nvSpPr>
            <p:spPr>
              <a:xfrm>
                <a:off x="152400" y="114300"/>
                <a:ext cx="342900" cy="285900"/>
              </a:xfrm>
              <a:prstGeom prst="roundRect">
                <a:avLst>
                  <a:gd fmla="val 20000" name="adj"/>
                </a:avLst>
              </a:prstGeom>
              <a:solidFill>
                <a:srgbClr val="E0F2FE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" name="Google Shape;110;p16"/>
              <p:cNvSpPr txBox="1"/>
              <p:nvPr/>
            </p:nvSpPr>
            <p:spPr>
              <a:xfrm>
                <a:off x="152400" y="114300"/>
                <a:ext cx="3429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06B6D4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06</a:t>
                </a:r>
                <a:endParaRPr b="1" sz="1100">
                  <a:solidFill>
                    <a:srgbClr val="06B6D4"/>
                  </a:solidFill>
                  <a:latin typeface="Roboto Mono"/>
                  <a:ea typeface="Roboto Mono"/>
                  <a:cs typeface="Roboto Mono"/>
                  <a:sym typeface="Roboto Mono"/>
                </a:endParaRPr>
              </a:p>
            </p:txBody>
          </p:sp>
          <p:sp>
            <p:nvSpPr>
              <p:cNvPr id="111" name="Google Shape;111;p16"/>
              <p:cNvSpPr txBox="1"/>
              <p:nvPr/>
            </p:nvSpPr>
            <p:spPr>
              <a:xfrm>
                <a:off x="647700" y="114300"/>
                <a:ext cx="31053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300">
                    <a:solidFill>
                      <a:srgbClr val="0A192F"/>
                    </a:solidFill>
                    <a:latin typeface="Inter"/>
                    <a:ea typeface="Inter"/>
                    <a:cs typeface="Inter"/>
                    <a:sym typeface="Inter"/>
                  </a:rPr>
                  <a:t>Dataset &amp; Environment</a:t>
                </a:r>
                <a:endParaRPr b="1" sz="1300">
                  <a:solidFill>
                    <a:srgbClr val="0A192F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112" name="Google Shape;112;p16"/>
            <p:cNvGrpSpPr/>
            <p:nvPr/>
          </p:nvGrpSpPr>
          <p:grpSpPr>
            <a:xfrm>
              <a:off x="4762500" y="1981200"/>
              <a:ext cx="3905400" cy="514500"/>
              <a:chOff x="0" y="0"/>
              <a:chExt cx="3905400" cy="514500"/>
            </a:xfrm>
          </p:grpSpPr>
          <p:sp>
            <p:nvSpPr>
              <p:cNvPr id="113" name="Google Shape;113;p16"/>
              <p:cNvSpPr/>
              <p:nvPr/>
            </p:nvSpPr>
            <p:spPr>
              <a:xfrm>
                <a:off x="0" y="0"/>
                <a:ext cx="3905400" cy="514500"/>
              </a:xfrm>
              <a:prstGeom prst="roundRect">
                <a:avLst>
                  <a:gd fmla="val 14814" name="adj"/>
                </a:avLst>
              </a:prstGeom>
              <a:solidFill>
                <a:srgbClr val="FFFFFF"/>
              </a:solidFill>
              <a:ln cap="flat" cmpd="sng" w="14300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" name="Google Shape;114;p16"/>
              <p:cNvSpPr/>
              <p:nvPr/>
            </p:nvSpPr>
            <p:spPr>
              <a:xfrm>
                <a:off x="0" y="0"/>
                <a:ext cx="47700" cy="514500"/>
              </a:xfrm>
              <a:prstGeom prst="roundRect">
                <a:avLst>
                  <a:gd fmla="val 50000" name="adj"/>
                </a:avLst>
              </a:prstGeom>
              <a:solidFill>
                <a:srgbClr val="06B6D4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" name="Google Shape;115;p16"/>
              <p:cNvSpPr/>
              <p:nvPr/>
            </p:nvSpPr>
            <p:spPr>
              <a:xfrm>
                <a:off x="152400" y="114300"/>
                <a:ext cx="342900" cy="285900"/>
              </a:xfrm>
              <a:prstGeom prst="roundRect">
                <a:avLst>
                  <a:gd fmla="val 20000" name="adj"/>
                </a:avLst>
              </a:prstGeom>
              <a:solidFill>
                <a:srgbClr val="E0F2FE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16"/>
              <p:cNvSpPr txBox="1"/>
              <p:nvPr/>
            </p:nvSpPr>
            <p:spPr>
              <a:xfrm>
                <a:off x="152400" y="114300"/>
                <a:ext cx="3429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06B6D4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07</a:t>
                </a:r>
                <a:endParaRPr b="1" sz="1100">
                  <a:solidFill>
                    <a:srgbClr val="06B6D4"/>
                  </a:solidFill>
                  <a:latin typeface="Roboto Mono"/>
                  <a:ea typeface="Roboto Mono"/>
                  <a:cs typeface="Roboto Mono"/>
                  <a:sym typeface="Roboto Mono"/>
                </a:endParaRPr>
              </a:p>
            </p:txBody>
          </p:sp>
          <p:sp>
            <p:nvSpPr>
              <p:cNvPr id="117" name="Google Shape;117;p16"/>
              <p:cNvSpPr txBox="1"/>
              <p:nvPr/>
            </p:nvSpPr>
            <p:spPr>
              <a:xfrm>
                <a:off x="647700" y="114300"/>
                <a:ext cx="31053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300">
                    <a:solidFill>
                      <a:srgbClr val="0A192F"/>
                    </a:solidFill>
                    <a:latin typeface="Inter"/>
                    <a:ea typeface="Inter"/>
                    <a:cs typeface="Inter"/>
                    <a:sym typeface="Inter"/>
                  </a:rPr>
                  <a:t>Target Architecture</a:t>
                </a:r>
                <a:endParaRPr b="1" sz="1300">
                  <a:solidFill>
                    <a:srgbClr val="0A192F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118" name="Google Shape;118;p16"/>
            <p:cNvGrpSpPr/>
            <p:nvPr/>
          </p:nvGrpSpPr>
          <p:grpSpPr>
            <a:xfrm>
              <a:off x="4762500" y="2628900"/>
              <a:ext cx="3905400" cy="514500"/>
              <a:chOff x="0" y="0"/>
              <a:chExt cx="3905400" cy="514500"/>
            </a:xfrm>
          </p:grpSpPr>
          <p:sp>
            <p:nvSpPr>
              <p:cNvPr id="119" name="Google Shape;119;p16"/>
              <p:cNvSpPr/>
              <p:nvPr/>
            </p:nvSpPr>
            <p:spPr>
              <a:xfrm>
                <a:off x="0" y="0"/>
                <a:ext cx="3905400" cy="514500"/>
              </a:xfrm>
              <a:prstGeom prst="roundRect">
                <a:avLst>
                  <a:gd fmla="val 14814" name="adj"/>
                </a:avLst>
              </a:prstGeom>
              <a:solidFill>
                <a:srgbClr val="FFFFFF"/>
              </a:solidFill>
              <a:ln cap="flat" cmpd="sng" w="14300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16"/>
              <p:cNvSpPr/>
              <p:nvPr/>
            </p:nvSpPr>
            <p:spPr>
              <a:xfrm>
                <a:off x="0" y="0"/>
                <a:ext cx="47700" cy="514500"/>
              </a:xfrm>
              <a:prstGeom prst="roundRect">
                <a:avLst>
                  <a:gd fmla="val 50000" name="adj"/>
                </a:avLst>
              </a:prstGeom>
              <a:solidFill>
                <a:srgbClr val="06B6D4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16"/>
              <p:cNvSpPr/>
              <p:nvPr/>
            </p:nvSpPr>
            <p:spPr>
              <a:xfrm>
                <a:off x="152400" y="114300"/>
                <a:ext cx="342900" cy="285900"/>
              </a:xfrm>
              <a:prstGeom prst="roundRect">
                <a:avLst>
                  <a:gd fmla="val 20000" name="adj"/>
                </a:avLst>
              </a:prstGeom>
              <a:solidFill>
                <a:srgbClr val="E0F2FE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" name="Google Shape;122;p16"/>
              <p:cNvSpPr txBox="1"/>
              <p:nvPr/>
            </p:nvSpPr>
            <p:spPr>
              <a:xfrm>
                <a:off x="152400" y="114300"/>
                <a:ext cx="3429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06B6D4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08</a:t>
                </a:r>
                <a:endParaRPr b="1" sz="1100">
                  <a:solidFill>
                    <a:srgbClr val="06B6D4"/>
                  </a:solidFill>
                  <a:latin typeface="Roboto Mono"/>
                  <a:ea typeface="Roboto Mono"/>
                  <a:cs typeface="Roboto Mono"/>
                  <a:sym typeface="Roboto Mono"/>
                </a:endParaRPr>
              </a:p>
            </p:txBody>
          </p:sp>
          <p:sp>
            <p:nvSpPr>
              <p:cNvPr id="123" name="Google Shape;123;p16"/>
              <p:cNvSpPr txBox="1"/>
              <p:nvPr/>
            </p:nvSpPr>
            <p:spPr>
              <a:xfrm>
                <a:off x="647700" y="114300"/>
                <a:ext cx="31053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300">
                    <a:solidFill>
                      <a:srgbClr val="0A192F"/>
                    </a:solidFill>
                    <a:latin typeface="Inter"/>
                    <a:ea typeface="Inter"/>
                    <a:cs typeface="Inter"/>
                    <a:sym typeface="Inter"/>
                  </a:rPr>
                  <a:t>Research Timeline</a:t>
                </a:r>
                <a:endParaRPr b="1" sz="1300">
                  <a:solidFill>
                    <a:srgbClr val="0A192F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124" name="Google Shape;124;p16"/>
            <p:cNvGrpSpPr/>
            <p:nvPr/>
          </p:nvGrpSpPr>
          <p:grpSpPr>
            <a:xfrm>
              <a:off x="4762500" y="3276600"/>
              <a:ext cx="3905400" cy="514500"/>
              <a:chOff x="0" y="0"/>
              <a:chExt cx="3905400" cy="514500"/>
            </a:xfrm>
          </p:grpSpPr>
          <p:sp>
            <p:nvSpPr>
              <p:cNvPr id="125" name="Google Shape;125;p16"/>
              <p:cNvSpPr/>
              <p:nvPr/>
            </p:nvSpPr>
            <p:spPr>
              <a:xfrm>
                <a:off x="0" y="0"/>
                <a:ext cx="3905400" cy="514500"/>
              </a:xfrm>
              <a:prstGeom prst="roundRect">
                <a:avLst>
                  <a:gd fmla="val 14814" name="adj"/>
                </a:avLst>
              </a:prstGeom>
              <a:solidFill>
                <a:srgbClr val="FFFFFF"/>
              </a:solidFill>
              <a:ln cap="flat" cmpd="sng" w="14300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" name="Google Shape;126;p16"/>
              <p:cNvSpPr/>
              <p:nvPr/>
            </p:nvSpPr>
            <p:spPr>
              <a:xfrm>
                <a:off x="0" y="0"/>
                <a:ext cx="47700" cy="514500"/>
              </a:xfrm>
              <a:prstGeom prst="roundRect">
                <a:avLst>
                  <a:gd fmla="val 50000" name="adj"/>
                </a:avLst>
              </a:prstGeom>
              <a:solidFill>
                <a:srgbClr val="06B6D4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" name="Google Shape;127;p16"/>
              <p:cNvSpPr/>
              <p:nvPr/>
            </p:nvSpPr>
            <p:spPr>
              <a:xfrm>
                <a:off x="152400" y="114300"/>
                <a:ext cx="342900" cy="285900"/>
              </a:xfrm>
              <a:prstGeom prst="roundRect">
                <a:avLst>
                  <a:gd fmla="val 20000" name="adj"/>
                </a:avLst>
              </a:prstGeom>
              <a:solidFill>
                <a:srgbClr val="E0F2FE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" name="Google Shape;128;p16"/>
              <p:cNvSpPr txBox="1"/>
              <p:nvPr/>
            </p:nvSpPr>
            <p:spPr>
              <a:xfrm>
                <a:off x="152400" y="114300"/>
                <a:ext cx="3429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06B6D4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09</a:t>
                </a:r>
                <a:endParaRPr b="1" sz="1100">
                  <a:solidFill>
                    <a:srgbClr val="06B6D4"/>
                  </a:solidFill>
                  <a:latin typeface="Roboto Mono"/>
                  <a:ea typeface="Roboto Mono"/>
                  <a:cs typeface="Roboto Mono"/>
                  <a:sym typeface="Roboto Mono"/>
                </a:endParaRPr>
              </a:p>
            </p:txBody>
          </p:sp>
          <p:sp>
            <p:nvSpPr>
              <p:cNvPr id="129" name="Google Shape;129;p16"/>
              <p:cNvSpPr txBox="1"/>
              <p:nvPr/>
            </p:nvSpPr>
            <p:spPr>
              <a:xfrm>
                <a:off x="647700" y="114300"/>
                <a:ext cx="31053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300">
                    <a:solidFill>
                      <a:srgbClr val="0A192F"/>
                    </a:solidFill>
                    <a:latin typeface="Inter"/>
                    <a:ea typeface="Inter"/>
                    <a:cs typeface="Inter"/>
                    <a:sym typeface="Inter"/>
                  </a:rPr>
                  <a:t>Expected Results</a:t>
                </a:r>
                <a:endParaRPr b="1" sz="1300">
                  <a:solidFill>
                    <a:srgbClr val="0A192F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130" name="Google Shape;130;p16"/>
            <p:cNvGrpSpPr/>
            <p:nvPr/>
          </p:nvGrpSpPr>
          <p:grpSpPr>
            <a:xfrm>
              <a:off x="4762500" y="3924300"/>
              <a:ext cx="3905400" cy="514500"/>
              <a:chOff x="0" y="0"/>
              <a:chExt cx="3905400" cy="514500"/>
            </a:xfrm>
          </p:grpSpPr>
          <p:sp>
            <p:nvSpPr>
              <p:cNvPr id="131" name="Google Shape;131;p16"/>
              <p:cNvSpPr/>
              <p:nvPr/>
            </p:nvSpPr>
            <p:spPr>
              <a:xfrm>
                <a:off x="0" y="0"/>
                <a:ext cx="3905400" cy="514500"/>
              </a:xfrm>
              <a:prstGeom prst="roundRect">
                <a:avLst>
                  <a:gd fmla="val 14814" name="adj"/>
                </a:avLst>
              </a:prstGeom>
              <a:solidFill>
                <a:srgbClr val="FFFFFF"/>
              </a:solidFill>
              <a:ln cap="flat" cmpd="sng" w="14300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" name="Google Shape;132;p16"/>
              <p:cNvSpPr/>
              <p:nvPr/>
            </p:nvSpPr>
            <p:spPr>
              <a:xfrm>
                <a:off x="0" y="0"/>
                <a:ext cx="47700" cy="514500"/>
              </a:xfrm>
              <a:prstGeom prst="roundRect">
                <a:avLst>
                  <a:gd fmla="val 50000" name="adj"/>
                </a:avLst>
              </a:prstGeom>
              <a:solidFill>
                <a:srgbClr val="06B6D4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" name="Google Shape;133;p16"/>
              <p:cNvSpPr/>
              <p:nvPr/>
            </p:nvSpPr>
            <p:spPr>
              <a:xfrm>
                <a:off x="152400" y="114300"/>
                <a:ext cx="342900" cy="285900"/>
              </a:xfrm>
              <a:prstGeom prst="roundRect">
                <a:avLst>
                  <a:gd fmla="val 20000" name="adj"/>
                </a:avLst>
              </a:prstGeom>
              <a:solidFill>
                <a:srgbClr val="E0F2FE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" name="Google Shape;134;p16"/>
              <p:cNvSpPr txBox="1"/>
              <p:nvPr/>
            </p:nvSpPr>
            <p:spPr>
              <a:xfrm>
                <a:off x="152400" y="114300"/>
                <a:ext cx="3429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06B6D4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10</a:t>
                </a:r>
                <a:endParaRPr b="1" sz="1100">
                  <a:solidFill>
                    <a:srgbClr val="06B6D4"/>
                  </a:solidFill>
                  <a:latin typeface="Roboto Mono"/>
                  <a:ea typeface="Roboto Mono"/>
                  <a:cs typeface="Roboto Mono"/>
                  <a:sym typeface="Roboto Mono"/>
                </a:endParaRPr>
              </a:p>
            </p:txBody>
          </p:sp>
          <p:sp>
            <p:nvSpPr>
              <p:cNvPr id="135" name="Google Shape;135;p16"/>
              <p:cNvSpPr txBox="1"/>
              <p:nvPr/>
            </p:nvSpPr>
            <p:spPr>
              <a:xfrm>
                <a:off x="647700" y="114300"/>
                <a:ext cx="31053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300">
                    <a:solidFill>
                      <a:srgbClr val="0A192F"/>
                    </a:solidFill>
                    <a:latin typeface="Inter"/>
                    <a:ea typeface="Inter"/>
                    <a:cs typeface="Inter"/>
                    <a:sym typeface="Inter"/>
                  </a:rPr>
                  <a:t>Conclusion</a:t>
                </a:r>
                <a:endParaRPr b="1" sz="1300">
                  <a:solidFill>
                    <a:srgbClr val="0A192F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sp>
        <p:nvSpPr>
          <p:cNvPr id="136" name="Google Shape;136;p16"/>
          <p:cNvSpPr txBox="1"/>
          <p:nvPr/>
        </p:nvSpPr>
        <p:spPr>
          <a:xfrm>
            <a:off x="8371425" y="4776393"/>
            <a:ext cx="391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64748B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02</a:t>
            </a:r>
            <a:endParaRPr sz="1200">
              <a:solidFill>
                <a:srgbClr val="64748B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17"/>
          <p:cNvPicPr preferRelativeResize="0"/>
          <p:nvPr/>
        </p:nvPicPr>
        <p:blipFill rotWithShape="1">
          <a:blip r:embed="rId3">
            <a:alphaModFix amt="40000"/>
          </a:blip>
          <a:srcRect b="0" l="387" r="387" t="0"/>
          <a:stretch/>
        </p:blipFill>
        <p:spPr>
          <a:xfrm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7"/>
          <p:cNvSpPr/>
          <p:nvPr/>
        </p:nvSpPr>
        <p:spPr>
          <a:xfrm>
            <a:off x="381000" y="1143000"/>
            <a:ext cx="8382000" cy="96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3" name="Google Shape;143;p17"/>
          <p:cNvGrpSpPr/>
          <p:nvPr/>
        </p:nvGrpSpPr>
        <p:grpSpPr>
          <a:xfrm>
            <a:off x="285750" y="381000"/>
            <a:ext cx="8477175" cy="714300"/>
            <a:chOff x="-95250" y="0"/>
            <a:chExt cx="8477175" cy="714300"/>
          </a:xfrm>
        </p:grpSpPr>
        <p:sp>
          <p:nvSpPr>
            <p:cNvPr id="144" name="Google Shape;144;p17"/>
            <p:cNvSpPr/>
            <p:nvPr/>
          </p:nvSpPr>
          <p:spPr>
            <a:xfrm>
              <a:off x="-95250" y="57150"/>
              <a:ext cx="285900" cy="190500"/>
            </a:xfrm>
            <a:custGeom>
              <a:rect b="b" l="l" r="r" t="t"/>
              <a:pathLst>
                <a:path extrusionOk="0" h="120000" w="120000">
                  <a:moveTo>
                    <a:pt x="40000" y="0"/>
                  </a:moveTo>
                  <a:lnTo>
                    <a:pt x="120000" y="0"/>
                  </a:lnTo>
                  <a:lnTo>
                    <a:pt x="8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06B6D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17"/>
            <p:cNvSpPr/>
            <p:nvPr/>
          </p:nvSpPr>
          <p:spPr>
            <a:xfrm>
              <a:off x="142875" y="57150"/>
              <a:ext cx="142800" cy="190500"/>
            </a:xfrm>
            <a:custGeom>
              <a:rect b="b" l="l" r="r" t="t"/>
              <a:pathLst>
                <a:path extrusionOk="0" h="120000" w="120000">
                  <a:moveTo>
                    <a:pt x="80000" y="0"/>
                  </a:moveTo>
                  <a:lnTo>
                    <a:pt x="120000" y="0"/>
                  </a:lnTo>
                  <a:lnTo>
                    <a:pt x="4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4285F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17"/>
            <p:cNvSpPr txBox="1"/>
            <p:nvPr/>
          </p:nvSpPr>
          <p:spPr>
            <a:xfrm>
              <a:off x="428625" y="0"/>
              <a:ext cx="79533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2220">
                  <a:solidFill>
                    <a:srgbClr val="0A192F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Problem Statement</a:t>
              </a:r>
              <a:endParaRPr b="0" sz="2220">
                <a:solidFill>
                  <a:srgbClr val="0A192F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1035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Modern Deep NIDS achieve </a:t>
              </a:r>
              <a:r>
                <a:rPr b="1" lang="en" sz="1035">
                  <a:solidFill>
                    <a:srgbClr val="3B82F6"/>
                  </a:solidFill>
                  <a:latin typeface="Inter"/>
                  <a:ea typeface="Inter"/>
                  <a:cs typeface="Inter"/>
                  <a:sym typeface="Inter"/>
                </a:rPr>
                <a:t>&gt;95% accuracy</a:t>
              </a:r>
              <a:r>
                <a:rPr lang="en" sz="1035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on normal traffic, but collapse to</a:t>
              </a:r>
              <a:r>
                <a:rPr lang="en" sz="1035">
                  <a:solidFill>
                    <a:srgbClr val="DC2626"/>
                  </a:solidFill>
                  <a:latin typeface="Inter"/>
                  <a:ea typeface="Inter"/>
                  <a:cs typeface="Inter"/>
                  <a:sym typeface="Inter"/>
                </a:rPr>
                <a:t> ~30%</a:t>
              </a:r>
              <a:r>
                <a:rPr lang="en" sz="1035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under tiny perturbation </a:t>
              </a:r>
              <a:r>
                <a:rPr b="1" lang="en" sz="1035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[5, 9]</a:t>
              </a:r>
              <a:r>
                <a:rPr lang="en" sz="1035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.</a:t>
              </a:r>
              <a:endParaRPr b="0" sz="1035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47" name="Google Shape;147;p17"/>
          <p:cNvGrpSpPr/>
          <p:nvPr/>
        </p:nvGrpSpPr>
        <p:grpSpPr>
          <a:xfrm>
            <a:off x="381000" y="1238250"/>
            <a:ext cx="3143400" cy="3524400"/>
            <a:chOff x="0" y="0"/>
            <a:chExt cx="3143400" cy="3524400"/>
          </a:xfrm>
        </p:grpSpPr>
        <p:sp>
          <p:nvSpPr>
            <p:cNvPr id="148" name="Google Shape;148;p17"/>
            <p:cNvSpPr/>
            <p:nvPr/>
          </p:nvSpPr>
          <p:spPr>
            <a:xfrm>
              <a:off x="0" y="0"/>
              <a:ext cx="3143400" cy="3524400"/>
            </a:xfrm>
            <a:prstGeom prst="roundRect">
              <a:avLst>
                <a:gd fmla="val 3636" name="adj"/>
              </a:avLst>
            </a:prstGeom>
            <a:solidFill>
              <a:srgbClr val="FFFFFF"/>
            </a:solidFill>
            <a:ln cap="flat" cmpd="sng" w="14300">
              <a:solidFill>
                <a:srgbClr val="DBEAF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17"/>
            <p:cNvSpPr/>
            <p:nvPr/>
          </p:nvSpPr>
          <p:spPr>
            <a:xfrm>
              <a:off x="0" y="0"/>
              <a:ext cx="3143400" cy="57300"/>
            </a:xfrm>
            <a:prstGeom prst="roundRect">
              <a:avLst>
                <a:gd fmla="val 50000" name="adj"/>
              </a:avLst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" name="Google Shape;150;p17"/>
            <p:cNvSpPr txBox="1"/>
            <p:nvPr/>
          </p:nvSpPr>
          <p:spPr>
            <a:xfrm>
              <a:off x="228600" y="228600"/>
              <a:ext cx="2686200" cy="476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64748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System Performance</a:t>
              </a:r>
              <a:endParaRPr b="0" sz="950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800">
                  <a:solidFill>
                    <a:srgbClr val="0A192F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Clean vs. Robust</a:t>
              </a:r>
              <a:endParaRPr b="0" sz="1800">
                <a:solidFill>
                  <a:srgbClr val="0A192F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  <p:grpSp>
          <p:nvGrpSpPr>
            <p:cNvPr id="151" name="Google Shape;151;p17"/>
            <p:cNvGrpSpPr/>
            <p:nvPr/>
          </p:nvGrpSpPr>
          <p:grpSpPr>
            <a:xfrm>
              <a:off x="205740" y="773420"/>
              <a:ext cx="2377590" cy="666910"/>
              <a:chOff x="-22860" y="-83830"/>
              <a:chExt cx="2377590" cy="666910"/>
            </a:xfrm>
          </p:grpSpPr>
          <p:sp>
            <p:nvSpPr>
              <p:cNvPr id="152" name="Google Shape;152;p17"/>
              <p:cNvSpPr txBox="1"/>
              <p:nvPr/>
            </p:nvSpPr>
            <p:spPr>
              <a:xfrm>
                <a:off x="-22860" y="-83820"/>
                <a:ext cx="857400" cy="6669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2600">
                    <a:solidFill>
                      <a:srgbClr val="334155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95%</a:t>
                </a:r>
                <a:endParaRPr b="1" sz="2600">
                  <a:solidFill>
                    <a:srgbClr val="334155"/>
                  </a:solidFill>
                  <a:latin typeface="Roboto Mono"/>
                  <a:ea typeface="Roboto Mono"/>
                  <a:cs typeface="Roboto Mono"/>
                  <a:sym typeface="Roboto Mono"/>
                </a:endParaRPr>
              </a:p>
              <a:p>
                <a:pPr indent="0" lvl="0" marL="0" rtl="0" algn="ctr">
                  <a:spcBef>
                    <a:spcPts val="225"/>
                  </a:spcBef>
                  <a:spcAft>
                    <a:spcPts val="0"/>
                  </a:spcAft>
                  <a:buNone/>
                </a:pPr>
                <a:r>
                  <a:rPr b="1" lang="en" sz="800">
                    <a:solidFill>
                      <a:srgbClr val="64748B"/>
                    </a:solidFill>
                    <a:latin typeface="Inter"/>
                    <a:ea typeface="Inter"/>
                    <a:cs typeface="Inter"/>
                    <a:sym typeface="Inter"/>
                  </a:rPr>
                  <a:t>CLEAN ACC</a:t>
                </a:r>
                <a:endParaRPr b="1" sz="8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3" name="Google Shape;153;p17"/>
              <p:cNvSpPr/>
              <p:nvPr/>
            </p:nvSpPr>
            <p:spPr>
              <a:xfrm>
                <a:off x="952500" y="133350"/>
                <a:ext cx="228600" cy="133500"/>
              </a:xfrm>
              <a:custGeom>
                <a:rect b="b" l="l" r="r" t="t"/>
                <a:pathLst>
                  <a:path extrusionOk="0" h="120000" w="120000">
                    <a:moveTo>
                      <a:pt x="0" y="60000"/>
                    </a:moveTo>
                    <a:lnTo>
                      <a:pt x="120000" y="60000"/>
                    </a:lnTo>
                    <a:moveTo>
                      <a:pt x="85000" y="0"/>
                    </a:moveTo>
                    <a:lnTo>
                      <a:pt x="120000" y="60000"/>
                    </a:lnTo>
                    <a:lnTo>
                      <a:pt x="85000" y="12000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cap="rnd" cmpd="sng" w="23825">
                <a:solidFill>
                  <a:srgbClr val="2563E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" name="Google Shape;154;p17"/>
              <p:cNvSpPr txBox="1"/>
              <p:nvPr/>
            </p:nvSpPr>
            <p:spPr>
              <a:xfrm>
                <a:off x="1306830" y="-83830"/>
                <a:ext cx="1047900" cy="6669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2600">
                    <a:solidFill>
                      <a:srgbClr val="2563EB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~30%</a:t>
                </a:r>
                <a:endParaRPr b="1" sz="2600">
                  <a:solidFill>
                    <a:srgbClr val="2563EB"/>
                  </a:solidFill>
                  <a:latin typeface="Roboto Mono"/>
                  <a:ea typeface="Roboto Mono"/>
                  <a:cs typeface="Roboto Mono"/>
                  <a:sym typeface="Roboto Mono"/>
                </a:endParaRPr>
              </a:p>
              <a:p>
                <a:pPr indent="0" lvl="0" marL="0" rtl="0" algn="ctr">
                  <a:spcBef>
                    <a:spcPts val="225"/>
                  </a:spcBef>
                  <a:spcAft>
                    <a:spcPts val="0"/>
                  </a:spcAft>
                  <a:buNone/>
                </a:pPr>
                <a:r>
                  <a:rPr b="1" lang="en" sz="800">
                    <a:solidFill>
                      <a:srgbClr val="64748B"/>
                    </a:solidFill>
                    <a:latin typeface="Inter"/>
                    <a:ea typeface="Inter"/>
                    <a:cs typeface="Inter"/>
                    <a:sym typeface="Inter"/>
                  </a:rPr>
                  <a:t>ROBUST ACC</a:t>
                </a:r>
                <a:endParaRPr b="1" sz="8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cxnSp>
          <p:nvCxnSpPr>
            <p:cNvPr id="155" name="Google Shape;155;p17"/>
            <p:cNvCxnSpPr/>
            <p:nvPr/>
          </p:nvCxnSpPr>
          <p:spPr>
            <a:xfrm>
              <a:off x="228600" y="1666875"/>
              <a:ext cx="26862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56" name="Google Shape;156;p17"/>
            <p:cNvSpPr txBox="1"/>
            <p:nvPr/>
          </p:nvSpPr>
          <p:spPr>
            <a:xfrm>
              <a:off x="228600" y="1857375"/>
              <a:ext cx="2686200" cy="1428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1E3A8A"/>
                  </a:solidFill>
                  <a:latin typeface="Inter"/>
                  <a:ea typeface="Inter"/>
                  <a:cs typeface="Inter"/>
                  <a:sym typeface="Inter"/>
                </a:rPr>
                <a:t>The Adversarial Evasion Mechanism</a:t>
              </a:r>
              <a:endParaRPr b="1" sz="1100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Attackers slightly alter flow timing and packet sizes.</a:t>
              </a:r>
              <a:endParaRPr b="0" sz="9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950">
                  <a:solidFill>
                    <a:srgbClr val="0A192F"/>
                  </a:solidFill>
                  <a:latin typeface="Inter"/>
                  <a:ea typeface="Inter"/>
                  <a:cs typeface="Inter"/>
                  <a:sym typeface="Inter"/>
                </a:rPr>
                <a:t>Consequence:</a:t>
              </a:r>
              <a:r>
                <a:rPr b="0" lang="en" sz="9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The AI is tricked into classifying dangerous attacks as normal benign traffic.</a:t>
              </a:r>
              <a:endParaRPr b="0" sz="9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57" name="Google Shape;157;p17"/>
          <p:cNvGrpSpPr/>
          <p:nvPr/>
        </p:nvGrpSpPr>
        <p:grpSpPr>
          <a:xfrm>
            <a:off x="3714750" y="1238250"/>
            <a:ext cx="5048400" cy="1047900"/>
            <a:chOff x="0" y="0"/>
            <a:chExt cx="5048400" cy="1047900"/>
          </a:xfrm>
        </p:grpSpPr>
        <p:sp>
          <p:nvSpPr>
            <p:cNvPr id="158" name="Google Shape;158;p17"/>
            <p:cNvSpPr/>
            <p:nvPr/>
          </p:nvSpPr>
          <p:spPr>
            <a:xfrm>
              <a:off x="0" y="0"/>
              <a:ext cx="5048400" cy="1047900"/>
            </a:xfrm>
            <a:prstGeom prst="roundRect">
              <a:avLst>
                <a:gd fmla="val 10909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p17"/>
            <p:cNvSpPr/>
            <p:nvPr/>
          </p:nvSpPr>
          <p:spPr>
            <a:xfrm>
              <a:off x="0" y="0"/>
              <a:ext cx="57300" cy="1047900"/>
            </a:xfrm>
            <a:prstGeom prst="roundRect">
              <a:avLst>
                <a:gd fmla="val 50000" name="adj"/>
              </a:avLst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60" name="Google Shape;160;p17"/>
            <p:cNvGrpSpPr/>
            <p:nvPr/>
          </p:nvGrpSpPr>
          <p:grpSpPr>
            <a:xfrm>
              <a:off x="209550" y="381000"/>
              <a:ext cx="247800" cy="247800"/>
              <a:chOff x="19050" y="19050"/>
              <a:chExt cx="247800" cy="247800"/>
            </a:xfrm>
          </p:grpSpPr>
          <p:sp>
            <p:nvSpPr>
              <p:cNvPr id="161" name="Google Shape;161;p17"/>
              <p:cNvSpPr/>
              <p:nvPr/>
            </p:nvSpPr>
            <p:spPr>
              <a:xfrm>
                <a:off x="47625" y="47625"/>
                <a:ext cx="190500" cy="190500"/>
              </a:xfrm>
              <a:custGeom>
                <a:rect b="b" l="l" r="r" t="t"/>
                <a:pathLst>
                  <a:path extrusionOk="0" h="120000" w="120000">
                    <a:moveTo>
                      <a:pt x="0" y="60000"/>
                    </a:moveTo>
                    <a:lnTo>
                      <a:pt x="60000" y="0"/>
                    </a:lnTo>
                    <a:lnTo>
                      <a:pt x="120000" y="60000"/>
                    </a:lnTo>
                    <a:lnTo>
                      <a:pt x="60000" y="12000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19050">
                <a:solidFill>
                  <a:srgbClr val="2563E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p17"/>
              <p:cNvSpPr/>
              <p:nvPr/>
            </p:nvSpPr>
            <p:spPr>
              <a:xfrm>
                <a:off x="114300" y="19050"/>
                <a:ext cx="57300" cy="57300"/>
              </a:xfrm>
              <a:prstGeom prst="ellipse">
                <a:avLst/>
              </a:prstGeom>
              <a:solidFill>
                <a:srgbClr val="06B6D4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" name="Google Shape;163;p17"/>
              <p:cNvSpPr/>
              <p:nvPr/>
            </p:nvSpPr>
            <p:spPr>
              <a:xfrm>
                <a:off x="19050" y="114300"/>
                <a:ext cx="57300" cy="57300"/>
              </a:xfrm>
              <a:prstGeom prst="ellipse">
                <a:avLst/>
              </a:prstGeom>
              <a:solidFill>
                <a:srgbClr val="2563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" name="Google Shape;164;p17"/>
              <p:cNvSpPr/>
              <p:nvPr/>
            </p:nvSpPr>
            <p:spPr>
              <a:xfrm>
                <a:off x="209550" y="114300"/>
                <a:ext cx="57300" cy="57300"/>
              </a:xfrm>
              <a:prstGeom prst="ellipse">
                <a:avLst/>
              </a:prstGeom>
              <a:solidFill>
                <a:srgbClr val="2563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p17"/>
              <p:cNvSpPr/>
              <p:nvPr/>
            </p:nvSpPr>
            <p:spPr>
              <a:xfrm>
                <a:off x="114300" y="209550"/>
                <a:ext cx="57300" cy="57300"/>
              </a:xfrm>
              <a:prstGeom prst="ellipse">
                <a:avLst/>
              </a:prstGeom>
              <a:solidFill>
                <a:srgbClr val="2563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166" name="Google Shape;166;p17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100013" y="104775"/>
                <a:ext cx="85800" cy="762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167" name="Google Shape;167;p17"/>
            <p:cNvSpPr txBox="1"/>
            <p:nvPr/>
          </p:nvSpPr>
          <p:spPr>
            <a:xfrm>
              <a:off x="619125" y="190500"/>
              <a:ext cx="4238700" cy="666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1E3A8A"/>
                  </a:solidFill>
                  <a:latin typeface="Inter"/>
                  <a:ea typeface="Inter"/>
                  <a:cs typeface="Inter"/>
                  <a:sym typeface="Inter"/>
                </a:rPr>
                <a:t>Gradient-Volatile Features</a:t>
              </a:r>
              <a:endParaRPr b="1" sz="1200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" sz="950">
                  <a:solidFill>
                    <a:srgbClr val="0A192F"/>
                  </a:solidFill>
                  <a:latin typeface="Inter"/>
                  <a:ea typeface="Inter"/>
                  <a:cs typeface="Inter"/>
                  <a:sym typeface="Inter"/>
                </a:rPr>
                <a:t>Fragile Features:</a:t>
              </a:r>
              <a:r>
                <a:rPr b="0" lang="en" sz="9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Classifiers rely on weak traffic clues that attackers can easily disguise.</a:t>
              </a:r>
              <a:r>
                <a:rPr b="1" lang="en" sz="9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[</a:t>
              </a:r>
              <a:r>
                <a:rPr b="1" lang="en" sz="9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5</a:t>
              </a:r>
              <a:r>
                <a:rPr b="1" lang="en" sz="9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]</a:t>
              </a:r>
              <a:endParaRPr b="1" sz="9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68" name="Google Shape;168;p17"/>
          <p:cNvGrpSpPr/>
          <p:nvPr/>
        </p:nvGrpSpPr>
        <p:grpSpPr>
          <a:xfrm>
            <a:off x="3714750" y="2476500"/>
            <a:ext cx="5048400" cy="1047900"/>
            <a:chOff x="0" y="0"/>
            <a:chExt cx="5048400" cy="1047900"/>
          </a:xfrm>
        </p:grpSpPr>
        <p:sp>
          <p:nvSpPr>
            <p:cNvPr id="169" name="Google Shape;169;p17"/>
            <p:cNvSpPr/>
            <p:nvPr/>
          </p:nvSpPr>
          <p:spPr>
            <a:xfrm>
              <a:off x="0" y="0"/>
              <a:ext cx="5048400" cy="1047900"/>
            </a:xfrm>
            <a:prstGeom prst="roundRect">
              <a:avLst>
                <a:gd fmla="val 10909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" name="Google Shape;170;p17"/>
            <p:cNvSpPr/>
            <p:nvPr/>
          </p:nvSpPr>
          <p:spPr>
            <a:xfrm>
              <a:off x="0" y="0"/>
              <a:ext cx="57300" cy="1047900"/>
            </a:xfrm>
            <a:prstGeom prst="roundRect">
              <a:avLst>
                <a:gd fmla="val 50000" name="adj"/>
              </a:avLst>
            </a:prstGeom>
            <a:solidFill>
              <a:srgbClr val="06B6D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71" name="Google Shape;171;p17"/>
            <p:cNvGrpSpPr/>
            <p:nvPr/>
          </p:nvGrpSpPr>
          <p:grpSpPr>
            <a:xfrm>
              <a:off x="200025" y="381000"/>
              <a:ext cx="304950" cy="257175"/>
              <a:chOff x="9525" y="19050"/>
              <a:chExt cx="304950" cy="257175"/>
            </a:xfrm>
          </p:grpSpPr>
          <p:sp>
            <p:nvSpPr>
              <p:cNvPr id="172" name="Google Shape;172;p17"/>
              <p:cNvSpPr/>
              <p:nvPr/>
            </p:nvSpPr>
            <p:spPr>
              <a:xfrm>
                <a:off x="47625" y="47625"/>
                <a:ext cx="238200" cy="190500"/>
              </a:xfrm>
              <a:custGeom>
                <a:rect b="b" l="l" r="r" t="t"/>
                <a:pathLst>
                  <a:path extrusionOk="0" h="120000" w="120000">
                    <a:moveTo>
                      <a:pt x="0" y="120000"/>
                    </a:moveTo>
                    <a:lnTo>
                      <a:pt x="48000" y="0"/>
                    </a:lnTo>
                    <a:lnTo>
                      <a:pt x="72000" y="60000"/>
                    </a:lnTo>
                    <a:lnTo>
                      <a:pt x="120000" y="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cap="rnd" cmpd="sng" w="19050">
                <a:solidFill>
                  <a:srgbClr val="2563E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17"/>
              <p:cNvSpPr/>
              <p:nvPr/>
            </p:nvSpPr>
            <p:spPr>
              <a:xfrm>
                <a:off x="114300" y="19050"/>
                <a:ext cx="57300" cy="57300"/>
              </a:xfrm>
              <a:prstGeom prst="ellipse">
                <a:avLst/>
              </a:prstGeom>
              <a:solidFill>
                <a:srgbClr val="2563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4" name="Google Shape;174;p17"/>
              <p:cNvSpPr/>
              <p:nvPr/>
            </p:nvSpPr>
            <p:spPr>
              <a:xfrm>
                <a:off x="257175" y="19050"/>
                <a:ext cx="57300" cy="57300"/>
              </a:xfrm>
              <a:prstGeom prst="ellipse">
                <a:avLst/>
              </a:prstGeom>
              <a:solidFill>
                <a:srgbClr val="06B6D4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5" name="Google Shape;175;p17"/>
              <p:cNvSpPr/>
              <p:nvPr/>
            </p:nvSpPr>
            <p:spPr>
              <a:xfrm>
                <a:off x="9525" y="200025"/>
                <a:ext cx="76200" cy="76200"/>
              </a:xfrm>
              <a:prstGeom prst="roundRect">
                <a:avLst>
                  <a:gd fmla="val 12500" name="adj"/>
                </a:avLst>
              </a:prstGeom>
              <a:solidFill>
                <a:srgbClr val="2563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76" name="Google Shape;176;p17"/>
            <p:cNvSpPr txBox="1"/>
            <p:nvPr/>
          </p:nvSpPr>
          <p:spPr>
            <a:xfrm>
              <a:off x="619125" y="190500"/>
              <a:ext cx="4238700" cy="666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0891B2"/>
                  </a:solidFill>
                  <a:latin typeface="Inter"/>
                  <a:ea typeface="Inter"/>
                  <a:cs typeface="Inter"/>
                  <a:sym typeface="Inter"/>
                </a:rPr>
                <a:t>Transient Socket Shortcuts</a:t>
              </a:r>
              <a:endParaRPr b="1" sz="1200">
                <a:solidFill>
                  <a:srgbClr val="0891B2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" sz="950">
                  <a:solidFill>
                    <a:srgbClr val="0A192F"/>
                  </a:solidFill>
                  <a:latin typeface="Inter"/>
                  <a:ea typeface="Inter"/>
                  <a:cs typeface="Inter"/>
                  <a:sym typeface="Inter"/>
                </a:rPr>
                <a:t>Shortcut Learning:</a:t>
              </a:r>
              <a:r>
                <a:rPr b="0" lang="en" sz="9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Models memorize port numbers and IP addresses instead of learning real attack behavior.</a:t>
              </a:r>
              <a:r>
                <a:rPr b="1" lang="en" sz="9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[18</a:t>
              </a:r>
              <a:r>
                <a:rPr b="1" lang="en" sz="9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]</a:t>
              </a:r>
              <a:endParaRPr b="1" sz="9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77" name="Google Shape;177;p17"/>
          <p:cNvGrpSpPr/>
          <p:nvPr/>
        </p:nvGrpSpPr>
        <p:grpSpPr>
          <a:xfrm>
            <a:off x="3714750" y="3714750"/>
            <a:ext cx="5048400" cy="1047900"/>
            <a:chOff x="0" y="0"/>
            <a:chExt cx="5048400" cy="1047900"/>
          </a:xfrm>
        </p:grpSpPr>
        <p:sp>
          <p:nvSpPr>
            <p:cNvPr id="178" name="Google Shape;178;p17"/>
            <p:cNvSpPr/>
            <p:nvPr/>
          </p:nvSpPr>
          <p:spPr>
            <a:xfrm>
              <a:off x="0" y="0"/>
              <a:ext cx="5048400" cy="1047900"/>
            </a:xfrm>
            <a:prstGeom prst="roundRect">
              <a:avLst>
                <a:gd fmla="val 10909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" name="Google Shape;179;p17"/>
            <p:cNvSpPr/>
            <p:nvPr/>
          </p:nvSpPr>
          <p:spPr>
            <a:xfrm>
              <a:off x="0" y="0"/>
              <a:ext cx="57300" cy="1047900"/>
            </a:xfrm>
            <a:prstGeom prst="roundRect">
              <a:avLst>
                <a:gd fmla="val 50000" name="adj"/>
              </a:avLst>
            </a:prstGeom>
            <a:solidFill>
              <a:srgbClr val="11224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80" name="Google Shape;180;p17"/>
            <p:cNvGrpSpPr/>
            <p:nvPr/>
          </p:nvGrpSpPr>
          <p:grpSpPr>
            <a:xfrm>
              <a:off x="238125" y="409575"/>
              <a:ext cx="190500" cy="219000"/>
              <a:chOff x="47625" y="47625"/>
              <a:chExt cx="190500" cy="219000"/>
            </a:xfrm>
          </p:grpSpPr>
          <p:sp>
            <p:nvSpPr>
              <p:cNvPr id="181" name="Google Shape;181;p17"/>
              <p:cNvSpPr/>
              <p:nvPr/>
            </p:nvSpPr>
            <p:spPr>
              <a:xfrm>
                <a:off x="47625" y="47625"/>
                <a:ext cx="190500" cy="219000"/>
              </a:xfrm>
              <a:custGeom>
                <a:rect b="b" l="l" r="r" t="t"/>
                <a:pathLst>
                  <a:path extrusionOk="0" h="120000" w="120000">
                    <a:moveTo>
                      <a:pt x="0" y="0"/>
                    </a:moveTo>
                    <a:lnTo>
                      <a:pt x="120000" y="0"/>
                    </a:lnTo>
                    <a:lnTo>
                      <a:pt x="120000" y="52174"/>
                    </a:lnTo>
                    <a:cubicBezTo>
                      <a:pt x="120000" y="88696"/>
                      <a:pt x="60000" y="120000"/>
                      <a:pt x="60000" y="120000"/>
                    </a:cubicBezTo>
                    <a:cubicBezTo>
                      <a:pt x="60000" y="120000"/>
                      <a:pt x="0" y="88696"/>
                      <a:pt x="0" y="52174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19050">
                <a:solidFill>
                  <a:srgbClr val="2563E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17"/>
              <p:cNvSpPr/>
              <p:nvPr/>
            </p:nvSpPr>
            <p:spPr>
              <a:xfrm>
                <a:off x="142875" y="85725"/>
                <a:ext cx="38100" cy="76200"/>
              </a:xfrm>
              <a:custGeom>
                <a:rect b="b" l="l" r="r" t="t"/>
                <a:pathLst>
                  <a:path extrusionOk="0" h="120000" w="120000">
                    <a:moveTo>
                      <a:pt x="0" y="0"/>
                    </a:moveTo>
                    <a:lnTo>
                      <a:pt x="0" y="90000"/>
                    </a:lnTo>
                    <a:lnTo>
                      <a:pt x="120000" y="12000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cap="rnd" cmpd="sng" w="19050">
                <a:solidFill>
                  <a:srgbClr val="06B6D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83" name="Google Shape;183;p17"/>
            <p:cNvSpPr txBox="1"/>
            <p:nvPr/>
          </p:nvSpPr>
          <p:spPr>
            <a:xfrm>
              <a:off x="619125" y="190500"/>
              <a:ext cx="4238700" cy="666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Defensive Hardening Trade-Offs</a:t>
              </a:r>
              <a:endParaRPr b="1" sz="12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" sz="950">
                  <a:solidFill>
                    <a:srgbClr val="0A192F"/>
                  </a:solidFill>
                  <a:latin typeface="Inter"/>
                  <a:ea typeface="Inter"/>
                  <a:cs typeface="Inter"/>
                  <a:sym typeface="Inter"/>
                </a:rPr>
                <a:t>Stale Defenses:</a:t>
              </a:r>
              <a:r>
                <a:rPr b="0" lang="en" sz="9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Existing defenses train once on old attacks, making them helpless against adaptive, modern attackers.</a:t>
              </a:r>
              <a:r>
                <a:rPr b="1" lang="en" sz="9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[1]</a:t>
              </a:r>
              <a:endParaRPr b="1" sz="9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184" name="Google Shape;184;p17"/>
          <p:cNvSpPr txBox="1"/>
          <p:nvPr/>
        </p:nvSpPr>
        <p:spPr>
          <a:xfrm>
            <a:off x="8371425" y="4776393"/>
            <a:ext cx="391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64748B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03</a:t>
            </a:r>
            <a:endParaRPr sz="1200">
              <a:solidFill>
                <a:srgbClr val="64748B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Google Shape;189;p18"/>
          <p:cNvPicPr preferRelativeResize="0"/>
          <p:nvPr/>
        </p:nvPicPr>
        <p:blipFill>
          <a:blip r:embed="rId3">
            <a:alphaModFix amt="40000"/>
          </a:blip>
          <a:stretch>
            <a:fillRect/>
          </a:stretch>
        </p:blipFill>
        <p:spPr>
          <a:xfrm>
            <a:off x="0" y="19936"/>
            <a:ext cx="9144002" cy="510362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0" name="Google Shape;190;p18"/>
          <p:cNvGrpSpPr/>
          <p:nvPr/>
        </p:nvGrpSpPr>
        <p:grpSpPr>
          <a:xfrm>
            <a:off x="-57150" y="4617720"/>
            <a:ext cx="1268730" cy="1040310"/>
            <a:chOff x="142875" y="228600"/>
            <a:chExt cx="1057275" cy="866925"/>
          </a:xfrm>
        </p:grpSpPr>
        <p:sp>
          <p:nvSpPr>
            <p:cNvPr id="191" name="Google Shape;191;p18"/>
            <p:cNvSpPr/>
            <p:nvPr/>
          </p:nvSpPr>
          <p:spPr>
            <a:xfrm>
              <a:off x="438150" y="438150"/>
              <a:ext cx="76200" cy="76200"/>
            </a:xfrm>
            <a:prstGeom prst="ellipse">
              <a:avLst/>
            </a:prstGeom>
            <a:solidFill>
              <a:srgbClr val="2563EB">
                <a:alpha val="12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" name="Google Shape;192;p18"/>
            <p:cNvSpPr/>
            <p:nvPr/>
          </p:nvSpPr>
          <p:spPr>
            <a:xfrm>
              <a:off x="1085850" y="228600"/>
              <a:ext cx="114300" cy="114300"/>
            </a:xfrm>
            <a:prstGeom prst="ellipse">
              <a:avLst/>
            </a:prstGeom>
            <a:solidFill>
              <a:srgbClr val="0A192F">
                <a:alpha val="12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p18"/>
            <p:cNvSpPr/>
            <p:nvPr/>
          </p:nvSpPr>
          <p:spPr>
            <a:xfrm>
              <a:off x="828675" y="923925"/>
              <a:ext cx="57300" cy="57300"/>
            </a:xfrm>
            <a:prstGeom prst="ellipse">
              <a:avLst/>
            </a:prstGeom>
            <a:solidFill>
              <a:srgbClr val="06B6D4">
                <a:alpha val="12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18"/>
            <p:cNvSpPr/>
            <p:nvPr/>
          </p:nvSpPr>
          <p:spPr>
            <a:xfrm>
              <a:off x="142875" y="1000125"/>
              <a:ext cx="95400" cy="95400"/>
            </a:xfrm>
            <a:prstGeom prst="ellipse">
              <a:avLst/>
            </a:prstGeom>
            <a:solidFill>
              <a:srgbClr val="2563EB">
                <a:alpha val="12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95" name="Google Shape;195;p1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66438" y="277702"/>
              <a:ext cx="683400" cy="683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6" name="Google Shape;196;p18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82563" y="473384"/>
              <a:ext cx="675300" cy="5814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97" name="Google Shape;197;p18"/>
          <p:cNvGrpSpPr/>
          <p:nvPr/>
        </p:nvGrpSpPr>
        <p:grpSpPr>
          <a:xfrm>
            <a:off x="9844088" y="4507230"/>
            <a:ext cx="1374457" cy="1127002"/>
            <a:chOff x="142875" y="228600"/>
            <a:chExt cx="1057275" cy="866925"/>
          </a:xfrm>
        </p:grpSpPr>
        <p:sp>
          <p:nvSpPr>
            <p:cNvPr id="198" name="Google Shape;198;p18"/>
            <p:cNvSpPr/>
            <p:nvPr/>
          </p:nvSpPr>
          <p:spPr>
            <a:xfrm>
              <a:off x="438150" y="438150"/>
              <a:ext cx="76200" cy="76200"/>
            </a:xfrm>
            <a:prstGeom prst="ellipse">
              <a:avLst/>
            </a:prstGeom>
            <a:solidFill>
              <a:srgbClr val="2563EB">
                <a:alpha val="12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" name="Google Shape;199;p18"/>
            <p:cNvSpPr/>
            <p:nvPr/>
          </p:nvSpPr>
          <p:spPr>
            <a:xfrm>
              <a:off x="1085850" y="228600"/>
              <a:ext cx="114300" cy="114300"/>
            </a:xfrm>
            <a:prstGeom prst="ellipse">
              <a:avLst/>
            </a:prstGeom>
            <a:solidFill>
              <a:srgbClr val="0A192F">
                <a:alpha val="12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" name="Google Shape;200;p18"/>
            <p:cNvSpPr/>
            <p:nvPr/>
          </p:nvSpPr>
          <p:spPr>
            <a:xfrm>
              <a:off x="828675" y="923925"/>
              <a:ext cx="57300" cy="57300"/>
            </a:xfrm>
            <a:prstGeom prst="ellipse">
              <a:avLst/>
            </a:prstGeom>
            <a:solidFill>
              <a:srgbClr val="06B6D4">
                <a:alpha val="12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" name="Google Shape;201;p18"/>
            <p:cNvSpPr/>
            <p:nvPr/>
          </p:nvSpPr>
          <p:spPr>
            <a:xfrm>
              <a:off x="142875" y="1000125"/>
              <a:ext cx="95400" cy="95400"/>
            </a:xfrm>
            <a:prstGeom prst="ellipse">
              <a:avLst/>
            </a:prstGeom>
            <a:solidFill>
              <a:srgbClr val="2563EB">
                <a:alpha val="12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02" name="Google Shape;202;p18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468809" y="279053"/>
              <a:ext cx="683100" cy="683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3" name="Google Shape;203;p18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183059" y="473273"/>
              <a:ext cx="676500" cy="5805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04" name="Google Shape;204;p18"/>
          <p:cNvGrpSpPr/>
          <p:nvPr/>
        </p:nvGrpSpPr>
        <p:grpSpPr>
          <a:xfrm>
            <a:off x="285750" y="381000"/>
            <a:ext cx="8477175" cy="857400"/>
            <a:chOff x="-95250" y="0"/>
            <a:chExt cx="8477175" cy="857400"/>
          </a:xfrm>
        </p:grpSpPr>
        <p:grpSp>
          <p:nvGrpSpPr>
            <p:cNvPr id="205" name="Google Shape;205;p18"/>
            <p:cNvGrpSpPr/>
            <p:nvPr/>
          </p:nvGrpSpPr>
          <p:grpSpPr>
            <a:xfrm>
              <a:off x="-95250" y="57150"/>
              <a:ext cx="380925" cy="190500"/>
              <a:chOff x="-95250" y="0"/>
              <a:chExt cx="380925" cy="190500"/>
            </a:xfrm>
          </p:grpSpPr>
          <p:sp>
            <p:nvSpPr>
              <p:cNvPr id="206" name="Google Shape;206;p18"/>
              <p:cNvSpPr/>
              <p:nvPr/>
            </p:nvSpPr>
            <p:spPr>
              <a:xfrm>
                <a:off x="-95250" y="0"/>
                <a:ext cx="285900" cy="190500"/>
              </a:xfrm>
              <a:custGeom>
                <a:rect b="b" l="l" r="r" t="t"/>
                <a:pathLst>
                  <a:path extrusionOk="0" h="120000" w="120000">
                    <a:moveTo>
                      <a:pt x="40000" y="0"/>
                    </a:moveTo>
                    <a:lnTo>
                      <a:pt x="120000" y="0"/>
                    </a:lnTo>
                    <a:lnTo>
                      <a:pt x="80000" y="120000"/>
                    </a:lnTo>
                    <a:lnTo>
                      <a:pt x="0" y="120000"/>
                    </a:lnTo>
                    <a:close/>
                  </a:path>
                </a:pathLst>
              </a:custGeom>
              <a:solidFill>
                <a:srgbClr val="06B6D4">
                  <a:alpha val="80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18"/>
              <p:cNvSpPr/>
              <p:nvPr/>
            </p:nvSpPr>
            <p:spPr>
              <a:xfrm>
                <a:off x="142875" y="0"/>
                <a:ext cx="142800" cy="190500"/>
              </a:xfrm>
              <a:custGeom>
                <a:rect b="b" l="l" r="r" t="t"/>
                <a:pathLst>
                  <a:path extrusionOk="0" h="120000" w="120000">
                    <a:moveTo>
                      <a:pt x="80000" y="0"/>
                    </a:moveTo>
                    <a:lnTo>
                      <a:pt x="120000" y="0"/>
                    </a:lnTo>
                    <a:lnTo>
                      <a:pt x="40000" y="120000"/>
                    </a:lnTo>
                    <a:lnTo>
                      <a:pt x="0" y="120000"/>
                    </a:lnTo>
                    <a:close/>
                  </a:path>
                </a:pathLst>
              </a:custGeom>
              <a:solidFill>
                <a:srgbClr val="2563EB">
                  <a:alpha val="60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08" name="Google Shape;208;p18"/>
            <p:cNvSpPr txBox="1"/>
            <p:nvPr/>
          </p:nvSpPr>
          <p:spPr>
            <a:xfrm>
              <a:off x="428625" y="0"/>
              <a:ext cx="7953300" cy="857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2400">
                  <a:solidFill>
                    <a:srgbClr val="0A192F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Motivation &amp; Objectives</a:t>
              </a:r>
              <a:endParaRPr b="0" sz="2400">
                <a:solidFill>
                  <a:srgbClr val="0A192F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300"/>
                </a:spcAft>
                <a:buNone/>
              </a:pPr>
              <a:r>
                <a:rPr b="0" lang="en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Building fast, accurate, and honest AI defense for live enterprise networks</a:t>
              </a:r>
              <a:endParaRPr b="0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09" name="Google Shape;209;p18"/>
          <p:cNvGrpSpPr/>
          <p:nvPr/>
        </p:nvGrpSpPr>
        <p:grpSpPr>
          <a:xfrm>
            <a:off x="381000" y="1459235"/>
            <a:ext cx="2628900" cy="3048000"/>
            <a:chOff x="0" y="0"/>
            <a:chExt cx="2628900" cy="3048000"/>
          </a:xfrm>
        </p:grpSpPr>
        <p:sp>
          <p:nvSpPr>
            <p:cNvPr id="210" name="Google Shape;210;p18"/>
            <p:cNvSpPr/>
            <p:nvPr/>
          </p:nvSpPr>
          <p:spPr>
            <a:xfrm>
              <a:off x="0" y="0"/>
              <a:ext cx="2628900" cy="3048000"/>
            </a:xfrm>
            <a:prstGeom prst="roundRect">
              <a:avLst>
                <a:gd fmla="val 4347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" name="Google Shape;211;p18"/>
            <p:cNvSpPr/>
            <p:nvPr/>
          </p:nvSpPr>
          <p:spPr>
            <a:xfrm>
              <a:off x="0" y="0"/>
              <a:ext cx="2628900" cy="57300"/>
            </a:xfrm>
            <a:prstGeom prst="roundRect">
              <a:avLst>
                <a:gd fmla="val 50000" name="adj"/>
              </a:avLst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12" name="Google Shape;212;p18"/>
            <p:cNvGrpSpPr/>
            <p:nvPr/>
          </p:nvGrpSpPr>
          <p:grpSpPr>
            <a:xfrm>
              <a:off x="190500" y="228600"/>
              <a:ext cx="342900" cy="228600"/>
              <a:chOff x="0" y="0"/>
              <a:chExt cx="342900" cy="228600"/>
            </a:xfrm>
          </p:grpSpPr>
          <p:sp>
            <p:nvSpPr>
              <p:cNvPr id="213" name="Google Shape;213;p18"/>
              <p:cNvSpPr/>
              <p:nvPr/>
            </p:nvSpPr>
            <p:spPr>
              <a:xfrm>
                <a:off x="0" y="0"/>
                <a:ext cx="342900" cy="228600"/>
              </a:xfrm>
              <a:prstGeom prst="roundRect">
                <a:avLst>
                  <a:gd fmla="val 25000" name="adj"/>
                </a:avLst>
              </a:prstGeom>
              <a:solidFill>
                <a:srgbClr val="EFF6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4" name="Google Shape;214;p18"/>
              <p:cNvSpPr txBox="1"/>
              <p:nvPr/>
            </p:nvSpPr>
            <p:spPr>
              <a:xfrm>
                <a:off x="0" y="0"/>
                <a:ext cx="3429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2563EB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01</a:t>
                </a:r>
                <a:endParaRPr b="1" sz="1000">
                  <a:solidFill>
                    <a:srgbClr val="2563EB"/>
                  </a:solidFill>
                  <a:latin typeface="Roboto Mono"/>
                  <a:ea typeface="Roboto Mono"/>
                  <a:cs typeface="Roboto Mono"/>
                  <a:sym typeface="Roboto Mono"/>
                </a:endParaRPr>
              </a:p>
            </p:txBody>
          </p:sp>
        </p:grpSp>
        <p:sp>
          <p:nvSpPr>
            <p:cNvPr id="215" name="Google Shape;215;p18"/>
            <p:cNvSpPr txBox="1"/>
            <p:nvPr/>
          </p:nvSpPr>
          <p:spPr>
            <a:xfrm>
              <a:off x="190500" y="609600"/>
              <a:ext cx="2247900" cy="22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500">
                  <a:solidFill>
                    <a:srgbClr val="0A192F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Real-Time Speed</a:t>
              </a:r>
              <a:endParaRPr b="0" sz="1500">
                <a:solidFill>
                  <a:srgbClr val="0A192F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High-speed networks cannot wait: slow detection drops valid packets.</a:t>
              </a:r>
              <a:endParaRPr b="0" sz="10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Goal:</a:t>
              </a:r>
              <a:r>
                <a:rPr b="0" lang="en" sz="10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lang="en" sz="10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Overcome multi-millisecond defense delays (</a:t>
              </a:r>
              <a:r>
                <a:rPr b="1" lang="en" sz="1050">
                  <a:solidFill>
                    <a:schemeClr val="accent1"/>
                  </a:solidFill>
                  <a:latin typeface="Inter"/>
                  <a:ea typeface="Inter"/>
                  <a:cs typeface="Inter"/>
                  <a:sym typeface="Inter"/>
                </a:rPr>
                <a:t>85–220 ms</a:t>
              </a:r>
              <a:r>
                <a:rPr lang="en" sz="10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in</a:t>
              </a:r>
              <a:r>
                <a:rPr b="1" lang="en" sz="10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[3]</a:t>
              </a:r>
              <a:r>
                <a:rPr lang="en" sz="10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, </a:t>
              </a:r>
              <a:r>
                <a:rPr b="1" lang="en" sz="1050">
                  <a:solidFill>
                    <a:schemeClr val="accent1"/>
                  </a:solidFill>
                  <a:latin typeface="Inter"/>
                  <a:ea typeface="Inter"/>
                  <a:cs typeface="Inter"/>
                  <a:sym typeface="Inter"/>
                </a:rPr>
                <a:t>&gt;2.4 ms</a:t>
              </a:r>
              <a:r>
                <a:rPr lang="en" sz="10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in </a:t>
              </a:r>
              <a:r>
                <a:rPr b="1" lang="en" sz="10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[4]</a:t>
              </a:r>
              <a:r>
                <a:rPr lang="en" sz="10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) that violate line-rate packet forwarding."</a:t>
              </a:r>
              <a:endParaRPr b="0" sz="10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16" name="Google Shape;216;p18"/>
          <p:cNvGrpSpPr/>
          <p:nvPr/>
        </p:nvGrpSpPr>
        <p:grpSpPr>
          <a:xfrm>
            <a:off x="3257550" y="1459235"/>
            <a:ext cx="2628900" cy="3048000"/>
            <a:chOff x="0" y="0"/>
            <a:chExt cx="2628900" cy="3048000"/>
          </a:xfrm>
        </p:grpSpPr>
        <p:sp>
          <p:nvSpPr>
            <p:cNvPr id="217" name="Google Shape;217;p18"/>
            <p:cNvSpPr/>
            <p:nvPr/>
          </p:nvSpPr>
          <p:spPr>
            <a:xfrm>
              <a:off x="0" y="0"/>
              <a:ext cx="2628900" cy="3048000"/>
            </a:xfrm>
            <a:prstGeom prst="roundRect">
              <a:avLst>
                <a:gd fmla="val 4347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" name="Google Shape;218;p18"/>
            <p:cNvSpPr/>
            <p:nvPr/>
          </p:nvSpPr>
          <p:spPr>
            <a:xfrm>
              <a:off x="0" y="0"/>
              <a:ext cx="2628900" cy="57300"/>
            </a:xfrm>
            <a:prstGeom prst="roundRect">
              <a:avLst>
                <a:gd fmla="val 50000" name="adj"/>
              </a:avLst>
            </a:prstGeom>
            <a:solidFill>
              <a:srgbClr val="06B6D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19" name="Google Shape;219;p18"/>
            <p:cNvGrpSpPr/>
            <p:nvPr/>
          </p:nvGrpSpPr>
          <p:grpSpPr>
            <a:xfrm>
              <a:off x="190500" y="228600"/>
              <a:ext cx="342900" cy="228600"/>
              <a:chOff x="0" y="0"/>
              <a:chExt cx="342900" cy="228600"/>
            </a:xfrm>
          </p:grpSpPr>
          <p:sp>
            <p:nvSpPr>
              <p:cNvPr id="220" name="Google Shape;220;p18"/>
              <p:cNvSpPr/>
              <p:nvPr/>
            </p:nvSpPr>
            <p:spPr>
              <a:xfrm>
                <a:off x="0" y="0"/>
                <a:ext cx="342900" cy="228600"/>
              </a:xfrm>
              <a:prstGeom prst="roundRect">
                <a:avLst>
                  <a:gd fmla="val 25000" name="adj"/>
                </a:avLst>
              </a:prstGeom>
              <a:solidFill>
                <a:srgbClr val="E0F2FE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18"/>
              <p:cNvSpPr txBox="1"/>
              <p:nvPr/>
            </p:nvSpPr>
            <p:spPr>
              <a:xfrm>
                <a:off x="0" y="0"/>
                <a:ext cx="3429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06B6D4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02</a:t>
                </a:r>
                <a:endParaRPr b="1" sz="1000">
                  <a:solidFill>
                    <a:srgbClr val="06B6D4"/>
                  </a:solidFill>
                  <a:latin typeface="Roboto Mono"/>
                  <a:ea typeface="Roboto Mono"/>
                  <a:cs typeface="Roboto Mono"/>
                  <a:sym typeface="Roboto Mono"/>
                </a:endParaRPr>
              </a:p>
            </p:txBody>
          </p:sp>
        </p:grpSp>
        <p:sp>
          <p:nvSpPr>
            <p:cNvPr id="222" name="Google Shape;222;p18"/>
            <p:cNvSpPr txBox="1"/>
            <p:nvPr/>
          </p:nvSpPr>
          <p:spPr>
            <a:xfrm>
              <a:off x="123745" y="575160"/>
              <a:ext cx="2381400" cy="22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500">
                  <a:solidFill>
                    <a:srgbClr val="0A192F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Accu</a:t>
              </a:r>
              <a:r>
                <a:rPr lang="en" sz="1500">
                  <a:solidFill>
                    <a:srgbClr val="0A192F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racy</a:t>
              </a:r>
              <a:r>
                <a:rPr b="0" lang="en" sz="1500">
                  <a:solidFill>
                    <a:srgbClr val="0A192F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 vs Robustnes</a:t>
              </a:r>
              <a:r>
                <a:rPr lang="en" sz="1500">
                  <a:solidFill>
                    <a:srgbClr val="0A192F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s</a:t>
              </a:r>
              <a:endParaRPr b="0" sz="1500">
                <a:solidFill>
                  <a:srgbClr val="0A192F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Defending models usually causes a 2% to 6% drop in normal accuracy.</a:t>
              </a:r>
              <a:r>
                <a:rPr b="1" lang="en" sz="10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[2, 17]</a:t>
              </a:r>
              <a:endParaRPr b="1" sz="10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06B6D4"/>
                  </a:solidFill>
                  <a:latin typeface="Inter"/>
                  <a:ea typeface="Inter"/>
                  <a:cs typeface="Inter"/>
                  <a:sym typeface="Inter"/>
                </a:rPr>
                <a:t>Goal:</a:t>
              </a:r>
              <a:r>
                <a:rPr b="0" lang="en" sz="10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Stop attacks without hurting normal accuracy by removing noisy features.</a:t>
              </a:r>
              <a:endParaRPr b="0" sz="10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23" name="Google Shape;223;p18"/>
          <p:cNvGrpSpPr/>
          <p:nvPr/>
        </p:nvGrpSpPr>
        <p:grpSpPr>
          <a:xfrm>
            <a:off x="6134100" y="1459235"/>
            <a:ext cx="2628900" cy="3048000"/>
            <a:chOff x="0" y="0"/>
            <a:chExt cx="2628900" cy="3048000"/>
          </a:xfrm>
        </p:grpSpPr>
        <p:sp>
          <p:nvSpPr>
            <p:cNvPr id="224" name="Google Shape;224;p18"/>
            <p:cNvSpPr/>
            <p:nvPr/>
          </p:nvSpPr>
          <p:spPr>
            <a:xfrm>
              <a:off x="0" y="0"/>
              <a:ext cx="2628900" cy="3048000"/>
            </a:xfrm>
            <a:prstGeom prst="roundRect">
              <a:avLst>
                <a:gd fmla="val 4347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" name="Google Shape;225;p18"/>
            <p:cNvSpPr/>
            <p:nvPr/>
          </p:nvSpPr>
          <p:spPr>
            <a:xfrm>
              <a:off x="0" y="0"/>
              <a:ext cx="2628900" cy="57300"/>
            </a:xfrm>
            <a:prstGeom prst="roundRect">
              <a:avLst>
                <a:gd fmla="val 50000" name="adj"/>
              </a:avLst>
            </a:prstGeom>
            <a:solidFill>
              <a:srgbClr val="4F46E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26" name="Google Shape;226;p18"/>
            <p:cNvGrpSpPr/>
            <p:nvPr/>
          </p:nvGrpSpPr>
          <p:grpSpPr>
            <a:xfrm>
              <a:off x="190500" y="228600"/>
              <a:ext cx="342900" cy="228600"/>
              <a:chOff x="0" y="0"/>
              <a:chExt cx="342900" cy="228600"/>
            </a:xfrm>
          </p:grpSpPr>
          <p:sp>
            <p:nvSpPr>
              <p:cNvPr id="227" name="Google Shape;227;p18"/>
              <p:cNvSpPr/>
              <p:nvPr/>
            </p:nvSpPr>
            <p:spPr>
              <a:xfrm>
                <a:off x="0" y="0"/>
                <a:ext cx="342900" cy="228600"/>
              </a:xfrm>
              <a:prstGeom prst="roundRect">
                <a:avLst>
                  <a:gd fmla="val 25000" name="adj"/>
                </a:avLst>
              </a:prstGeom>
              <a:solidFill>
                <a:srgbClr val="E0E7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8" name="Google Shape;228;p18"/>
              <p:cNvSpPr txBox="1"/>
              <p:nvPr/>
            </p:nvSpPr>
            <p:spPr>
              <a:xfrm>
                <a:off x="0" y="0"/>
                <a:ext cx="3429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4F46E5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03</a:t>
                </a:r>
                <a:endParaRPr b="1" sz="1000">
                  <a:solidFill>
                    <a:srgbClr val="4F46E5"/>
                  </a:solidFill>
                  <a:latin typeface="Roboto Mono"/>
                  <a:ea typeface="Roboto Mono"/>
                  <a:cs typeface="Roboto Mono"/>
                  <a:sym typeface="Roboto Mono"/>
                </a:endParaRPr>
              </a:p>
            </p:txBody>
          </p:sp>
        </p:grpSp>
        <p:sp>
          <p:nvSpPr>
            <p:cNvPr id="229" name="Google Shape;229;p18"/>
            <p:cNvSpPr txBox="1"/>
            <p:nvPr/>
          </p:nvSpPr>
          <p:spPr>
            <a:xfrm>
              <a:off x="190500" y="609600"/>
              <a:ext cx="2247900" cy="22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500">
                  <a:solidFill>
                    <a:srgbClr val="0A192F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Benchmark Hygiene</a:t>
              </a:r>
              <a:endParaRPr b="0" sz="1500">
                <a:solidFill>
                  <a:srgbClr val="0A192F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4F46E5"/>
                  </a:solidFill>
                  <a:latin typeface="Inter"/>
                  <a:ea typeface="Inter"/>
                  <a:cs typeface="Inter"/>
                  <a:sym typeface="Inter"/>
                </a:rPr>
                <a:t>Goal:</a:t>
              </a:r>
              <a:r>
                <a:rPr b="0" lang="en" sz="10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Completely remove all port and IP shortcuts so the AI learns real attack behavior.</a:t>
              </a:r>
              <a:r>
                <a:rPr b="1" lang="en" sz="10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[18]</a:t>
              </a:r>
              <a:endParaRPr b="1" sz="10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Enforce strict partitioning and class balancing.</a:t>
              </a:r>
              <a:r>
                <a:rPr b="1" lang="en" sz="10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[15]</a:t>
              </a:r>
              <a:endParaRPr b="1" sz="10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230" name="Google Shape;230;p18"/>
          <p:cNvSpPr txBox="1"/>
          <p:nvPr/>
        </p:nvSpPr>
        <p:spPr>
          <a:xfrm>
            <a:off x="8371425" y="4776393"/>
            <a:ext cx="391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64748B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04</a:t>
            </a:r>
            <a:endParaRPr sz="1200">
              <a:solidFill>
                <a:srgbClr val="64748B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" name="Google Shape;235;p19"/>
          <p:cNvPicPr preferRelativeResize="0"/>
          <p:nvPr/>
        </p:nvPicPr>
        <p:blipFill rotWithShape="1">
          <a:blip r:embed="rId3">
            <a:alphaModFix amt="40000"/>
          </a:blip>
          <a:srcRect b="0" l="387" r="387" t="0"/>
          <a:stretch/>
        </p:blipFill>
        <p:spPr>
          <a:xfrm flipH="1">
            <a:off x="0" y="0"/>
            <a:ext cx="9144000" cy="51435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pic>
      <p:grpSp>
        <p:nvGrpSpPr>
          <p:cNvPr id="236" name="Google Shape;236;p19"/>
          <p:cNvGrpSpPr/>
          <p:nvPr/>
        </p:nvGrpSpPr>
        <p:grpSpPr>
          <a:xfrm>
            <a:off x="381000" y="190500"/>
            <a:ext cx="8381925" cy="571500"/>
            <a:chOff x="0" y="-47625"/>
            <a:chExt cx="8381925" cy="571500"/>
          </a:xfrm>
        </p:grpSpPr>
        <p:sp>
          <p:nvSpPr>
            <p:cNvPr id="237" name="Google Shape;237;p19"/>
            <p:cNvSpPr/>
            <p:nvPr/>
          </p:nvSpPr>
          <p:spPr>
            <a:xfrm>
              <a:off x="0" y="0"/>
              <a:ext cx="285900" cy="190500"/>
            </a:xfrm>
            <a:custGeom>
              <a:rect b="b" l="l" r="r" t="t"/>
              <a:pathLst>
                <a:path extrusionOk="0" h="120000" w="120000">
                  <a:moveTo>
                    <a:pt x="40000" y="0"/>
                  </a:moveTo>
                  <a:lnTo>
                    <a:pt x="120000" y="0"/>
                  </a:lnTo>
                  <a:lnTo>
                    <a:pt x="8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06B6D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" name="Google Shape;238;p19"/>
            <p:cNvSpPr/>
            <p:nvPr/>
          </p:nvSpPr>
          <p:spPr>
            <a:xfrm>
              <a:off x="238125" y="0"/>
              <a:ext cx="142800" cy="190500"/>
            </a:xfrm>
            <a:custGeom>
              <a:rect b="b" l="l" r="r" t="t"/>
              <a:pathLst>
                <a:path extrusionOk="0" h="120000" w="120000">
                  <a:moveTo>
                    <a:pt x="80000" y="0"/>
                  </a:moveTo>
                  <a:lnTo>
                    <a:pt x="120000" y="0"/>
                  </a:lnTo>
                  <a:lnTo>
                    <a:pt x="4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p19"/>
            <p:cNvSpPr txBox="1"/>
            <p:nvPr/>
          </p:nvSpPr>
          <p:spPr>
            <a:xfrm>
              <a:off x="428625" y="-47625"/>
              <a:ext cx="7953300" cy="571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2200">
                  <a:solidFill>
                    <a:srgbClr val="0A192F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Literature Review</a:t>
              </a:r>
              <a:endParaRPr b="0" sz="2200">
                <a:solidFill>
                  <a:srgbClr val="0A192F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Published defense paradigms, benchmark methods, and operational trade-offs.</a:t>
              </a:r>
              <a:endParaRPr b="0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240" name="Google Shape;240;p19"/>
          <p:cNvSpPr/>
          <p:nvPr/>
        </p:nvSpPr>
        <p:spPr>
          <a:xfrm>
            <a:off x="381000" y="904875"/>
            <a:ext cx="8382000" cy="285900"/>
          </a:xfrm>
          <a:prstGeom prst="roundRect">
            <a:avLst>
              <a:gd fmla="val 20000" name="adj"/>
            </a:avLst>
          </a:prstGeom>
          <a:solidFill>
            <a:srgbClr val="0A192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9"/>
          <p:cNvSpPr txBox="1"/>
          <p:nvPr/>
        </p:nvSpPr>
        <p:spPr>
          <a:xfrm>
            <a:off x="381000" y="904875"/>
            <a:ext cx="5715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50">
                <a:solidFill>
                  <a:srgbClr val="EEEEEE"/>
                </a:solidFill>
                <a:latin typeface="Inter"/>
                <a:ea typeface="Inter"/>
                <a:cs typeface="Inter"/>
                <a:sym typeface="Inter"/>
              </a:rPr>
              <a:t>REF</a:t>
            </a:r>
            <a:endParaRPr b="1" sz="850">
              <a:solidFill>
                <a:srgbClr val="EEEEEE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2" name="Google Shape;242;p19"/>
          <p:cNvSpPr txBox="1"/>
          <p:nvPr/>
        </p:nvSpPr>
        <p:spPr>
          <a:xfrm>
            <a:off x="1095375" y="904875"/>
            <a:ext cx="19050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50">
                <a:solidFill>
                  <a:srgbClr val="EEEEEE"/>
                </a:solidFill>
                <a:latin typeface="Inter"/>
                <a:ea typeface="Inter"/>
                <a:cs typeface="Inter"/>
                <a:sym typeface="Inter"/>
              </a:rPr>
              <a:t>PUBLISHED METHOD</a:t>
            </a:r>
            <a:endParaRPr b="1" sz="850">
              <a:solidFill>
                <a:srgbClr val="EEEEEE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3" name="Google Shape;243;p19"/>
          <p:cNvSpPr txBox="1"/>
          <p:nvPr/>
        </p:nvSpPr>
        <p:spPr>
          <a:xfrm>
            <a:off x="3095625" y="904875"/>
            <a:ext cx="18096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50">
                <a:solidFill>
                  <a:srgbClr val="EEEEEE"/>
                </a:solidFill>
                <a:latin typeface="Inter"/>
                <a:ea typeface="Inter"/>
                <a:cs typeface="Inter"/>
                <a:sym typeface="Inter"/>
              </a:rPr>
              <a:t>DEFENSE PARADIGM</a:t>
            </a:r>
            <a:endParaRPr b="1" sz="850">
              <a:solidFill>
                <a:srgbClr val="EEEEEE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4" name="Google Shape;244;p19"/>
          <p:cNvSpPr txBox="1"/>
          <p:nvPr/>
        </p:nvSpPr>
        <p:spPr>
          <a:xfrm>
            <a:off x="5000625" y="904875"/>
            <a:ext cx="12384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50">
                <a:solidFill>
                  <a:srgbClr val="EEEEEE"/>
                </a:solidFill>
                <a:latin typeface="Inter"/>
                <a:ea typeface="Inter"/>
                <a:cs typeface="Inter"/>
                <a:sym typeface="Inter"/>
              </a:rPr>
              <a:t>BENCHMARK RESULT</a:t>
            </a:r>
            <a:endParaRPr b="1" sz="850">
              <a:solidFill>
                <a:srgbClr val="EEEEEE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5" name="Google Shape;245;p19"/>
          <p:cNvSpPr txBox="1"/>
          <p:nvPr/>
        </p:nvSpPr>
        <p:spPr>
          <a:xfrm>
            <a:off x="6334125" y="904875"/>
            <a:ext cx="24288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50">
                <a:solidFill>
                  <a:srgbClr val="EEEEEE"/>
                </a:solidFill>
                <a:latin typeface="Inter"/>
                <a:ea typeface="Inter"/>
                <a:cs typeface="Inter"/>
                <a:sym typeface="Inter"/>
              </a:rPr>
              <a:t>CRITICAL BOTTLENECK</a:t>
            </a:r>
            <a:endParaRPr b="1" sz="850">
              <a:solidFill>
                <a:srgbClr val="EEEEEE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246" name="Google Shape;246;p19"/>
          <p:cNvGrpSpPr/>
          <p:nvPr/>
        </p:nvGrpSpPr>
        <p:grpSpPr>
          <a:xfrm>
            <a:off x="381000" y="1266825"/>
            <a:ext cx="8382000" cy="457200"/>
            <a:chOff x="0" y="0"/>
            <a:chExt cx="8382000" cy="457200"/>
          </a:xfrm>
        </p:grpSpPr>
        <p:sp>
          <p:nvSpPr>
            <p:cNvPr id="247" name="Google Shape;247;p19"/>
            <p:cNvSpPr/>
            <p:nvPr/>
          </p:nvSpPr>
          <p:spPr>
            <a:xfrm>
              <a:off x="0" y="0"/>
              <a:ext cx="8382000" cy="457200"/>
            </a:xfrm>
            <a:prstGeom prst="roundRect">
              <a:avLst>
                <a:gd fmla="val 125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19"/>
            <p:cNvSpPr/>
            <p:nvPr/>
          </p:nvSpPr>
          <p:spPr>
            <a:xfrm>
              <a:off x="0" y="0"/>
              <a:ext cx="38100" cy="457200"/>
            </a:xfrm>
            <a:prstGeom prst="roundRect">
              <a:avLst>
                <a:gd fmla="val 50000" name="adj"/>
              </a:avLst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19"/>
            <p:cNvSpPr txBox="1"/>
            <p:nvPr/>
          </p:nvSpPr>
          <p:spPr>
            <a:xfrm>
              <a:off x="0" y="0"/>
              <a:ext cx="571500" cy="457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50">
                  <a:solidFill>
                    <a:srgbClr val="0A192F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[1]</a:t>
              </a:r>
              <a:endParaRPr b="1" sz="950">
                <a:solidFill>
                  <a:srgbClr val="0A192F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250" name="Google Shape;250;p19"/>
            <p:cNvSpPr txBox="1"/>
            <p:nvPr/>
          </p:nvSpPr>
          <p:spPr>
            <a:xfrm>
              <a:off x="714375" y="0"/>
              <a:ext cx="1905000" cy="457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50">
                  <a:solidFill>
                    <a:srgbClr val="0A192F"/>
                  </a:solidFill>
                  <a:latin typeface="Inter"/>
                  <a:ea typeface="Inter"/>
                  <a:cs typeface="Inter"/>
                  <a:sym typeface="Inter"/>
                </a:rPr>
                <a:t>Static Triad Augmentation</a:t>
              </a:r>
              <a:endParaRPr b="1" sz="950">
                <a:solidFill>
                  <a:srgbClr val="0A192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51" name="Google Shape;251;p19"/>
            <p:cNvSpPr txBox="1"/>
            <p:nvPr/>
          </p:nvSpPr>
          <p:spPr>
            <a:xfrm>
              <a:off x="2714625" y="0"/>
              <a:ext cx="1809600" cy="457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Offline Static Augmentation</a:t>
              </a:r>
              <a:endParaRPr b="0" sz="9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52" name="Google Shape;252;p19"/>
            <p:cNvSpPr txBox="1"/>
            <p:nvPr/>
          </p:nvSpPr>
          <p:spPr>
            <a:xfrm>
              <a:off x="4619625" y="0"/>
              <a:ext cx="1238400" cy="457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50">
                  <a:solidFill>
                    <a:srgbClr val="2563EB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88.0% Defended</a:t>
              </a:r>
              <a:endParaRPr b="1" sz="950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253" name="Google Shape;253;p19"/>
            <p:cNvSpPr txBox="1"/>
            <p:nvPr/>
          </p:nvSpPr>
          <p:spPr>
            <a:xfrm>
              <a:off x="5953125" y="0"/>
              <a:ext cx="2333700" cy="457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DC2626"/>
                  </a:solidFill>
                  <a:latin typeface="Inter"/>
                  <a:ea typeface="Inter"/>
                  <a:cs typeface="Inter"/>
                  <a:sym typeface="Inter"/>
                </a:rPr>
                <a:t>Offline attack staleness;</a:t>
              </a:r>
              <a:r>
                <a:rPr b="0" lang="en" sz="9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retained port shortcuts</a:t>
              </a:r>
              <a:endParaRPr b="0" sz="9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54" name="Google Shape;254;p19"/>
          <p:cNvGrpSpPr/>
          <p:nvPr/>
        </p:nvGrpSpPr>
        <p:grpSpPr>
          <a:xfrm>
            <a:off x="381000" y="1790700"/>
            <a:ext cx="8382000" cy="457200"/>
            <a:chOff x="0" y="0"/>
            <a:chExt cx="8382000" cy="457200"/>
          </a:xfrm>
        </p:grpSpPr>
        <p:sp>
          <p:nvSpPr>
            <p:cNvPr id="255" name="Google Shape;255;p19"/>
            <p:cNvSpPr/>
            <p:nvPr/>
          </p:nvSpPr>
          <p:spPr>
            <a:xfrm>
              <a:off x="0" y="0"/>
              <a:ext cx="8382000" cy="457200"/>
            </a:xfrm>
            <a:prstGeom prst="roundRect">
              <a:avLst>
                <a:gd fmla="val 12500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" name="Google Shape;256;p19"/>
            <p:cNvSpPr/>
            <p:nvPr/>
          </p:nvSpPr>
          <p:spPr>
            <a:xfrm>
              <a:off x="0" y="0"/>
              <a:ext cx="38100" cy="457200"/>
            </a:xfrm>
            <a:prstGeom prst="roundRect">
              <a:avLst>
                <a:gd fmla="val 50000" name="adj"/>
              </a:avLst>
            </a:prstGeom>
            <a:solidFill>
              <a:srgbClr val="06B6D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" name="Google Shape;257;p19"/>
            <p:cNvSpPr txBox="1"/>
            <p:nvPr/>
          </p:nvSpPr>
          <p:spPr>
            <a:xfrm>
              <a:off x="0" y="0"/>
              <a:ext cx="571500" cy="457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50">
                  <a:solidFill>
                    <a:srgbClr val="0A192F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[2]</a:t>
              </a:r>
              <a:endParaRPr b="1" sz="950">
                <a:solidFill>
                  <a:srgbClr val="0A192F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258" name="Google Shape;258;p19"/>
            <p:cNvSpPr txBox="1"/>
            <p:nvPr/>
          </p:nvSpPr>
          <p:spPr>
            <a:xfrm>
              <a:off x="714375" y="0"/>
              <a:ext cx="1905000" cy="457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50">
                  <a:solidFill>
                    <a:srgbClr val="0A192F"/>
                  </a:solidFill>
                  <a:latin typeface="Inter"/>
                  <a:ea typeface="Inter"/>
                  <a:cs typeface="Inter"/>
                  <a:sym typeface="Inter"/>
                </a:rPr>
                <a:t>AMDS (Adaptive Multi-Stage)</a:t>
              </a:r>
              <a:endParaRPr b="1" sz="950">
                <a:solidFill>
                  <a:srgbClr val="0A192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59" name="Google Shape;259;p19"/>
            <p:cNvSpPr txBox="1"/>
            <p:nvPr/>
          </p:nvSpPr>
          <p:spPr>
            <a:xfrm>
              <a:off x="2714625" y="0"/>
              <a:ext cx="1809600" cy="457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Dynamic Minimax PGD Hardening</a:t>
              </a:r>
              <a:endParaRPr b="0" sz="9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60" name="Google Shape;260;p19"/>
            <p:cNvSpPr txBox="1"/>
            <p:nvPr/>
          </p:nvSpPr>
          <p:spPr>
            <a:xfrm>
              <a:off x="4619625" y="0"/>
              <a:ext cx="1238400" cy="457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50">
                  <a:solidFill>
                    <a:srgbClr val="2563EB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89.4% PGD₂₀</a:t>
              </a:r>
              <a:endParaRPr b="1" sz="950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261" name="Google Shape;261;p19"/>
            <p:cNvSpPr txBox="1"/>
            <p:nvPr/>
          </p:nvSpPr>
          <p:spPr>
            <a:xfrm>
              <a:off x="5953125" y="0"/>
              <a:ext cx="2333700" cy="457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DC2626"/>
                  </a:solidFill>
                  <a:latin typeface="Inter"/>
                  <a:ea typeface="Inter"/>
                  <a:cs typeface="Inter"/>
                  <a:sym typeface="Inter"/>
                </a:rPr>
                <a:t>2.1% clean drop;</a:t>
              </a:r>
              <a:r>
                <a:rPr b="0" lang="en" sz="9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unpruned 78-dim overhead (+140% GPU)</a:t>
              </a:r>
              <a:endParaRPr b="0" sz="9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62" name="Google Shape;262;p19"/>
          <p:cNvGrpSpPr/>
          <p:nvPr/>
        </p:nvGrpSpPr>
        <p:grpSpPr>
          <a:xfrm>
            <a:off x="381000" y="2314575"/>
            <a:ext cx="8382000" cy="457200"/>
            <a:chOff x="0" y="0"/>
            <a:chExt cx="8382000" cy="457200"/>
          </a:xfrm>
        </p:grpSpPr>
        <p:sp>
          <p:nvSpPr>
            <p:cNvPr id="263" name="Google Shape;263;p19"/>
            <p:cNvSpPr/>
            <p:nvPr/>
          </p:nvSpPr>
          <p:spPr>
            <a:xfrm>
              <a:off x="0" y="0"/>
              <a:ext cx="8382000" cy="457200"/>
            </a:xfrm>
            <a:prstGeom prst="roundRect">
              <a:avLst>
                <a:gd fmla="val 125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" name="Google Shape;264;p19"/>
            <p:cNvSpPr/>
            <p:nvPr/>
          </p:nvSpPr>
          <p:spPr>
            <a:xfrm>
              <a:off x="0" y="0"/>
              <a:ext cx="38100" cy="457200"/>
            </a:xfrm>
            <a:prstGeom prst="roundRect">
              <a:avLst>
                <a:gd fmla="val 50000" name="adj"/>
              </a:avLst>
            </a:prstGeom>
            <a:solidFill>
              <a:srgbClr val="3B82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" name="Google Shape;265;p19"/>
            <p:cNvSpPr txBox="1"/>
            <p:nvPr/>
          </p:nvSpPr>
          <p:spPr>
            <a:xfrm>
              <a:off x="0" y="0"/>
              <a:ext cx="571500" cy="457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50">
                  <a:solidFill>
                    <a:srgbClr val="0A192F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[3]</a:t>
              </a:r>
              <a:endParaRPr b="1" sz="950">
                <a:solidFill>
                  <a:srgbClr val="0A192F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266" name="Google Shape;266;p19"/>
            <p:cNvSpPr txBox="1"/>
            <p:nvPr/>
          </p:nvSpPr>
          <p:spPr>
            <a:xfrm>
              <a:off x="714375" y="0"/>
              <a:ext cx="1905000" cy="457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50">
                  <a:solidFill>
                    <a:srgbClr val="0A192F"/>
                  </a:solidFill>
                  <a:latin typeface="Inter"/>
                  <a:ea typeface="Inter"/>
                  <a:cs typeface="Inter"/>
                  <a:sym typeface="Inter"/>
                </a:rPr>
                <a:t>XAI-Centroid Gate</a:t>
              </a:r>
              <a:endParaRPr b="1" sz="950">
                <a:solidFill>
                  <a:srgbClr val="0A192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67" name="Google Shape;267;p19"/>
            <p:cNvSpPr txBox="1"/>
            <p:nvPr/>
          </p:nvSpPr>
          <p:spPr>
            <a:xfrm>
              <a:off x="2714625" y="0"/>
              <a:ext cx="1809600" cy="457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Runtime Attribution (SHAP)</a:t>
              </a:r>
              <a:endParaRPr b="0" sz="9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68" name="Google Shape;268;p19"/>
            <p:cNvSpPr txBox="1"/>
            <p:nvPr/>
          </p:nvSpPr>
          <p:spPr>
            <a:xfrm>
              <a:off x="4619625" y="0"/>
              <a:ext cx="1238400" cy="457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50">
                  <a:solidFill>
                    <a:srgbClr val="2563EB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88.5% Detection</a:t>
              </a:r>
              <a:endParaRPr b="1" sz="950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269" name="Google Shape;269;p19"/>
            <p:cNvSpPr txBox="1"/>
            <p:nvPr/>
          </p:nvSpPr>
          <p:spPr>
            <a:xfrm>
              <a:off x="5953125" y="0"/>
              <a:ext cx="2333700" cy="457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DC2626"/>
                  </a:solidFill>
                  <a:latin typeface="Inter"/>
                  <a:ea typeface="Inter"/>
                  <a:cs typeface="Inter"/>
                  <a:sym typeface="Inter"/>
                </a:rPr>
                <a:t>Severe latency (85–220 ms);</a:t>
              </a:r>
              <a:r>
                <a:rPr b="0" lang="en" sz="9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violates line-rate</a:t>
              </a:r>
              <a:endParaRPr b="0" sz="9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70" name="Google Shape;270;p19"/>
          <p:cNvGrpSpPr/>
          <p:nvPr/>
        </p:nvGrpSpPr>
        <p:grpSpPr>
          <a:xfrm>
            <a:off x="381000" y="2838450"/>
            <a:ext cx="8382000" cy="457200"/>
            <a:chOff x="0" y="0"/>
            <a:chExt cx="8382000" cy="457200"/>
          </a:xfrm>
        </p:grpSpPr>
        <p:sp>
          <p:nvSpPr>
            <p:cNvPr id="271" name="Google Shape;271;p19"/>
            <p:cNvSpPr/>
            <p:nvPr/>
          </p:nvSpPr>
          <p:spPr>
            <a:xfrm>
              <a:off x="0" y="0"/>
              <a:ext cx="8382000" cy="457200"/>
            </a:xfrm>
            <a:prstGeom prst="roundRect">
              <a:avLst>
                <a:gd fmla="val 12500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" name="Google Shape;272;p19"/>
            <p:cNvSpPr/>
            <p:nvPr/>
          </p:nvSpPr>
          <p:spPr>
            <a:xfrm>
              <a:off x="0" y="0"/>
              <a:ext cx="38100" cy="457200"/>
            </a:xfrm>
            <a:prstGeom prst="roundRect">
              <a:avLst>
                <a:gd fmla="val 50000" name="adj"/>
              </a:avLst>
            </a:prstGeom>
            <a:solidFill>
              <a:srgbClr val="06B6D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" name="Google Shape;273;p19"/>
            <p:cNvSpPr txBox="1"/>
            <p:nvPr/>
          </p:nvSpPr>
          <p:spPr>
            <a:xfrm>
              <a:off x="0" y="0"/>
              <a:ext cx="571500" cy="457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50">
                  <a:solidFill>
                    <a:srgbClr val="0A192F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[4]</a:t>
              </a:r>
              <a:endParaRPr b="1" sz="950">
                <a:solidFill>
                  <a:srgbClr val="0A192F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274" name="Google Shape;274;p19"/>
            <p:cNvSpPr txBox="1"/>
            <p:nvPr/>
          </p:nvSpPr>
          <p:spPr>
            <a:xfrm>
              <a:off x="714375" y="0"/>
              <a:ext cx="1905000" cy="457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50">
                  <a:solidFill>
                    <a:srgbClr val="0A192F"/>
                  </a:solidFill>
                  <a:latin typeface="Inter"/>
                  <a:ea typeface="Inter"/>
                  <a:cs typeface="Inter"/>
                  <a:sym typeface="Inter"/>
                </a:rPr>
                <a:t>CSAGC-IDS</a:t>
              </a:r>
              <a:endParaRPr b="1" sz="950">
                <a:solidFill>
                  <a:srgbClr val="0A192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75" name="Google Shape;275;p19"/>
            <p:cNvSpPr txBox="1"/>
            <p:nvPr/>
          </p:nvSpPr>
          <p:spPr>
            <a:xfrm>
              <a:off x="2714625" y="0"/>
              <a:ext cx="1809600" cy="457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Channel-Spatial Graph Attention</a:t>
              </a:r>
              <a:endParaRPr b="0" sz="9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76" name="Google Shape;276;p19"/>
            <p:cNvSpPr txBox="1"/>
            <p:nvPr/>
          </p:nvSpPr>
          <p:spPr>
            <a:xfrm>
              <a:off x="4619625" y="0"/>
              <a:ext cx="1238400" cy="457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50">
                  <a:solidFill>
                    <a:srgbClr val="2563EB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76.2% Robust</a:t>
              </a:r>
              <a:endParaRPr b="1" sz="950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277" name="Google Shape;277;p19"/>
            <p:cNvSpPr txBox="1"/>
            <p:nvPr/>
          </p:nvSpPr>
          <p:spPr>
            <a:xfrm>
              <a:off x="5953125" y="0"/>
              <a:ext cx="2333700" cy="457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DC2626"/>
                  </a:solidFill>
                  <a:latin typeface="Inter"/>
                  <a:ea typeface="Inter"/>
                  <a:cs typeface="Inter"/>
                  <a:sym typeface="Inter"/>
                </a:rPr>
                <a:t>Buffering delay (&gt;2.4 ms);</a:t>
              </a:r>
              <a:r>
                <a:rPr b="0" lang="en" sz="9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graph topology spoofing</a:t>
              </a:r>
              <a:endParaRPr b="0" sz="9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78" name="Google Shape;278;p19"/>
          <p:cNvGrpSpPr/>
          <p:nvPr/>
        </p:nvGrpSpPr>
        <p:grpSpPr>
          <a:xfrm>
            <a:off x="381000" y="3362325"/>
            <a:ext cx="8382000" cy="457200"/>
            <a:chOff x="0" y="0"/>
            <a:chExt cx="8382000" cy="457200"/>
          </a:xfrm>
        </p:grpSpPr>
        <p:sp>
          <p:nvSpPr>
            <p:cNvPr id="279" name="Google Shape;279;p19"/>
            <p:cNvSpPr/>
            <p:nvPr/>
          </p:nvSpPr>
          <p:spPr>
            <a:xfrm>
              <a:off x="0" y="0"/>
              <a:ext cx="8382000" cy="457200"/>
            </a:xfrm>
            <a:prstGeom prst="roundRect">
              <a:avLst>
                <a:gd fmla="val 125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" name="Google Shape;280;p19"/>
            <p:cNvSpPr/>
            <p:nvPr/>
          </p:nvSpPr>
          <p:spPr>
            <a:xfrm>
              <a:off x="0" y="0"/>
              <a:ext cx="38100" cy="457200"/>
            </a:xfrm>
            <a:prstGeom prst="roundRect">
              <a:avLst>
                <a:gd fmla="val 50000" name="adj"/>
              </a:avLst>
            </a:prstGeom>
            <a:solidFill>
              <a:srgbClr val="4F46E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" name="Google Shape;281;p19"/>
            <p:cNvSpPr txBox="1"/>
            <p:nvPr/>
          </p:nvSpPr>
          <p:spPr>
            <a:xfrm>
              <a:off x="0" y="0"/>
              <a:ext cx="571500" cy="457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50">
                  <a:solidFill>
                    <a:srgbClr val="0A192F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[5]</a:t>
              </a:r>
              <a:endParaRPr b="1" sz="950">
                <a:solidFill>
                  <a:srgbClr val="0A192F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282" name="Google Shape;282;p19"/>
            <p:cNvSpPr txBox="1"/>
            <p:nvPr/>
          </p:nvSpPr>
          <p:spPr>
            <a:xfrm>
              <a:off x="714375" y="0"/>
              <a:ext cx="1905000" cy="457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50">
                  <a:solidFill>
                    <a:srgbClr val="0A192F"/>
                  </a:solidFill>
                  <a:latin typeface="Inter"/>
                  <a:ea typeface="Inter"/>
                  <a:cs typeface="Inter"/>
                  <a:sym typeface="Inter"/>
                </a:rPr>
                <a:t>Randomized Smoothing</a:t>
              </a:r>
              <a:endParaRPr b="1" sz="950">
                <a:solidFill>
                  <a:srgbClr val="0A192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83" name="Google Shape;283;p19"/>
            <p:cNvSpPr txBox="1"/>
            <p:nvPr/>
          </p:nvSpPr>
          <p:spPr>
            <a:xfrm>
              <a:off x="2714625" y="0"/>
              <a:ext cx="1809600" cy="457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Certified Provable L₂ Radius</a:t>
              </a:r>
              <a:endParaRPr b="0" sz="9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84" name="Google Shape;284;p19"/>
            <p:cNvSpPr txBox="1"/>
            <p:nvPr/>
          </p:nvSpPr>
          <p:spPr>
            <a:xfrm>
              <a:off x="4619625" y="0"/>
              <a:ext cx="1238400" cy="457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4F46E5"/>
                  </a:solidFill>
                  <a:highlight>
                    <a:srgbClr val="E0E7FF"/>
                  </a:highlight>
                  <a:latin typeface="Inter"/>
                  <a:ea typeface="Inter"/>
                  <a:cs typeface="Inter"/>
                  <a:sym typeface="Inter"/>
                </a:rPr>
                <a:t>Provable Limit</a:t>
              </a:r>
              <a:endParaRPr b="1" sz="900">
                <a:solidFill>
                  <a:srgbClr val="4F46E5"/>
                </a:solidFill>
                <a:highlight>
                  <a:srgbClr val="E0E7FF"/>
                </a:highlight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85" name="Google Shape;285;p19"/>
            <p:cNvSpPr txBox="1"/>
            <p:nvPr/>
          </p:nvSpPr>
          <p:spPr>
            <a:xfrm>
              <a:off x="5953125" y="0"/>
              <a:ext cx="2333700" cy="457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DC2626"/>
                  </a:solidFill>
                  <a:latin typeface="Inter"/>
                  <a:ea typeface="Inter"/>
                  <a:cs typeface="Inter"/>
                  <a:sym typeface="Inter"/>
                </a:rPr>
                <a:t>Clean accuracy crash:</a:t>
              </a:r>
              <a:r>
                <a:rPr b="0" lang="en" sz="9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94.5% → 76.2% (-18.3%)</a:t>
              </a:r>
              <a:endParaRPr b="0" sz="9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86" name="Google Shape;286;p19"/>
          <p:cNvGrpSpPr/>
          <p:nvPr/>
        </p:nvGrpSpPr>
        <p:grpSpPr>
          <a:xfrm>
            <a:off x="381000" y="4019550"/>
            <a:ext cx="8382000" cy="495300"/>
            <a:chOff x="0" y="0"/>
            <a:chExt cx="8382000" cy="495300"/>
          </a:xfrm>
        </p:grpSpPr>
        <p:sp>
          <p:nvSpPr>
            <p:cNvPr id="287" name="Google Shape;287;p19"/>
            <p:cNvSpPr/>
            <p:nvPr/>
          </p:nvSpPr>
          <p:spPr>
            <a:xfrm>
              <a:off x="0" y="0"/>
              <a:ext cx="8382000" cy="495300"/>
            </a:xfrm>
            <a:prstGeom prst="roundRect">
              <a:avLst>
                <a:gd fmla="val 15384" name="adj"/>
              </a:avLst>
            </a:prstGeom>
            <a:solidFill>
              <a:srgbClr val="EFF6FF"/>
            </a:solidFill>
            <a:ln cap="flat" cmpd="sng" w="14300">
              <a:solidFill>
                <a:srgbClr val="3B82F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" name="Google Shape;288;p19"/>
            <p:cNvSpPr/>
            <p:nvPr/>
          </p:nvSpPr>
          <p:spPr>
            <a:xfrm>
              <a:off x="0" y="0"/>
              <a:ext cx="57300" cy="495300"/>
            </a:xfrm>
            <a:prstGeom prst="roundRect">
              <a:avLst>
                <a:gd fmla="val 50000" name="adj"/>
              </a:avLst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" name="Google Shape;289;p19"/>
            <p:cNvSpPr txBox="1"/>
            <p:nvPr/>
          </p:nvSpPr>
          <p:spPr>
            <a:xfrm>
              <a:off x="190500" y="0"/>
              <a:ext cx="1571700" cy="4953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1E40AF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Key Literature Finding</a:t>
              </a:r>
              <a:endParaRPr b="0" sz="1050">
                <a:solidFill>
                  <a:srgbClr val="1E40AF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  <p:sp>
          <p:nvSpPr>
            <p:cNvPr id="290" name="Google Shape;290;p19"/>
            <p:cNvSpPr txBox="1"/>
            <p:nvPr/>
          </p:nvSpPr>
          <p:spPr>
            <a:xfrm>
              <a:off x="1857375" y="0"/>
              <a:ext cx="6334200" cy="4953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1E3A8A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Existing defenses force an unresolved trade-off: offline methods suffer attack staleness, runtime defenses violate line-rate throughput, and certified methods severely penalize clean traffic.</a:t>
              </a:r>
              <a:endParaRPr b="0" sz="950">
                <a:solidFill>
                  <a:srgbClr val="1E3A8A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sp>
        <p:nvSpPr>
          <p:cNvPr id="291" name="Google Shape;291;p19"/>
          <p:cNvSpPr txBox="1"/>
          <p:nvPr/>
        </p:nvSpPr>
        <p:spPr>
          <a:xfrm>
            <a:off x="8371425" y="4776393"/>
            <a:ext cx="391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64748B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05</a:t>
            </a:r>
            <a:endParaRPr sz="1200">
              <a:solidFill>
                <a:srgbClr val="64748B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" name="Google Shape;296;p20"/>
          <p:cNvPicPr preferRelativeResize="0"/>
          <p:nvPr/>
        </p:nvPicPr>
        <p:blipFill rotWithShape="1">
          <a:blip r:embed="rId3">
            <a:alphaModFix amt="40000"/>
          </a:blip>
          <a:srcRect b="0" l="0" r="0" t="0"/>
          <a:stretch/>
        </p:blipFill>
        <p:spPr>
          <a:xfrm>
            <a:off x="-35662" y="0"/>
            <a:ext cx="92154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7" name="Google Shape;297;p20"/>
          <p:cNvGrpSpPr/>
          <p:nvPr/>
        </p:nvGrpSpPr>
        <p:grpSpPr>
          <a:xfrm>
            <a:off x="381000" y="190500"/>
            <a:ext cx="8381925" cy="571500"/>
            <a:chOff x="0" y="-47625"/>
            <a:chExt cx="8381925" cy="571500"/>
          </a:xfrm>
        </p:grpSpPr>
        <p:sp>
          <p:nvSpPr>
            <p:cNvPr id="298" name="Google Shape;298;p20"/>
            <p:cNvSpPr/>
            <p:nvPr/>
          </p:nvSpPr>
          <p:spPr>
            <a:xfrm>
              <a:off x="0" y="0"/>
              <a:ext cx="285900" cy="190500"/>
            </a:xfrm>
            <a:custGeom>
              <a:rect b="b" l="l" r="r" t="t"/>
              <a:pathLst>
                <a:path extrusionOk="0" h="120000" w="120000">
                  <a:moveTo>
                    <a:pt x="40000" y="0"/>
                  </a:moveTo>
                  <a:lnTo>
                    <a:pt x="120000" y="0"/>
                  </a:lnTo>
                  <a:lnTo>
                    <a:pt x="8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06B6D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" name="Google Shape;299;p20"/>
            <p:cNvSpPr/>
            <p:nvPr/>
          </p:nvSpPr>
          <p:spPr>
            <a:xfrm>
              <a:off x="238125" y="0"/>
              <a:ext cx="142800" cy="190500"/>
            </a:xfrm>
            <a:custGeom>
              <a:rect b="b" l="l" r="r" t="t"/>
              <a:pathLst>
                <a:path extrusionOk="0" h="120000" w="120000">
                  <a:moveTo>
                    <a:pt x="80000" y="0"/>
                  </a:moveTo>
                  <a:lnTo>
                    <a:pt x="120000" y="0"/>
                  </a:lnTo>
                  <a:lnTo>
                    <a:pt x="4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" name="Google Shape;300;p20"/>
            <p:cNvSpPr txBox="1"/>
            <p:nvPr/>
          </p:nvSpPr>
          <p:spPr>
            <a:xfrm>
              <a:off x="428625" y="-47625"/>
              <a:ext cx="79533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2000">
                  <a:solidFill>
                    <a:srgbClr val="0A192F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Literature Review</a:t>
              </a:r>
              <a:endParaRPr b="0" sz="2000">
                <a:solidFill>
                  <a:srgbClr val="0A192F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Three structural vulnerabilities identified across existing NIDS defenses.</a:t>
              </a:r>
              <a:endParaRPr b="0" sz="10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01" name="Google Shape;301;p20"/>
          <p:cNvGrpSpPr/>
          <p:nvPr/>
        </p:nvGrpSpPr>
        <p:grpSpPr>
          <a:xfrm>
            <a:off x="381000" y="1333500"/>
            <a:ext cx="2628900" cy="3238500"/>
            <a:chOff x="0" y="0"/>
            <a:chExt cx="2628900" cy="3238500"/>
          </a:xfrm>
        </p:grpSpPr>
        <p:sp>
          <p:nvSpPr>
            <p:cNvPr id="302" name="Google Shape;302;p20"/>
            <p:cNvSpPr/>
            <p:nvPr/>
          </p:nvSpPr>
          <p:spPr>
            <a:xfrm>
              <a:off x="0" y="0"/>
              <a:ext cx="2628900" cy="3238500"/>
            </a:xfrm>
            <a:prstGeom prst="roundRect">
              <a:avLst>
                <a:gd fmla="val 4347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" name="Google Shape;303;p20"/>
            <p:cNvSpPr/>
            <p:nvPr/>
          </p:nvSpPr>
          <p:spPr>
            <a:xfrm>
              <a:off x="0" y="0"/>
              <a:ext cx="2628900" cy="57300"/>
            </a:xfrm>
            <a:prstGeom prst="roundRect">
              <a:avLst>
                <a:gd fmla="val 50000" name="adj"/>
              </a:avLst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" name="Google Shape;304;p20"/>
            <p:cNvSpPr/>
            <p:nvPr/>
          </p:nvSpPr>
          <p:spPr>
            <a:xfrm>
              <a:off x="190500" y="228600"/>
              <a:ext cx="342900" cy="228600"/>
            </a:xfrm>
            <a:prstGeom prst="roundRect">
              <a:avLst>
                <a:gd fmla="val 25000" name="adj"/>
              </a:avLst>
            </a:prstGeom>
            <a:solidFill>
              <a:srgbClr val="EFF6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p20"/>
            <p:cNvSpPr txBox="1"/>
            <p:nvPr/>
          </p:nvSpPr>
          <p:spPr>
            <a:xfrm>
              <a:off x="190500" y="228600"/>
              <a:ext cx="3429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2563EB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01</a:t>
              </a:r>
              <a:endParaRPr b="1" sz="1000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306" name="Google Shape;306;p20"/>
            <p:cNvSpPr txBox="1"/>
            <p:nvPr/>
          </p:nvSpPr>
          <p:spPr>
            <a:xfrm>
              <a:off x="190500" y="647700"/>
              <a:ext cx="2247900" cy="240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0A192F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Perturbation Staleness</a:t>
              </a:r>
              <a:endParaRPr b="0" sz="1300">
                <a:solidFill>
                  <a:srgbClr val="0A192F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64748B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Offline Augment. [1]</a:t>
              </a:r>
              <a:endParaRPr b="1" sz="900">
                <a:solidFill>
                  <a:srgbClr val="64748B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85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MECHANISM</a:t>
              </a:r>
              <a:endParaRPr b="1" sz="85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0" lang="en" sz="863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Defenses like Static Triad inject pre-computed static attack samples once before retraining.</a:t>
              </a:r>
              <a:endParaRPr b="0" sz="863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850">
                  <a:solidFill>
                    <a:srgbClr val="DC2626"/>
                  </a:solidFill>
                  <a:latin typeface="Inter"/>
                  <a:ea typeface="Inter"/>
                  <a:cs typeface="Inter"/>
                  <a:sym typeface="Inter"/>
                </a:rPr>
                <a:t>VULNERABILITY</a:t>
              </a:r>
              <a:endParaRPr b="1" sz="850">
                <a:solidFill>
                  <a:srgbClr val="DC2626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0" lang="en" sz="863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As neural weights evolve during training, the decision boundary shifts away from static samples, allowing dynamic adaptive attacks to easily evade the model </a:t>
              </a:r>
              <a:r>
                <a:rPr b="1" lang="en" sz="863">
                  <a:solidFill>
                    <a:srgbClr val="DC2626"/>
                  </a:solidFill>
                  <a:latin typeface="Inter"/>
                  <a:ea typeface="Inter"/>
                  <a:cs typeface="Inter"/>
                  <a:sym typeface="Inter"/>
                </a:rPr>
                <a:t>(16%–20% evasion rate)</a:t>
              </a:r>
              <a:r>
                <a:rPr b="0" lang="en" sz="863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.</a:t>
              </a:r>
              <a:endParaRPr b="0" sz="863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07" name="Google Shape;307;p20"/>
          <p:cNvGrpSpPr/>
          <p:nvPr/>
        </p:nvGrpSpPr>
        <p:grpSpPr>
          <a:xfrm>
            <a:off x="3257550" y="1333500"/>
            <a:ext cx="2628900" cy="3238500"/>
            <a:chOff x="0" y="0"/>
            <a:chExt cx="2628900" cy="3238500"/>
          </a:xfrm>
        </p:grpSpPr>
        <p:sp>
          <p:nvSpPr>
            <p:cNvPr id="308" name="Google Shape;308;p20"/>
            <p:cNvSpPr/>
            <p:nvPr/>
          </p:nvSpPr>
          <p:spPr>
            <a:xfrm>
              <a:off x="0" y="0"/>
              <a:ext cx="2628900" cy="3238500"/>
            </a:xfrm>
            <a:prstGeom prst="roundRect">
              <a:avLst>
                <a:gd fmla="val 4347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" name="Google Shape;309;p20"/>
            <p:cNvSpPr/>
            <p:nvPr/>
          </p:nvSpPr>
          <p:spPr>
            <a:xfrm>
              <a:off x="0" y="0"/>
              <a:ext cx="2628900" cy="57300"/>
            </a:xfrm>
            <a:prstGeom prst="roundRect">
              <a:avLst>
                <a:gd fmla="val 50000" name="adj"/>
              </a:avLst>
            </a:prstGeom>
            <a:solidFill>
              <a:srgbClr val="06B6D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" name="Google Shape;310;p20"/>
            <p:cNvSpPr/>
            <p:nvPr/>
          </p:nvSpPr>
          <p:spPr>
            <a:xfrm>
              <a:off x="190500" y="228600"/>
              <a:ext cx="342900" cy="228600"/>
            </a:xfrm>
            <a:prstGeom prst="roundRect">
              <a:avLst>
                <a:gd fmla="val 25000" name="adj"/>
              </a:avLst>
            </a:prstGeom>
            <a:solidFill>
              <a:srgbClr val="E0F2F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" name="Google Shape;311;p20"/>
            <p:cNvSpPr txBox="1"/>
            <p:nvPr/>
          </p:nvSpPr>
          <p:spPr>
            <a:xfrm>
              <a:off x="190500" y="228600"/>
              <a:ext cx="3429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06B6D4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02</a:t>
              </a:r>
              <a:endParaRPr b="1" sz="1000">
                <a:solidFill>
                  <a:srgbClr val="06B6D4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312" name="Google Shape;312;p20"/>
            <p:cNvSpPr txBox="1"/>
            <p:nvPr/>
          </p:nvSpPr>
          <p:spPr>
            <a:xfrm>
              <a:off x="190500" y="647700"/>
              <a:ext cx="2247900" cy="240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0A192F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Line-Rate Latency Barrier</a:t>
              </a:r>
              <a:endParaRPr b="0" sz="1300">
                <a:solidFill>
                  <a:srgbClr val="0A192F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64748B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Runtime Defense [3, 4]</a:t>
              </a:r>
              <a:endParaRPr b="1" sz="900">
                <a:solidFill>
                  <a:srgbClr val="64748B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850">
                  <a:solidFill>
                    <a:srgbClr val="06B6D4"/>
                  </a:solidFill>
                  <a:latin typeface="Inter"/>
                  <a:ea typeface="Inter"/>
                  <a:cs typeface="Inter"/>
                  <a:sym typeface="Inter"/>
                </a:rPr>
                <a:t>MECHANISM</a:t>
              </a:r>
              <a:endParaRPr b="1" sz="850">
                <a:solidFill>
                  <a:srgbClr val="06B6D4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0" lang="en" sz="863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Complex runtime verifications like real-time SHAP gates (85–220 ms) [3] and graph batch buffering (&gt;2.4 ms) [4] introduce heavy computational overhead.</a:t>
              </a:r>
              <a:endParaRPr b="0" sz="863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850">
                  <a:solidFill>
                    <a:srgbClr val="DC2626"/>
                  </a:solidFill>
                  <a:latin typeface="Inter"/>
                  <a:ea typeface="Inter"/>
                  <a:cs typeface="Inter"/>
                  <a:sym typeface="Inter"/>
                </a:rPr>
                <a:t>VULNERABILITY</a:t>
              </a:r>
              <a:endParaRPr b="1" sz="850">
                <a:solidFill>
                  <a:srgbClr val="DC2626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0" lang="en" sz="863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High-speed cloud switches operate on microsecond scales </a:t>
              </a:r>
              <a:r>
                <a:rPr b="1" lang="en" sz="863">
                  <a:solidFill>
                    <a:srgbClr val="DC2626"/>
                  </a:solidFill>
                  <a:latin typeface="Inter"/>
                  <a:ea typeface="Inter"/>
                  <a:cs typeface="Inter"/>
                  <a:sym typeface="Inter"/>
                </a:rPr>
                <a:t>(&lt;0.05 ms)</a:t>
              </a:r>
              <a:r>
                <a:rPr b="0" lang="en" sz="863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; multi-millisecond per-flow processing causes buffer overflow and packet drops.</a:t>
              </a:r>
              <a:endParaRPr b="0" sz="863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13" name="Google Shape;313;p20"/>
          <p:cNvGrpSpPr/>
          <p:nvPr/>
        </p:nvGrpSpPr>
        <p:grpSpPr>
          <a:xfrm>
            <a:off x="6134100" y="1333500"/>
            <a:ext cx="2628900" cy="3238500"/>
            <a:chOff x="0" y="0"/>
            <a:chExt cx="2628900" cy="3238500"/>
          </a:xfrm>
        </p:grpSpPr>
        <p:sp>
          <p:nvSpPr>
            <p:cNvPr id="314" name="Google Shape;314;p20"/>
            <p:cNvSpPr/>
            <p:nvPr/>
          </p:nvSpPr>
          <p:spPr>
            <a:xfrm>
              <a:off x="0" y="0"/>
              <a:ext cx="2628900" cy="3238500"/>
            </a:xfrm>
            <a:prstGeom prst="roundRect">
              <a:avLst>
                <a:gd fmla="val 4347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" name="Google Shape;315;p20"/>
            <p:cNvSpPr/>
            <p:nvPr/>
          </p:nvSpPr>
          <p:spPr>
            <a:xfrm>
              <a:off x="0" y="0"/>
              <a:ext cx="2628900" cy="57300"/>
            </a:xfrm>
            <a:prstGeom prst="roundRect">
              <a:avLst>
                <a:gd fmla="val 50000" name="adj"/>
              </a:avLst>
            </a:prstGeom>
            <a:solidFill>
              <a:srgbClr val="4F46E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" name="Google Shape;316;p20"/>
            <p:cNvSpPr/>
            <p:nvPr/>
          </p:nvSpPr>
          <p:spPr>
            <a:xfrm>
              <a:off x="190500" y="228600"/>
              <a:ext cx="342900" cy="228600"/>
            </a:xfrm>
            <a:prstGeom prst="roundRect">
              <a:avLst>
                <a:gd fmla="val 25000" name="adj"/>
              </a:avLst>
            </a:prstGeom>
            <a:solidFill>
              <a:srgbClr val="E0E7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" name="Google Shape;317;p20"/>
            <p:cNvSpPr txBox="1"/>
            <p:nvPr/>
          </p:nvSpPr>
          <p:spPr>
            <a:xfrm>
              <a:off x="190500" y="228600"/>
              <a:ext cx="3429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4F46E5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03</a:t>
              </a:r>
              <a:endParaRPr b="1" sz="1000">
                <a:solidFill>
                  <a:srgbClr val="4F46E5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318" name="Google Shape;318;p20"/>
            <p:cNvSpPr txBox="1"/>
            <p:nvPr/>
          </p:nvSpPr>
          <p:spPr>
            <a:xfrm>
              <a:off x="190500" y="647700"/>
              <a:ext cx="2247900" cy="240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0A192F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Shortcut Learning Bias</a:t>
              </a:r>
              <a:endParaRPr b="0" sz="1300">
                <a:solidFill>
                  <a:srgbClr val="0A192F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64748B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Feature Selection [1, 18]</a:t>
              </a:r>
              <a:endParaRPr b="1" sz="900">
                <a:solidFill>
                  <a:srgbClr val="64748B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850">
                  <a:solidFill>
                    <a:srgbClr val="4F46E5"/>
                  </a:solidFill>
                  <a:latin typeface="Inter"/>
                  <a:ea typeface="Inter"/>
                  <a:cs typeface="Inter"/>
                  <a:sym typeface="Inter"/>
                </a:rPr>
                <a:t>MECHANISM</a:t>
              </a:r>
              <a:endParaRPr b="1" sz="850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0" lang="en" sz="863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Conventional feature selection evaluates feature importance exclusively on benign, nominal traffic.</a:t>
              </a:r>
              <a:endParaRPr b="0" sz="863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850">
                  <a:solidFill>
                    <a:srgbClr val="DC2626"/>
                  </a:solidFill>
                  <a:latin typeface="Inter"/>
                  <a:ea typeface="Inter"/>
                  <a:cs typeface="Inter"/>
                  <a:sym typeface="Inter"/>
                </a:rPr>
                <a:t>VULNERABILITY</a:t>
              </a:r>
              <a:endParaRPr b="1" sz="850">
                <a:solidFill>
                  <a:srgbClr val="DC2626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0" lang="en" sz="863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Models retain ephemeral socket shortcuts </a:t>
              </a:r>
              <a:r>
                <a:rPr b="1" lang="en" sz="863">
                  <a:solidFill>
                    <a:srgbClr val="DC2626"/>
                  </a:solidFill>
                  <a:latin typeface="Inter"/>
                  <a:ea typeface="Inter"/>
                  <a:cs typeface="Inter"/>
                  <a:sym typeface="Inter"/>
                </a:rPr>
                <a:t>(Src/Dst Port, IP)</a:t>
              </a:r>
              <a:r>
                <a:rPr b="0" lang="en" sz="863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and gradient-volatile features that attackers trivially manipulate to bypass detection.</a:t>
              </a:r>
              <a:endParaRPr b="0" sz="863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319" name="Google Shape;319;p20"/>
          <p:cNvSpPr txBox="1"/>
          <p:nvPr/>
        </p:nvSpPr>
        <p:spPr>
          <a:xfrm>
            <a:off x="8371425" y="4776393"/>
            <a:ext cx="391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64748B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06</a:t>
            </a:r>
            <a:endParaRPr sz="1200">
              <a:solidFill>
                <a:srgbClr val="64748B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4" name="Google Shape;324;p21"/>
          <p:cNvPicPr preferRelativeResize="0"/>
          <p:nvPr/>
        </p:nvPicPr>
        <p:blipFill rotWithShape="1">
          <a:blip r:embed="rId3">
            <a:alphaModFix amt="40000"/>
          </a:blip>
          <a:srcRect b="0" l="387" r="387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5" name="Google Shape;325;p21"/>
          <p:cNvGrpSpPr/>
          <p:nvPr/>
        </p:nvGrpSpPr>
        <p:grpSpPr>
          <a:xfrm>
            <a:off x="381000" y="190500"/>
            <a:ext cx="8381925" cy="571500"/>
            <a:chOff x="0" y="-47625"/>
            <a:chExt cx="8381925" cy="571500"/>
          </a:xfrm>
        </p:grpSpPr>
        <p:sp>
          <p:nvSpPr>
            <p:cNvPr id="326" name="Google Shape;326;p21"/>
            <p:cNvSpPr/>
            <p:nvPr/>
          </p:nvSpPr>
          <p:spPr>
            <a:xfrm>
              <a:off x="0" y="0"/>
              <a:ext cx="285900" cy="190500"/>
            </a:xfrm>
            <a:custGeom>
              <a:rect b="b" l="l" r="r" t="t"/>
              <a:pathLst>
                <a:path extrusionOk="0" h="120000" w="120000">
                  <a:moveTo>
                    <a:pt x="40000" y="0"/>
                  </a:moveTo>
                  <a:lnTo>
                    <a:pt x="120000" y="0"/>
                  </a:lnTo>
                  <a:lnTo>
                    <a:pt x="8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06B6D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" name="Google Shape;327;p21"/>
            <p:cNvSpPr/>
            <p:nvPr/>
          </p:nvSpPr>
          <p:spPr>
            <a:xfrm>
              <a:off x="238125" y="0"/>
              <a:ext cx="142800" cy="190500"/>
            </a:xfrm>
            <a:custGeom>
              <a:rect b="b" l="l" r="r" t="t"/>
              <a:pathLst>
                <a:path extrusionOk="0" h="120000" w="120000">
                  <a:moveTo>
                    <a:pt x="80000" y="0"/>
                  </a:moveTo>
                  <a:lnTo>
                    <a:pt x="120000" y="0"/>
                  </a:lnTo>
                  <a:lnTo>
                    <a:pt x="4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" name="Google Shape;328;p21"/>
            <p:cNvSpPr txBox="1"/>
            <p:nvPr/>
          </p:nvSpPr>
          <p:spPr>
            <a:xfrm>
              <a:off x="428625" y="-47625"/>
              <a:ext cx="7953300" cy="571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2200">
                  <a:solidFill>
                    <a:srgbClr val="0A192F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Comparative Analysis</a:t>
              </a:r>
              <a:endParaRPr b="0" sz="2200">
                <a:solidFill>
                  <a:srgbClr val="0A192F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State-of-the-art benchmark frontiers: Every published defense faces a critical trade-off.</a:t>
              </a:r>
              <a:endParaRPr b="0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29" name="Google Shape;329;p21"/>
          <p:cNvGrpSpPr/>
          <p:nvPr/>
        </p:nvGrpSpPr>
        <p:grpSpPr>
          <a:xfrm>
            <a:off x="381000" y="904875"/>
            <a:ext cx="8382000" cy="304800"/>
            <a:chOff x="0" y="0"/>
            <a:chExt cx="8382000" cy="304800"/>
          </a:xfrm>
        </p:grpSpPr>
        <p:sp>
          <p:nvSpPr>
            <p:cNvPr id="330" name="Google Shape;330;p21"/>
            <p:cNvSpPr/>
            <p:nvPr/>
          </p:nvSpPr>
          <p:spPr>
            <a:xfrm>
              <a:off x="0" y="0"/>
              <a:ext cx="8382000" cy="304800"/>
            </a:xfrm>
            <a:prstGeom prst="roundRect">
              <a:avLst>
                <a:gd fmla="val 18750" name="adj"/>
              </a:avLst>
            </a:prstGeom>
            <a:solidFill>
              <a:srgbClr val="0A192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" name="Google Shape;331;p21"/>
            <p:cNvSpPr txBox="1"/>
            <p:nvPr/>
          </p:nvSpPr>
          <p:spPr>
            <a:xfrm>
              <a:off x="142875" y="0"/>
              <a:ext cx="1476300" cy="3048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5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BENCHMARK FRONTIER</a:t>
              </a:r>
              <a:endParaRPr b="1" sz="8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32" name="Google Shape;332;p21"/>
            <p:cNvSpPr txBox="1"/>
            <p:nvPr/>
          </p:nvSpPr>
          <p:spPr>
            <a:xfrm>
              <a:off x="1762125" y="0"/>
              <a:ext cx="1238400" cy="3048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5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METHOD &amp; REF</a:t>
              </a:r>
              <a:endParaRPr b="1" sz="8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33" name="Google Shape;333;p21"/>
            <p:cNvSpPr txBox="1"/>
            <p:nvPr/>
          </p:nvSpPr>
          <p:spPr>
            <a:xfrm>
              <a:off x="3095625" y="0"/>
              <a:ext cx="1047900" cy="3048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5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BEST RESULT</a:t>
              </a:r>
              <a:endParaRPr b="1" sz="8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34" name="Google Shape;334;p21"/>
            <p:cNvSpPr txBox="1"/>
            <p:nvPr/>
          </p:nvSpPr>
          <p:spPr>
            <a:xfrm>
              <a:off x="4238625" y="0"/>
              <a:ext cx="1666800" cy="3048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5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DEFENSE MECHANISM</a:t>
              </a:r>
              <a:endParaRPr b="1" sz="8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35" name="Google Shape;335;p21"/>
            <p:cNvSpPr txBox="1"/>
            <p:nvPr/>
          </p:nvSpPr>
          <p:spPr>
            <a:xfrm>
              <a:off x="6000750" y="0"/>
              <a:ext cx="2238300" cy="3048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5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LIMITATION</a:t>
              </a:r>
              <a:endParaRPr b="1" sz="8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36" name="Google Shape;336;p21"/>
          <p:cNvGrpSpPr/>
          <p:nvPr/>
        </p:nvGrpSpPr>
        <p:grpSpPr>
          <a:xfrm>
            <a:off x="381000" y="1276350"/>
            <a:ext cx="8382000" cy="495300"/>
            <a:chOff x="0" y="0"/>
            <a:chExt cx="8382000" cy="495300"/>
          </a:xfrm>
        </p:grpSpPr>
        <p:sp>
          <p:nvSpPr>
            <p:cNvPr id="337" name="Google Shape;337;p21"/>
            <p:cNvSpPr/>
            <p:nvPr/>
          </p:nvSpPr>
          <p:spPr>
            <a:xfrm>
              <a:off x="0" y="0"/>
              <a:ext cx="8382000" cy="495300"/>
            </a:xfrm>
            <a:prstGeom prst="roundRect">
              <a:avLst>
                <a:gd fmla="val 15384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" name="Google Shape;338;p21"/>
            <p:cNvSpPr/>
            <p:nvPr/>
          </p:nvSpPr>
          <p:spPr>
            <a:xfrm>
              <a:off x="0" y="95250"/>
              <a:ext cx="38100" cy="304800"/>
            </a:xfrm>
            <a:prstGeom prst="roundRect">
              <a:avLst>
                <a:gd fmla="val 50000" name="adj"/>
              </a:avLst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" name="Google Shape;339;p21"/>
            <p:cNvSpPr txBox="1"/>
            <p:nvPr/>
          </p:nvSpPr>
          <p:spPr>
            <a:xfrm>
              <a:off x="142875" y="0"/>
              <a:ext cx="1524000" cy="4953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0A192F"/>
                  </a:solidFill>
                  <a:latin typeface="Inter"/>
                  <a:ea typeface="Inter"/>
                  <a:cs typeface="Inter"/>
                  <a:sym typeface="Inter"/>
                </a:rPr>
                <a:t>Best Clean Accuracy</a:t>
              </a:r>
              <a:endParaRPr b="1" sz="1000">
                <a:solidFill>
                  <a:srgbClr val="0A192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40" name="Google Shape;340;p21"/>
            <p:cNvSpPr txBox="1"/>
            <p:nvPr/>
          </p:nvSpPr>
          <p:spPr>
            <a:xfrm>
              <a:off x="1762125" y="0"/>
              <a:ext cx="1238400" cy="4953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0A192F"/>
                  </a:solidFill>
                  <a:latin typeface="Inter"/>
                  <a:ea typeface="Inter"/>
                  <a:cs typeface="Inter"/>
                  <a:sym typeface="Inter"/>
                </a:rPr>
                <a:t>Deep MLP [7]</a:t>
              </a:r>
              <a:endParaRPr b="0" sz="900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  <p:sp>
          <p:nvSpPr>
            <p:cNvPr id="341" name="Google Shape;341;p21"/>
            <p:cNvSpPr txBox="1"/>
            <p:nvPr/>
          </p:nvSpPr>
          <p:spPr>
            <a:xfrm>
              <a:off x="3095625" y="0"/>
              <a:ext cx="1047900" cy="4953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2563EB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98.2%</a:t>
              </a:r>
              <a:br>
                <a:rPr b="0" lang="en" sz="1100">
                  <a:solidFill>
                    <a:srgbClr val="2563EB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</a:br>
              <a:r>
                <a:rPr b="0" lang="en" sz="85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Clean</a:t>
              </a:r>
              <a:endParaRPr b="0" sz="1100">
                <a:solidFill>
                  <a:srgbClr val="2563EB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  <p:sp>
          <p:nvSpPr>
            <p:cNvPr id="342" name="Google Shape;342;p21"/>
            <p:cNvSpPr txBox="1"/>
            <p:nvPr/>
          </p:nvSpPr>
          <p:spPr>
            <a:xfrm>
              <a:off x="4238625" y="0"/>
              <a:ext cx="1666800" cy="4953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Standard Deep MLP /</a:t>
              </a:r>
              <a:br>
                <a:rPr b="0" lang="en" sz="9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</a:br>
              <a:r>
                <a:rPr b="0" lang="en" sz="9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Graph Attention</a:t>
              </a:r>
              <a:endParaRPr b="0" sz="9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43" name="Google Shape;343;p21"/>
            <p:cNvSpPr txBox="1"/>
            <p:nvPr/>
          </p:nvSpPr>
          <p:spPr>
            <a:xfrm>
              <a:off x="6000750" y="0"/>
              <a:ext cx="2238300" cy="4953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50">
                  <a:solidFill>
                    <a:srgbClr val="DC2626"/>
                  </a:solidFill>
                  <a:latin typeface="Inter"/>
                  <a:ea typeface="Inter"/>
                  <a:cs typeface="Inter"/>
                  <a:sym typeface="Inter"/>
                </a:rPr>
                <a:t>Zero Defense:</a:t>
              </a:r>
              <a:r>
                <a:rPr b="0" lang="en" sz="8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Collapses to </a:t>
              </a:r>
              <a:r>
                <a:rPr b="1" lang="en" sz="850">
                  <a:solidFill>
                    <a:srgbClr val="0A192F"/>
                  </a:solidFill>
                  <a:latin typeface="Inter"/>
                  <a:ea typeface="Inter"/>
                  <a:cs typeface="Inter"/>
                  <a:sym typeface="Inter"/>
                </a:rPr>
                <a:t>&lt;32%</a:t>
              </a:r>
              <a:r>
                <a:rPr b="0" lang="en" sz="8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under white-box PGD attacks; or incurs 2.4 ms graph delay.</a:t>
              </a:r>
              <a:endParaRPr b="0" sz="8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44" name="Google Shape;344;p21"/>
          <p:cNvGrpSpPr/>
          <p:nvPr/>
        </p:nvGrpSpPr>
        <p:grpSpPr>
          <a:xfrm>
            <a:off x="381000" y="1819275"/>
            <a:ext cx="8382000" cy="495300"/>
            <a:chOff x="0" y="0"/>
            <a:chExt cx="8382000" cy="495300"/>
          </a:xfrm>
        </p:grpSpPr>
        <p:sp>
          <p:nvSpPr>
            <p:cNvPr id="345" name="Google Shape;345;p21"/>
            <p:cNvSpPr/>
            <p:nvPr/>
          </p:nvSpPr>
          <p:spPr>
            <a:xfrm>
              <a:off x="0" y="0"/>
              <a:ext cx="8382000" cy="495300"/>
            </a:xfrm>
            <a:prstGeom prst="roundRect">
              <a:avLst>
                <a:gd fmla="val 15384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" name="Google Shape;346;p21"/>
            <p:cNvSpPr/>
            <p:nvPr/>
          </p:nvSpPr>
          <p:spPr>
            <a:xfrm>
              <a:off x="0" y="95250"/>
              <a:ext cx="38100" cy="304800"/>
            </a:xfrm>
            <a:prstGeom prst="roundRect">
              <a:avLst>
                <a:gd fmla="val 50000" name="adj"/>
              </a:avLst>
            </a:prstGeom>
            <a:solidFill>
              <a:srgbClr val="06B6D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" name="Google Shape;347;p21"/>
            <p:cNvSpPr txBox="1"/>
            <p:nvPr/>
          </p:nvSpPr>
          <p:spPr>
            <a:xfrm>
              <a:off x="142875" y="0"/>
              <a:ext cx="1524000" cy="4953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0A192F"/>
                  </a:solidFill>
                  <a:latin typeface="Inter"/>
                  <a:ea typeface="Inter"/>
                  <a:cs typeface="Inter"/>
                  <a:sym typeface="Inter"/>
                </a:rPr>
                <a:t>Best White-Box Robustness</a:t>
              </a:r>
              <a:endParaRPr b="1" sz="1000">
                <a:solidFill>
                  <a:srgbClr val="0A192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48" name="Google Shape;348;p21"/>
            <p:cNvSpPr txBox="1"/>
            <p:nvPr/>
          </p:nvSpPr>
          <p:spPr>
            <a:xfrm>
              <a:off x="1762125" y="0"/>
              <a:ext cx="1238400" cy="4953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0A192F"/>
                  </a:solidFill>
                  <a:latin typeface="Inter"/>
                  <a:ea typeface="Inter"/>
                  <a:cs typeface="Inter"/>
                  <a:sym typeface="Inter"/>
                </a:rPr>
                <a:t>AMDS [2]</a:t>
              </a:r>
              <a:endParaRPr b="1" sz="900">
                <a:solidFill>
                  <a:srgbClr val="0A192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49" name="Google Shape;349;p21"/>
            <p:cNvSpPr txBox="1"/>
            <p:nvPr/>
          </p:nvSpPr>
          <p:spPr>
            <a:xfrm>
              <a:off x="3095625" y="0"/>
              <a:ext cx="1047900" cy="4953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2563EB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89.4%</a:t>
              </a:r>
              <a:br>
                <a:rPr b="0" lang="en" sz="1100">
                  <a:solidFill>
                    <a:srgbClr val="2563EB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</a:br>
              <a:r>
                <a:rPr b="0" lang="en" sz="85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PGD₂₀</a:t>
              </a:r>
              <a:endParaRPr b="0" sz="1100">
                <a:solidFill>
                  <a:srgbClr val="2563EB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  <p:sp>
          <p:nvSpPr>
            <p:cNvPr id="350" name="Google Shape;350;p21"/>
            <p:cNvSpPr txBox="1"/>
            <p:nvPr/>
          </p:nvSpPr>
          <p:spPr>
            <a:xfrm>
              <a:off x="4238625" y="0"/>
              <a:ext cx="1666800" cy="4953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Multi-Stage Dynamic PGD</a:t>
              </a:r>
              <a:endParaRPr b="0" sz="9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51" name="Google Shape;351;p21"/>
            <p:cNvSpPr txBox="1"/>
            <p:nvPr/>
          </p:nvSpPr>
          <p:spPr>
            <a:xfrm>
              <a:off x="6000750" y="0"/>
              <a:ext cx="2238300" cy="4953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50">
                  <a:solidFill>
                    <a:srgbClr val="DC2626"/>
                  </a:solidFill>
                  <a:latin typeface="Inter"/>
                  <a:ea typeface="Inter"/>
                  <a:cs typeface="Inter"/>
                  <a:sym typeface="Inter"/>
                </a:rPr>
                <a:t>Clean Drop &amp; Overhead:</a:t>
              </a:r>
              <a:r>
                <a:rPr b="0" lang="en" sz="8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Suffers </a:t>
              </a:r>
              <a:r>
                <a:rPr b="1" lang="en" sz="850">
                  <a:solidFill>
                    <a:srgbClr val="0A192F"/>
                  </a:solidFill>
                  <a:latin typeface="Inter"/>
                  <a:ea typeface="Inter"/>
                  <a:cs typeface="Inter"/>
                  <a:sym typeface="Inter"/>
                </a:rPr>
                <a:t>2.1% penalty</a:t>
              </a:r>
              <a:r>
                <a:rPr b="0" lang="en" sz="8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; keeps 78 dimensions (+140% GPU cost).</a:t>
              </a:r>
              <a:endParaRPr b="0" sz="8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52" name="Google Shape;352;p21"/>
          <p:cNvGrpSpPr/>
          <p:nvPr/>
        </p:nvGrpSpPr>
        <p:grpSpPr>
          <a:xfrm>
            <a:off x="381000" y="2362200"/>
            <a:ext cx="8382000" cy="495300"/>
            <a:chOff x="0" y="0"/>
            <a:chExt cx="8382000" cy="495300"/>
          </a:xfrm>
        </p:grpSpPr>
        <p:sp>
          <p:nvSpPr>
            <p:cNvPr id="353" name="Google Shape;353;p21"/>
            <p:cNvSpPr/>
            <p:nvPr/>
          </p:nvSpPr>
          <p:spPr>
            <a:xfrm>
              <a:off x="0" y="0"/>
              <a:ext cx="8382000" cy="495300"/>
            </a:xfrm>
            <a:prstGeom prst="roundRect">
              <a:avLst>
                <a:gd fmla="val 15384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" name="Google Shape;354;p21"/>
            <p:cNvSpPr/>
            <p:nvPr/>
          </p:nvSpPr>
          <p:spPr>
            <a:xfrm>
              <a:off x="0" y="95250"/>
              <a:ext cx="38100" cy="304800"/>
            </a:xfrm>
            <a:prstGeom prst="roundRect">
              <a:avLst>
                <a:gd fmla="val 50000" name="adj"/>
              </a:avLst>
            </a:prstGeom>
            <a:solidFill>
              <a:srgbClr val="3B82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" name="Google Shape;355;p21"/>
            <p:cNvSpPr txBox="1"/>
            <p:nvPr/>
          </p:nvSpPr>
          <p:spPr>
            <a:xfrm>
              <a:off x="142875" y="125850"/>
              <a:ext cx="1524000" cy="3693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0A192F"/>
                  </a:solidFill>
                  <a:latin typeface="Inter"/>
                  <a:ea typeface="Inter"/>
                  <a:cs typeface="Inter"/>
                  <a:sym typeface="Inter"/>
                </a:rPr>
                <a:t>Best Static Defense</a:t>
              </a:r>
              <a:endParaRPr b="1" sz="1000">
                <a:solidFill>
                  <a:srgbClr val="0A192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8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56" name="Google Shape;356;p21"/>
            <p:cNvSpPr txBox="1"/>
            <p:nvPr/>
          </p:nvSpPr>
          <p:spPr>
            <a:xfrm>
              <a:off x="1762125" y="0"/>
              <a:ext cx="1238400" cy="4953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0A192F"/>
                  </a:solidFill>
                  <a:latin typeface="Inter"/>
                  <a:ea typeface="Inter"/>
                  <a:cs typeface="Inter"/>
                  <a:sym typeface="Inter"/>
                </a:rPr>
                <a:t>Static Triad [1]</a:t>
              </a:r>
              <a:endParaRPr b="1" sz="900">
                <a:solidFill>
                  <a:srgbClr val="0A192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57" name="Google Shape;357;p21"/>
            <p:cNvSpPr txBox="1"/>
            <p:nvPr/>
          </p:nvSpPr>
          <p:spPr>
            <a:xfrm>
              <a:off x="3095625" y="0"/>
              <a:ext cx="1047900" cy="4953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2563EB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88.0%</a:t>
              </a:r>
              <a:br>
                <a:rPr b="0" lang="en" sz="1100">
                  <a:solidFill>
                    <a:srgbClr val="2563EB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</a:br>
              <a:r>
                <a:rPr b="0" lang="en" sz="85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Defended</a:t>
              </a:r>
              <a:endParaRPr b="0" sz="1100">
                <a:solidFill>
                  <a:srgbClr val="2563EB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  <p:sp>
          <p:nvSpPr>
            <p:cNvPr id="358" name="Google Shape;358;p21"/>
            <p:cNvSpPr txBox="1"/>
            <p:nvPr/>
          </p:nvSpPr>
          <p:spPr>
            <a:xfrm>
              <a:off x="4238625" y="0"/>
              <a:ext cx="1666800" cy="4953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Static Triad Augmentation</a:t>
              </a:r>
              <a:endParaRPr b="0" sz="9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59" name="Google Shape;359;p21"/>
            <p:cNvSpPr txBox="1"/>
            <p:nvPr/>
          </p:nvSpPr>
          <p:spPr>
            <a:xfrm>
              <a:off x="6000750" y="0"/>
              <a:ext cx="2238300" cy="4953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50">
                  <a:solidFill>
                    <a:srgbClr val="DC2626"/>
                  </a:solidFill>
                  <a:latin typeface="Inter"/>
                  <a:ea typeface="Inter"/>
                  <a:cs typeface="Inter"/>
                  <a:sym typeface="Inter"/>
                </a:rPr>
                <a:t>Staleness &amp; Shortcuts:</a:t>
              </a:r>
              <a:r>
                <a:rPr b="0" lang="en" sz="8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Offline attacks go stale (</a:t>
              </a:r>
              <a:r>
                <a:rPr b="1" lang="en" sz="850">
                  <a:solidFill>
                    <a:srgbClr val="0A192F"/>
                  </a:solidFill>
                  <a:latin typeface="Inter"/>
                  <a:ea typeface="Inter"/>
                  <a:cs typeface="Inter"/>
                  <a:sym typeface="Inter"/>
                </a:rPr>
                <a:t>16–20% evasion</a:t>
              </a:r>
              <a:r>
                <a:rPr b="0" lang="en" sz="8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); retained port shortcuts.</a:t>
              </a:r>
              <a:endParaRPr b="0" sz="8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60" name="Google Shape;360;p21"/>
          <p:cNvGrpSpPr/>
          <p:nvPr/>
        </p:nvGrpSpPr>
        <p:grpSpPr>
          <a:xfrm>
            <a:off x="381000" y="2905125"/>
            <a:ext cx="8382000" cy="495300"/>
            <a:chOff x="0" y="0"/>
            <a:chExt cx="8382000" cy="495300"/>
          </a:xfrm>
        </p:grpSpPr>
        <p:sp>
          <p:nvSpPr>
            <p:cNvPr id="361" name="Google Shape;361;p21"/>
            <p:cNvSpPr/>
            <p:nvPr/>
          </p:nvSpPr>
          <p:spPr>
            <a:xfrm>
              <a:off x="0" y="0"/>
              <a:ext cx="8382000" cy="495300"/>
            </a:xfrm>
            <a:prstGeom prst="roundRect">
              <a:avLst>
                <a:gd fmla="val 15384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" name="Google Shape;362;p21"/>
            <p:cNvSpPr/>
            <p:nvPr/>
          </p:nvSpPr>
          <p:spPr>
            <a:xfrm>
              <a:off x="0" y="95250"/>
              <a:ext cx="38100" cy="304800"/>
            </a:xfrm>
            <a:prstGeom prst="roundRect">
              <a:avLst>
                <a:gd fmla="val 50000" name="adj"/>
              </a:avLst>
            </a:prstGeom>
            <a:solidFill>
              <a:srgbClr val="06B6D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" name="Google Shape;363;p21"/>
            <p:cNvSpPr txBox="1"/>
            <p:nvPr/>
          </p:nvSpPr>
          <p:spPr>
            <a:xfrm>
              <a:off x="142875" y="0"/>
              <a:ext cx="1524000" cy="4953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0A192F"/>
                  </a:solidFill>
                  <a:latin typeface="Inter"/>
                  <a:ea typeface="Inter"/>
                  <a:cs typeface="Inter"/>
                  <a:sym typeface="Inter"/>
                </a:rPr>
                <a:t>Best Black-Box Robustness</a:t>
              </a:r>
              <a:endParaRPr b="1" sz="1000">
                <a:solidFill>
                  <a:srgbClr val="0A192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64" name="Google Shape;364;p21"/>
            <p:cNvSpPr txBox="1"/>
            <p:nvPr/>
          </p:nvSpPr>
          <p:spPr>
            <a:xfrm>
              <a:off x="1762125" y="0"/>
              <a:ext cx="1238400" cy="4953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0A192F"/>
                  </a:solidFill>
                  <a:latin typeface="Inter"/>
                  <a:ea typeface="Inter"/>
                  <a:cs typeface="Inter"/>
                  <a:sym typeface="Inter"/>
                </a:rPr>
                <a:t>Query Anomaly [6]</a:t>
              </a:r>
              <a:endParaRPr b="1" sz="900">
                <a:solidFill>
                  <a:srgbClr val="0A192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65" name="Google Shape;365;p21"/>
            <p:cNvSpPr txBox="1"/>
            <p:nvPr/>
          </p:nvSpPr>
          <p:spPr>
            <a:xfrm>
              <a:off x="3095625" y="0"/>
              <a:ext cx="1047900" cy="4953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2563EB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88.6%</a:t>
              </a:r>
              <a:br>
                <a:rPr b="0" lang="en" sz="1100">
                  <a:solidFill>
                    <a:srgbClr val="2563EB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</a:br>
              <a:r>
                <a:rPr b="0" lang="en" sz="85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Black-Box</a:t>
              </a:r>
              <a:endParaRPr b="0" sz="1100">
                <a:solidFill>
                  <a:srgbClr val="2563EB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  <p:sp>
          <p:nvSpPr>
            <p:cNvPr id="366" name="Google Shape;366;p21"/>
            <p:cNvSpPr txBox="1"/>
            <p:nvPr/>
          </p:nvSpPr>
          <p:spPr>
            <a:xfrm>
              <a:off x="4238625" y="0"/>
              <a:ext cx="1666800" cy="4953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Query Perturbation &amp;</a:t>
              </a:r>
              <a:br>
                <a:rPr b="0" lang="en" sz="9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</a:br>
              <a:r>
                <a:rPr b="0" lang="en" sz="9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Anomaly Tracking</a:t>
              </a:r>
              <a:endParaRPr b="0" sz="9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67" name="Google Shape;367;p21"/>
            <p:cNvSpPr txBox="1"/>
            <p:nvPr/>
          </p:nvSpPr>
          <p:spPr>
            <a:xfrm>
              <a:off x="6000750" y="0"/>
              <a:ext cx="2238300" cy="4953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50">
                  <a:solidFill>
                    <a:srgbClr val="DC2626"/>
                  </a:solidFill>
                  <a:latin typeface="Inter"/>
                  <a:ea typeface="Inter"/>
                  <a:cs typeface="Inter"/>
                  <a:sym typeface="Inter"/>
                </a:rPr>
                <a:t>High Complexity:</a:t>
              </a:r>
              <a:r>
                <a:rPr b="0" lang="en" sz="8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Stateful query tracking required; vulnerable to adaptive white-box transfer.</a:t>
              </a:r>
              <a:endParaRPr b="0" sz="8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68" name="Google Shape;368;p21"/>
          <p:cNvGrpSpPr/>
          <p:nvPr/>
        </p:nvGrpSpPr>
        <p:grpSpPr>
          <a:xfrm>
            <a:off x="381000" y="3448050"/>
            <a:ext cx="8382000" cy="495300"/>
            <a:chOff x="0" y="0"/>
            <a:chExt cx="8382000" cy="495300"/>
          </a:xfrm>
        </p:grpSpPr>
        <p:sp>
          <p:nvSpPr>
            <p:cNvPr id="369" name="Google Shape;369;p21"/>
            <p:cNvSpPr/>
            <p:nvPr/>
          </p:nvSpPr>
          <p:spPr>
            <a:xfrm>
              <a:off x="0" y="0"/>
              <a:ext cx="8382000" cy="495300"/>
            </a:xfrm>
            <a:prstGeom prst="roundRect">
              <a:avLst>
                <a:gd fmla="val 15384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" name="Google Shape;370;p21"/>
            <p:cNvSpPr/>
            <p:nvPr/>
          </p:nvSpPr>
          <p:spPr>
            <a:xfrm>
              <a:off x="0" y="95250"/>
              <a:ext cx="38100" cy="304800"/>
            </a:xfrm>
            <a:prstGeom prst="roundRect">
              <a:avLst>
                <a:gd fmla="val 50000" name="adj"/>
              </a:avLst>
            </a:prstGeom>
            <a:solidFill>
              <a:srgbClr val="4F46E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" name="Google Shape;371;p21"/>
            <p:cNvSpPr txBox="1"/>
            <p:nvPr/>
          </p:nvSpPr>
          <p:spPr>
            <a:xfrm>
              <a:off x="142875" y="0"/>
              <a:ext cx="1524000" cy="4953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0A192F"/>
                  </a:solidFill>
                  <a:latin typeface="Inter"/>
                  <a:ea typeface="Inter"/>
                  <a:cs typeface="Inter"/>
                  <a:sym typeface="Inter"/>
                </a:rPr>
                <a:t>Best Certified Defense</a:t>
              </a:r>
              <a:endParaRPr b="1" sz="1000">
                <a:solidFill>
                  <a:srgbClr val="0A192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72" name="Google Shape;372;p21"/>
            <p:cNvSpPr txBox="1"/>
            <p:nvPr/>
          </p:nvSpPr>
          <p:spPr>
            <a:xfrm>
              <a:off x="1762125" y="0"/>
              <a:ext cx="1238400" cy="4953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0A192F"/>
                  </a:solidFill>
                  <a:latin typeface="Inter"/>
                  <a:ea typeface="Inter"/>
                  <a:cs typeface="Inter"/>
                  <a:sym typeface="Inter"/>
                </a:rPr>
                <a:t>Rand. Smoothing [5]</a:t>
              </a:r>
              <a:endParaRPr b="1" sz="900">
                <a:solidFill>
                  <a:srgbClr val="0A192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73" name="Google Shape;373;p21"/>
            <p:cNvSpPr txBox="1"/>
            <p:nvPr/>
          </p:nvSpPr>
          <p:spPr>
            <a:xfrm>
              <a:off x="3095625" y="0"/>
              <a:ext cx="1047900" cy="4953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2563EB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Provable L₂</a:t>
              </a:r>
              <a:br>
                <a:rPr b="0" lang="en" sz="1000">
                  <a:solidFill>
                    <a:srgbClr val="2563EB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</a:br>
              <a:r>
                <a:rPr b="0" lang="en" sz="85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Radius</a:t>
              </a:r>
              <a:endParaRPr b="0" sz="1000">
                <a:solidFill>
                  <a:srgbClr val="2563EB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  <p:sp>
          <p:nvSpPr>
            <p:cNvPr id="374" name="Google Shape;374;p21"/>
            <p:cNvSpPr txBox="1"/>
            <p:nvPr/>
          </p:nvSpPr>
          <p:spPr>
            <a:xfrm>
              <a:off x="4238625" y="0"/>
              <a:ext cx="1666800" cy="4953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Randomized Smoothing</a:t>
              </a:r>
              <a:endParaRPr b="0" sz="9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75" name="Google Shape;375;p21"/>
            <p:cNvSpPr txBox="1"/>
            <p:nvPr/>
          </p:nvSpPr>
          <p:spPr>
            <a:xfrm>
              <a:off x="6000750" y="0"/>
              <a:ext cx="2238300" cy="4953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50">
                  <a:solidFill>
                    <a:srgbClr val="DC2626"/>
                  </a:solidFill>
                  <a:latin typeface="Inter"/>
                  <a:ea typeface="Inter"/>
                  <a:cs typeface="Inter"/>
                  <a:sym typeface="Inter"/>
                </a:rPr>
                <a:t>Severe Accuracy Crash:</a:t>
              </a:r>
              <a:r>
                <a:rPr b="0" lang="en" sz="8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Clean accuracy drops from </a:t>
              </a:r>
              <a:r>
                <a:rPr b="1" lang="en" sz="850">
                  <a:solidFill>
                    <a:srgbClr val="0A192F"/>
                  </a:solidFill>
                  <a:latin typeface="Inter"/>
                  <a:ea typeface="Inter"/>
                  <a:cs typeface="Inter"/>
                  <a:sym typeface="Inter"/>
                </a:rPr>
                <a:t>94.5% → 76.2%</a:t>
              </a:r>
              <a:r>
                <a:rPr b="0" lang="en" sz="8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(-18.3% penalty).</a:t>
              </a:r>
              <a:endParaRPr b="0" sz="8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76" name="Google Shape;376;p21"/>
          <p:cNvGrpSpPr/>
          <p:nvPr/>
        </p:nvGrpSpPr>
        <p:grpSpPr>
          <a:xfrm>
            <a:off x="381000" y="4076700"/>
            <a:ext cx="8382000" cy="514500"/>
            <a:chOff x="0" y="0"/>
            <a:chExt cx="8382000" cy="514500"/>
          </a:xfrm>
        </p:grpSpPr>
        <p:sp>
          <p:nvSpPr>
            <p:cNvPr id="377" name="Google Shape;377;p21"/>
            <p:cNvSpPr/>
            <p:nvPr/>
          </p:nvSpPr>
          <p:spPr>
            <a:xfrm>
              <a:off x="0" y="0"/>
              <a:ext cx="8382000" cy="514500"/>
            </a:xfrm>
            <a:prstGeom prst="roundRect">
              <a:avLst>
                <a:gd fmla="val 14814" name="adj"/>
              </a:avLst>
            </a:prstGeom>
            <a:solidFill>
              <a:srgbClr val="EFF6FF"/>
            </a:solidFill>
            <a:ln cap="flat" cmpd="sng" w="14300">
              <a:solidFill>
                <a:srgbClr val="3B82F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" name="Google Shape;378;p21"/>
            <p:cNvSpPr/>
            <p:nvPr/>
          </p:nvSpPr>
          <p:spPr>
            <a:xfrm>
              <a:off x="0" y="0"/>
              <a:ext cx="57300" cy="514500"/>
            </a:xfrm>
            <a:prstGeom prst="roundRect">
              <a:avLst>
                <a:gd fmla="val 50000" name="adj"/>
              </a:avLst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" name="Google Shape;379;p21"/>
            <p:cNvSpPr txBox="1"/>
            <p:nvPr/>
          </p:nvSpPr>
          <p:spPr>
            <a:xfrm>
              <a:off x="190500" y="0"/>
              <a:ext cx="1571700" cy="514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1E40AF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The Literature Dilemma</a:t>
              </a:r>
              <a:endParaRPr b="0" sz="1050">
                <a:solidFill>
                  <a:srgbClr val="1E40AF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  <p:sp>
          <p:nvSpPr>
            <p:cNvPr id="380" name="Google Shape;380;p21"/>
            <p:cNvSpPr txBox="1"/>
            <p:nvPr/>
          </p:nvSpPr>
          <p:spPr>
            <a:xfrm>
              <a:off x="1857375" y="0"/>
              <a:ext cx="6334200" cy="514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1E3A8A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Across published literature, no existing system achieves high robustness without suffering a severe penalty in clean accuracy, latency, or computational complexity.</a:t>
              </a:r>
              <a:endParaRPr b="0" sz="950">
                <a:solidFill>
                  <a:srgbClr val="1E3A8A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sp>
        <p:nvSpPr>
          <p:cNvPr id="381" name="Google Shape;381;p21"/>
          <p:cNvSpPr txBox="1"/>
          <p:nvPr/>
        </p:nvSpPr>
        <p:spPr>
          <a:xfrm>
            <a:off x="8371425" y="4776393"/>
            <a:ext cx="391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64748B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07</a:t>
            </a:r>
            <a:endParaRPr sz="1200">
              <a:solidFill>
                <a:srgbClr val="64748B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6" name="Google Shape;386;p22"/>
          <p:cNvPicPr preferRelativeResize="0"/>
          <p:nvPr/>
        </p:nvPicPr>
        <p:blipFill>
          <a:blip r:embed="rId3">
            <a:alphaModFix amt="40000"/>
          </a:blip>
          <a:stretch>
            <a:fillRect/>
          </a:stretch>
        </p:blipFill>
        <p:spPr>
          <a:xfrm flipH="1">
            <a:off x="0" y="19936"/>
            <a:ext cx="9144002" cy="5103629"/>
          </a:xfrm>
          <a:prstGeom prst="rect">
            <a:avLst/>
          </a:prstGeom>
          <a:noFill/>
          <a:ln>
            <a:noFill/>
          </a:ln>
        </p:spPr>
      </p:pic>
      <p:sp>
        <p:nvSpPr>
          <p:cNvPr id="387" name="Google Shape;387;p22"/>
          <p:cNvSpPr/>
          <p:nvPr/>
        </p:nvSpPr>
        <p:spPr>
          <a:xfrm>
            <a:off x="381000" y="1047750"/>
            <a:ext cx="8382000" cy="96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88" name="Google Shape;388;p22"/>
          <p:cNvGrpSpPr/>
          <p:nvPr/>
        </p:nvGrpSpPr>
        <p:grpSpPr>
          <a:xfrm>
            <a:off x="339090" y="285750"/>
            <a:ext cx="8423835" cy="714300"/>
            <a:chOff x="-41910" y="0"/>
            <a:chExt cx="8423835" cy="714300"/>
          </a:xfrm>
        </p:grpSpPr>
        <p:sp>
          <p:nvSpPr>
            <p:cNvPr id="389" name="Google Shape;389;p22"/>
            <p:cNvSpPr/>
            <p:nvPr/>
          </p:nvSpPr>
          <p:spPr>
            <a:xfrm>
              <a:off x="-41910" y="91440"/>
              <a:ext cx="285900" cy="190500"/>
            </a:xfrm>
            <a:custGeom>
              <a:rect b="b" l="l" r="r" t="t"/>
              <a:pathLst>
                <a:path extrusionOk="0" h="120000" w="120000">
                  <a:moveTo>
                    <a:pt x="40000" y="0"/>
                  </a:moveTo>
                  <a:lnTo>
                    <a:pt x="120000" y="0"/>
                  </a:lnTo>
                  <a:lnTo>
                    <a:pt x="8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06B6D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" name="Google Shape;390;p22"/>
            <p:cNvSpPr/>
            <p:nvPr/>
          </p:nvSpPr>
          <p:spPr>
            <a:xfrm>
              <a:off x="196215" y="91440"/>
              <a:ext cx="142800" cy="190500"/>
            </a:xfrm>
            <a:custGeom>
              <a:rect b="b" l="l" r="r" t="t"/>
              <a:pathLst>
                <a:path extrusionOk="0" h="120000" w="120000">
                  <a:moveTo>
                    <a:pt x="80000" y="0"/>
                  </a:moveTo>
                  <a:lnTo>
                    <a:pt x="120000" y="0"/>
                  </a:lnTo>
                  <a:lnTo>
                    <a:pt x="4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" name="Google Shape;391;p22"/>
            <p:cNvSpPr txBox="1"/>
            <p:nvPr/>
          </p:nvSpPr>
          <p:spPr>
            <a:xfrm>
              <a:off x="428625" y="0"/>
              <a:ext cx="79533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rgbClr val="0A192F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Proposed Methodology</a:t>
              </a:r>
              <a:endParaRPr b="0" sz="2400">
                <a:solidFill>
                  <a:srgbClr val="0A192F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Data Sanitization and Screening</a:t>
              </a:r>
              <a:endParaRPr b="0" sz="14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92" name="Google Shape;392;p22"/>
          <p:cNvGrpSpPr/>
          <p:nvPr/>
        </p:nvGrpSpPr>
        <p:grpSpPr>
          <a:xfrm>
            <a:off x="523875" y="1333500"/>
            <a:ext cx="1809600" cy="762000"/>
            <a:chOff x="0" y="0"/>
            <a:chExt cx="1809600" cy="762000"/>
          </a:xfrm>
        </p:grpSpPr>
        <p:sp>
          <p:nvSpPr>
            <p:cNvPr id="393" name="Google Shape;393;p22"/>
            <p:cNvSpPr/>
            <p:nvPr/>
          </p:nvSpPr>
          <p:spPr>
            <a:xfrm>
              <a:off x="0" y="0"/>
              <a:ext cx="1809600" cy="762000"/>
            </a:xfrm>
            <a:prstGeom prst="roundRect">
              <a:avLst>
                <a:gd fmla="val 50000" name="adj"/>
              </a:avLst>
            </a:prstGeom>
            <a:solidFill>
              <a:srgbClr val="F8FAFC"/>
            </a:solidFill>
            <a:ln cap="flat" cmpd="sng" w="14300">
              <a:solidFill>
                <a:srgbClr val="2563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" name="Google Shape;394;p22"/>
            <p:cNvSpPr/>
            <p:nvPr/>
          </p:nvSpPr>
          <p:spPr>
            <a:xfrm>
              <a:off x="152400" y="152400"/>
              <a:ext cx="457200" cy="457200"/>
            </a:xfrm>
            <a:prstGeom prst="ellipse">
              <a:avLst/>
            </a:prstGeom>
            <a:solidFill>
              <a:srgbClr val="DBEAF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" name="Google Shape;395;p22"/>
            <p:cNvSpPr txBox="1"/>
            <p:nvPr/>
          </p:nvSpPr>
          <p:spPr>
            <a:xfrm>
              <a:off x="152400" y="152400"/>
              <a:ext cx="457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2563E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01</a:t>
              </a:r>
              <a:endParaRPr b="0" sz="1100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396" name="Google Shape;396;p22"/>
            <p:cNvSpPr txBox="1"/>
            <p:nvPr/>
          </p:nvSpPr>
          <p:spPr>
            <a:xfrm>
              <a:off x="714375" y="142875"/>
              <a:ext cx="10002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A192F"/>
                  </a:solidFill>
                  <a:latin typeface="Inter"/>
                  <a:ea typeface="Inter"/>
                  <a:cs typeface="Inter"/>
                  <a:sym typeface="Inter"/>
                </a:rPr>
                <a:t>Cleaning</a:t>
              </a:r>
              <a:endParaRPr b="1" sz="1100">
                <a:solidFill>
                  <a:srgbClr val="0A192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Feature Drop</a:t>
              </a:r>
              <a:endParaRPr b="0" sz="9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pic>
        <p:nvPicPr>
          <p:cNvPr id="397" name="Google Shape;397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24100" y="1628775"/>
            <a:ext cx="304800" cy="171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98" name="Google Shape;398;p22"/>
          <p:cNvGrpSpPr/>
          <p:nvPr/>
        </p:nvGrpSpPr>
        <p:grpSpPr>
          <a:xfrm>
            <a:off x="519113" y="2281238"/>
            <a:ext cx="1819200" cy="2057400"/>
            <a:chOff x="-4762" y="-4762"/>
            <a:chExt cx="1819200" cy="2057400"/>
          </a:xfrm>
        </p:grpSpPr>
        <p:pic>
          <p:nvPicPr>
            <p:cNvPr id="399" name="Google Shape;399;p22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-4762" y="-4762"/>
              <a:ext cx="1819200" cy="2057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00" name="Google Shape;400;p22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0" y="0"/>
              <a:ext cx="1809600" cy="57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1" name="Google Shape;401;p22"/>
            <p:cNvSpPr txBox="1"/>
            <p:nvPr/>
          </p:nvSpPr>
          <p:spPr>
            <a:xfrm>
              <a:off x="142875" y="190500"/>
              <a:ext cx="1524000" cy="1762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0A192F"/>
                  </a:solidFill>
                  <a:latin typeface="Inter"/>
                  <a:ea typeface="Inter"/>
                  <a:cs typeface="Inter"/>
                  <a:sym typeface="Inter"/>
                </a:rPr>
                <a:t>Data Cleaning</a:t>
              </a:r>
              <a:endParaRPr b="1" sz="1200">
                <a:solidFill>
                  <a:srgbClr val="0A192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788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Permanently remove non-generalizable </a:t>
              </a:r>
              <a:r>
                <a:rPr lang="en" sz="788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features</a:t>
              </a:r>
              <a:r>
                <a:rPr b="0" lang="en" sz="788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: </a:t>
              </a:r>
              <a:r>
                <a:rPr b="1" lang="en" sz="788">
                  <a:solidFill>
                    <a:srgbClr val="0A192F"/>
                  </a:solidFill>
                  <a:latin typeface="Inter"/>
                  <a:ea typeface="Inter"/>
                  <a:cs typeface="Inter"/>
                  <a:sym typeface="Inter"/>
                </a:rPr>
                <a:t>Src/Dst IP, Ports, Timestamp, Flow ID</a:t>
              </a:r>
              <a:r>
                <a:rPr b="0" lang="en" sz="788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.</a:t>
              </a:r>
              <a:endParaRPr b="0" sz="788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788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Result:</a:t>
              </a:r>
              <a:r>
                <a:rPr b="0" lang="en" sz="788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b="1" lang="en" sz="788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69 continuous features</a:t>
              </a:r>
              <a:r>
                <a:rPr b="0" lang="en" sz="788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remain.</a:t>
              </a:r>
              <a:endParaRPr b="0" sz="788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402" name="Google Shape;402;p22"/>
          <p:cNvGrpSpPr/>
          <p:nvPr/>
        </p:nvGrpSpPr>
        <p:grpSpPr>
          <a:xfrm>
            <a:off x="2619375" y="1333500"/>
            <a:ext cx="1809600" cy="762000"/>
            <a:chOff x="0" y="0"/>
            <a:chExt cx="1809600" cy="762000"/>
          </a:xfrm>
        </p:grpSpPr>
        <p:sp>
          <p:nvSpPr>
            <p:cNvPr id="403" name="Google Shape;403;p22"/>
            <p:cNvSpPr/>
            <p:nvPr/>
          </p:nvSpPr>
          <p:spPr>
            <a:xfrm>
              <a:off x="0" y="0"/>
              <a:ext cx="1809600" cy="762000"/>
            </a:xfrm>
            <a:prstGeom prst="roundRect">
              <a:avLst>
                <a:gd fmla="val 50000" name="adj"/>
              </a:avLst>
            </a:prstGeom>
            <a:solidFill>
              <a:srgbClr val="F8FAFC"/>
            </a:solidFill>
            <a:ln cap="flat" cmpd="sng" w="14300">
              <a:solidFill>
                <a:srgbClr val="06B6D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" name="Google Shape;404;p22"/>
            <p:cNvSpPr/>
            <p:nvPr/>
          </p:nvSpPr>
          <p:spPr>
            <a:xfrm>
              <a:off x="152400" y="152400"/>
              <a:ext cx="457200" cy="457200"/>
            </a:xfrm>
            <a:prstGeom prst="ellipse">
              <a:avLst/>
            </a:prstGeom>
            <a:solidFill>
              <a:srgbClr val="DBEAF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" name="Google Shape;405;p22"/>
            <p:cNvSpPr txBox="1"/>
            <p:nvPr/>
          </p:nvSpPr>
          <p:spPr>
            <a:xfrm>
              <a:off x="152400" y="152400"/>
              <a:ext cx="457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06B6D4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02</a:t>
              </a:r>
              <a:endParaRPr b="0" sz="1100">
                <a:solidFill>
                  <a:srgbClr val="06B6D4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406" name="Google Shape;406;p22"/>
            <p:cNvSpPr txBox="1"/>
            <p:nvPr/>
          </p:nvSpPr>
          <p:spPr>
            <a:xfrm>
              <a:off x="714375" y="142875"/>
              <a:ext cx="10002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A192F"/>
                  </a:solidFill>
                  <a:latin typeface="Inter"/>
                  <a:ea typeface="Inter"/>
                  <a:cs typeface="Inter"/>
                  <a:sym typeface="Inter"/>
                </a:rPr>
                <a:t>Partitioning</a:t>
              </a:r>
              <a:endParaRPr b="1" sz="1100">
                <a:solidFill>
                  <a:srgbClr val="0A192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Train/Val/Test</a:t>
              </a:r>
              <a:endParaRPr b="0" sz="9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pic>
        <p:nvPicPr>
          <p:cNvPr id="407" name="Google Shape;407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19600" y="1628775"/>
            <a:ext cx="304800" cy="171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08" name="Google Shape;408;p22"/>
          <p:cNvGrpSpPr/>
          <p:nvPr/>
        </p:nvGrpSpPr>
        <p:grpSpPr>
          <a:xfrm>
            <a:off x="2614613" y="2281238"/>
            <a:ext cx="1819200" cy="2057400"/>
            <a:chOff x="-4762" y="-4762"/>
            <a:chExt cx="1819200" cy="2057400"/>
          </a:xfrm>
        </p:grpSpPr>
        <p:pic>
          <p:nvPicPr>
            <p:cNvPr id="409" name="Google Shape;409;p22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-4762" y="-4762"/>
              <a:ext cx="1819200" cy="2057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10" name="Google Shape;410;p22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0" y="0"/>
              <a:ext cx="1809600" cy="57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1" name="Google Shape;411;p22"/>
            <p:cNvSpPr txBox="1"/>
            <p:nvPr/>
          </p:nvSpPr>
          <p:spPr>
            <a:xfrm>
              <a:off x="142875" y="190500"/>
              <a:ext cx="1524000" cy="1762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0A192F"/>
                  </a:solidFill>
                  <a:latin typeface="Inter"/>
                  <a:ea typeface="Inter"/>
                  <a:cs typeface="Inter"/>
                  <a:sym typeface="Inter"/>
                </a:rPr>
                <a:t>Data </a:t>
              </a:r>
              <a:r>
                <a:rPr b="1" lang="en" sz="1200">
                  <a:solidFill>
                    <a:srgbClr val="0A192F"/>
                  </a:solidFill>
                  <a:latin typeface="Inter"/>
                  <a:ea typeface="Inter"/>
                  <a:cs typeface="Inter"/>
                  <a:sym typeface="Inter"/>
                </a:rPr>
                <a:t>Partitioning</a:t>
              </a:r>
              <a:endParaRPr b="1" sz="1200">
                <a:solidFill>
                  <a:srgbClr val="0A192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788">
                  <a:solidFill>
                    <a:srgbClr val="0A192F"/>
                  </a:solidFill>
                  <a:latin typeface="Inter"/>
                  <a:ea typeface="Inter"/>
                  <a:cs typeface="Inter"/>
                  <a:sym typeface="Inter"/>
                </a:rPr>
                <a:t>80% Dev Set</a:t>
              </a:r>
              <a:r>
                <a:rPr b="0" lang="en" sz="788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(5M flows) / </a:t>
              </a:r>
              <a:r>
                <a:rPr b="1" lang="en" sz="788">
                  <a:solidFill>
                    <a:srgbClr val="0A192F"/>
                  </a:solidFill>
                  <a:latin typeface="Inter"/>
                  <a:ea typeface="Inter"/>
                  <a:cs typeface="Inter"/>
                  <a:sym typeface="Inter"/>
                </a:rPr>
                <a:t>20% Test Set</a:t>
              </a:r>
              <a:r>
                <a:rPr b="0" lang="en" sz="788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(1.2M flows) locked Day 0.</a:t>
              </a:r>
              <a:endParaRPr b="0" sz="788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788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Dev split: </a:t>
              </a:r>
              <a:r>
                <a:rPr b="1" lang="en" sz="788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72% Train</a:t>
              </a:r>
              <a:r>
                <a:rPr b="0" lang="en" sz="788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 / </a:t>
              </a:r>
              <a:r>
                <a:rPr b="1" lang="en" sz="788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8% Val</a:t>
              </a:r>
              <a:r>
                <a:rPr b="0" lang="en" sz="788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.</a:t>
              </a:r>
              <a:endParaRPr b="0" sz="788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788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Parameters fitted strictly on 72% Train.</a:t>
              </a:r>
              <a:endParaRPr b="0" sz="788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412" name="Google Shape;412;p22"/>
          <p:cNvGrpSpPr/>
          <p:nvPr/>
        </p:nvGrpSpPr>
        <p:grpSpPr>
          <a:xfrm>
            <a:off x="4714875" y="1333500"/>
            <a:ext cx="1809600" cy="762000"/>
            <a:chOff x="0" y="0"/>
            <a:chExt cx="1809600" cy="762000"/>
          </a:xfrm>
        </p:grpSpPr>
        <p:sp>
          <p:nvSpPr>
            <p:cNvPr id="413" name="Google Shape;413;p22"/>
            <p:cNvSpPr/>
            <p:nvPr/>
          </p:nvSpPr>
          <p:spPr>
            <a:xfrm>
              <a:off x="0" y="0"/>
              <a:ext cx="1809600" cy="762000"/>
            </a:xfrm>
            <a:prstGeom prst="roundRect">
              <a:avLst>
                <a:gd fmla="val 50000" name="adj"/>
              </a:avLst>
            </a:prstGeom>
            <a:solidFill>
              <a:srgbClr val="F8FAFC"/>
            </a:solidFill>
            <a:ln cap="flat" cmpd="sng" w="14300">
              <a:solidFill>
                <a:srgbClr val="6366F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" name="Google Shape;414;p22"/>
            <p:cNvSpPr/>
            <p:nvPr/>
          </p:nvSpPr>
          <p:spPr>
            <a:xfrm>
              <a:off x="152400" y="152400"/>
              <a:ext cx="457200" cy="457200"/>
            </a:xfrm>
            <a:prstGeom prst="ellipse">
              <a:avLst/>
            </a:prstGeom>
            <a:solidFill>
              <a:srgbClr val="DBEAF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" name="Google Shape;415;p22"/>
            <p:cNvSpPr txBox="1"/>
            <p:nvPr/>
          </p:nvSpPr>
          <p:spPr>
            <a:xfrm>
              <a:off x="152400" y="152400"/>
              <a:ext cx="457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2563E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03</a:t>
              </a:r>
              <a:endParaRPr b="0" sz="1100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416" name="Google Shape;416;p22"/>
            <p:cNvSpPr txBox="1"/>
            <p:nvPr/>
          </p:nvSpPr>
          <p:spPr>
            <a:xfrm>
              <a:off x="714375" y="142875"/>
              <a:ext cx="10002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A192F"/>
                  </a:solidFill>
                  <a:latin typeface="Inter"/>
                  <a:ea typeface="Inter"/>
                  <a:cs typeface="Inter"/>
                  <a:sym typeface="Inter"/>
                </a:rPr>
                <a:t>MI Screening</a:t>
              </a:r>
              <a:endParaRPr b="1" sz="1100">
                <a:solidFill>
                  <a:srgbClr val="0A192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Shannon MI</a:t>
              </a:r>
              <a:endParaRPr b="0" sz="9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pic>
        <p:nvPicPr>
          <p:cNvPr id="417" name="Google Shape;417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15100" y="1628775"/>
            <a:ext cx="304800" cy="171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18" name="Google Shape;418;p22"/>
          <p:cNvGrpSpPr/>
          <p:nvPr/>
        </p:nvGrpSpPr>
        <p:grpSpPr>
          <a:xfrm>
            <a:off x="4710113" y="2281238"/>
            <a:ext cx="1819200" cy="2057400"/>
            <a:chOff x="-4762" y="-4762"/>
            <a:chExt cx="1819200" cy="2057400"/>
          </a:xfrm>
        </p:grpSpPr>
        <p:pic>
          <p:nvPicPr>
            <p:cNvPr id="419" name="Google Shape;419;p22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-4762" y="-4762"/>
              <a:ext cx="1819200" cy="2057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20" name="Google Shape;420;p22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0" y="0"/>
              <a:ext cx="1809600" cy="57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1" name="Google Shape;421;p22"/>
            <p:cNvSpPr txBox="1"/>
            <p:nvPr/>
          </p:nvSpPr>
          <p:spPr>
            <a:xfrm>
              <a:off x="142875" y="190500"/>
              <a:ext cx="1524000" cy="1762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0A192F"/>
                  </a:solidFill>
                  <a:latin typeface="Inter"/>
                  <a:ea typeface="Inter"/>
                  <a:cs typeface="Inter"/>
                  <a:sym typeface="Inter"/>
                </a:rPr>
                <a:t>Feature Selection</a:t>
              </a:r>
              <a:endParaRPr b="1" sz="1200">
                <a:solidFill>
                  <a:srgbClr val="0A192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788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Mutual Information filters 69 down to </a:t>
              </a:r>
              <a:r>
                <a:rPr b="1" lang="en" sz="788">
                  <a:solidFill>
                    <a:schemeClr val="accent1"/>
                  </a:solidFill>
                  <a:latin typeface="Inter"/>
                  <a:ea typeface="Inter"/>
                  <a:cs typeface="Inter"/>
                  <a:sym typeface="Inter"/>
                </a:rPr>
                <a:t>top 40 candidates</a:t>
              </a:r>
              <a:r>
                <a:rPr b="0" lang="en" sz="788">
                  <a:solidFill>
                    <a:schemeClr val="accent1"/>
                  </a:solidFill>
                  <a:latin typeface="Inter"/>
                  <a:ea typeface="Inter"/>
                  <a:cs typeface="Inter"/>
                  <a:sym typeface="Inter"/>
                </a:rPr>
                <a:t>.</a:t>
              </a:r>
              <a:endParaRPr b="0" sz="788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788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Accelerates Shapley computation by </a:t>
              </a:r>
              <a:r>
                <a:rPr b="1" lang="en" sz="788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&gt;60%</a:t>
              </a:r>
              <a:r>
                <a:rPr b="0" lang="en" sz="788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.</a:t>
              </a:r>
              <a:endParaRPr b="0" sz="788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422" name="Google Shape;422;p22"/>
          <p:cNvGrpSpPr/>
          <p:nvPr/>
        </p:nvGrpSpPr>
        <p:grpSpPr>
          <a:xfrm>
            <a:off x="6810375" y="1333500"/>
            <a:ext cx="1809600" cy="762000"/>
            <a:chOff x="0" y="0"/>
            <a:chExt cx="1809600" cy="762000"/>
          </a:xfrm>
        </p:grpSpPr>
        <p:sp>
          <p:nvSpPr>
            <p:cNvPr id="423" name="Google Shape;423;p22"/>
            <p:cNvSpPr/>
            <p:nvPr/>
          </p:nvSpPr>
          <p:spPr>
            <a:xfrm>
              <a:off x="0" y="0"/>
              <a:ext cx="1809600" cy="762000"/>
            </a:xfrm>
            <a:prstGeom prst="roundRect">
              <a:avLst>
                <a:gd fmla="val 50000" name="adj"/>
              </a:avLst>
            </a:prstGeom>
            <a:solidFill>
              <a:srgbClr val="F8FAFC"/>
            </a:solidFill>
            <a:ln cap="flat" cmpd="sng" w="143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" name="Google Shape;424;p22"/>
            <p:cNvSpPr/>
            <p:nvPr/>
          </p:nvSpPr>
          <p:spPr>
            <a:xfrm>
              <a:off x="152400" y="152400"/>
              <a:ext cx="457200" cy="457200"/>
            </a:xfrm>
            <a:prstGeom prst="ellipse">
              <a:avLst/>
            </a:prstGeom>
            <a:solidFill>
              <a:srgbClr val="DBEAF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" name="Google Shape;425;p22"/>
            <p:cNvSpPr txBox="1"/>
            <p:nvPr/>
          </p:nvSpPr>
          <p:spPr>
            <a:xfrm>
              <a:off x="152400" y="152400"/>
              <a:ext cx="457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chemeClr val="dk1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04</a:t>
              </a:r>
              <a:endParaRPr b="0" sz="11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426" name="Google Shape;426;p22"/>
            <p:cNvSpPr txBox="1"/>
            <p:nvPr/>
          </p:nvSpPr>
          <p:spPr>
            <a:xfrm>
              <a:off x="714375" y="142875"/>
              <a:ext cx="10002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A192F"/>
                  </a:solidFill>
                  <a:latin typeface="Inter"/>
                  <a:ea typeface="Inter"/>
                  <a:cs typeface="Inter"/>
                  <a:sym typeface="Inter"/>
                </a:rPr>
                <a:t>SMOTE</a:t>
              </a:r>
              <a:endParaRPr b="1" sz="1100">
                <a:solidFill>
                  <a:srgbClr val="0A192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Balancing</a:t>
              </a:r>
              <a:endParaRPr b="0" sz="9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427" name="Google Shape;427;p22"/>
          <p:cNvGrpSpPr/>
          <p:nvPr/>
        </p:nvGrpSpPr>
        <p:grpSpPr>
          <a:xfrm>
            <a:off x="6805613" y="2281238"/>
            <a:ext cx="1819200" cy="2057400"/>
            <a:chOff x="-4762" y="-4762"/>
            <a:chExt cx="1819200" cy="2057400"/>
          </a:xfrm>
        </p:grpSpPr>
        <p:pic>
          <p:nvPicPr>
            <p:cNvPr id="428" name="Google Shape;428;p22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-4762" y="-4762"/>
              <a:ext cx="1819200" cy="2057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29" name="Google Shape;429;p22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0" y="0"/>
              <a:ext cx="1809600" cy="57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0" name="Google Shape;430;p22"/>
            <p:cNvSpPr txBox="1"/>
            <p:nvPr/>
          </p:nvSpPr>
          <p:spPr>
            <a:xfrm>
              <a:off x="142875" y="190500"/>
              <a:ext cx="1524000" cy="1762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0A192F"/>
                  </a:solidFill>
                  <a:latin typeface="Inter"/>
                  <a:ea typeface="Inter"/>
                  <a:cs typeface="Inter"/>
                  <a:sym typeface="Inter"/>
                </a:rPr>
                <a:t>Oversampling</a:t>
              </a:r>
              <a:endParaRPr b="1" sz="1200">
                <a:solidFill>
                  <a:srgbClr val="0A192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788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Continuous-Only SMOTE</a:t>
              </a:r>
              <a:r>
                <a:rPr b="1" lang="en" sz="788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[15] </a:t>
              </a:r>
              <a:r>
                <a:rPr b="0" lang="en" sz="788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applied </a:t>
              </a:r>
              <a:r>
                <a:rPr b="1" lang="en" sz="788">
                  <a:solidFill>
                    <a:srgbClr val="0A192F"/>
                  </a:solidFill>
                  <a:latin typeface="Inter"/>
                  <a:ea typeface="Inter"/>
                  <a:cs typeface="Inter"/>
                  <a:sym typeface="Inter"/>
                </a:rPr>
                <a:t>strictly within training split</a:t>
              </a:r>
              <a:r>
                <a:rPr b="0" lang="en" sz="788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(72% Train).</a:t>
              </a:r>
              <a:endParaRPr b="0" sz="788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788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Balances minority attacks without interpolating discrete flags.</a:t>
              </a:r>
              <a:endParaRPr b="0" sz="788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431" name="Google Shape;431;p22"/>
          <p:cNvSpPr/>
          <p:nvPr/>
        </p:nvSpPr>
        <p:spPr>
          <a:xfrm>
            <a:off x="381000" y="4762500"/>
            <a:ext cx="8382000" cy="96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22"/>
          <p:cNvSpPr txBox="1"/>
          <p:nvPr/>
        </p:nvSpPr>
        <p:spPr>
          <a:xfrm>
            <a:off x="8371425" y="4776393"/>
            <a:ext cx="391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64748B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08</a:t>
            </a:r>
            <a:endParaRPr sz="1200">
              <a:solidFill>
                <a:srgbClr val="64748B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7" name="Google Shape;437;p23"/>
          <p:cNvPicPr preferRelativeResize="0"/>
          <p:nvPr/>
        </p:nvPicPr>
        <p:blipFill rotWithShape="1">
          <a:blip r:embed="rId3">
            <a:alphaModFix amt="40000"/>
          </a:blip>
          <a:srcRect b="0" l="387" r="387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38" name="Google Shape;438;p23"/>
          <p:cNvGrpSpPr/>
          <p:nvPr/>
        </p:nvGrpSpPr>
        <p:grpSpPr>
          <a:xfrm>
            <a:off x="381000" y="190500"/>
            <a:ext cx="8381925" cy="714300"/>
            <a:chOff x="0" y="-47625"/>
            <a:chExt cx="8381925" cy="714300"/>
          </a:xfrm>
        </p:grpSpPr>
        <p:sp>
          <p:nvSpPr>
            <p:cNvPr id="439" name="Google Shape;439;p23"/>
            <p:cNvSpPr/>
            <p:nvPr/>
          </p:nvSpPr>
          <p:spPr>
            <a:xfrm>
              <a:off x="0" y="0"/>
              <a:ext cx="285900" cy="190500"/>
            </a:xfrm>
            <a:custGeom>
              <a:rect b="b" l="l" r="r" t="t"/>
              <a:pathLst>
                <a:path extrusionOk="0" h="120000" w="120000">
                  <a:moveTo>
                    <a:pt x="40000" y="0"/>
                  </a:moveTo>
                  <a:lnTo>
                    <a:pt x="120000" y="0"/>
                  </a:lnTo>
                  <a:lnTo>
                    <a:pt x="8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06B6D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" name="Google Shape;440;p23"/>
            <p:cNvSpPr/>
            <p:nvPr/>
          </p:nvSpPr>
          <p:spPr>
            <a:xfrm>
              <a:off x="238125" y="0"/>
              <a:ext cx="142800" cy="190500"/>
            </a:xfrm>
            <a:custGeom>
              <a:rect b="b" l="l" r="r" t="t"/>
              <a:pathLst>
                <a:path extrusionOk="0" h="120000" w="120000">
                  <a:moveTo>
                    <a:pt x="80000" y="0"/>
                  </a:moveTo>
                  <a:lnTo>
                    <a:pt x="120000" y="0"/>
                  </a:lnTo>
                  <a:lnTo>
                    <a:pt x="4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" name="Google Shape;441;p23"/>
            <p:cNvSpPr txBox="1"/>
            <p:nvPr/>
          </p:nvSpPr>
          <p:spPr>
            <a:xfrm>
              <a:off x="428625" y="-47625"/>
              <a:ext cx="79533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2400">
                  <a:solidFill>
                    <a:srgbClr val="0A192F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Proposed Methodology: SHAP</a:t>
              </a:r>
              <a:endParaRPr b="0" sz="2400">
                <a:solidFill>
                  <a:srgbClr val="0A192F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Our Approach: Measure feature stability under attack to keep only the</a:t>
              </a:r>
              <a:r>
                <a:rPr lang="en" sz="10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b="0" lang="en" sz="10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most reliable features </a:t>
              </a:r>
              <a:r>
                <a:rPr lang="en" sz="10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using SHAP</a:t>
              </a:r>
              <a:r>
                <a:rPr b="0" lang="en" sz="10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. [11]</a:t>
              </a:r>
              <a:endParaRPr b="0" sz="10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442" name="Google Shape;442;p23"/>
          <p:cNvGrpSpPr/>
          <p:nvPr/>
        </p:nvGrpSpPr>
        <p:grpSpPr>
          <a:xfrm>
            <a:off x="381000" y="1095375"/>
            <a:ext cx="4048200" cy="1428900"/>
            <a:chOff x="0" y="0"/>
            <a:chExt cx="4048200" cy="1428900"/>
          </a:xfrm>
        </p:grpSpPr>
        <p:sp>
          <p:nvSpPr>
            <p:cNvPr id="443" name="Google Shape;443;p23"/>
            <p:cNvSpPr/>
            <p:nvPr/>
          </p:nvSpPr>
          <p:spPr>
            <a:xfrm>
              <a:off x="0" y="0"/>
              <a:ext cx="4048200" cy="1428900"/>
            </a:xfrm>
            <a:prstGeom prst="roundRect">
              <a:avLst>
                <a:gd fmla="val 8000" name="adj"/>
              </a:avLst>
            </a:prstGeom>
            <a:solidFill>
              <a:srgbClr val="FFFFFF"/>
            </a:solidFill>
            <a:ln cap="flat" cmpd="sng" w="14300">
              <a:solidFill>
                <a:srgbClr val="DBEAF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" name="Google Shape;444;p23"/>
            <p:cNvSpPr txBox="1"/>
            <p:nvPr/>
          </p:nvSpPr>
          <p:spPr>
            <a:xfrm>
              <a:off x="190500" y="142875"/>
              <a:ext cx="36672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01 </a:t>
              </a:r>
              <a:r>
                <a:rPr b="1" lang="en" sz="1200">
                  <a:solidFill>
                    <a:srgbClr val="0A192F"/>
                  </a:solidFill>
                  <a:latin typeface="Inter"/>
                  <a:ea typeface="Inter"/>
                  <a:cs typeface="Inter"/>
                  <a:sym typeface="Inter"/>
                </a:rPr>
                <a:t>Clean-Only Vulnerability</a:t>
              </a:r>
              <a:endParaRPr b="1" sz="120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E3A8A"/>
                  </a:solidFill>
                  <a:latin typeface="Inter"/>
                  <a:ea typeface="Inter"/>
                  <a:cs typeface="Inter"/>
                  <a:sym typeface="Inter"/>
                </a:rPr>
                <a:t>Why Normal Feature Selection Fails:</a:t>
              </a:r>
              <a:endParaRPr b="1" sz="1000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Features that look important on normal traffic are often the easiest for attackers to manipulate.</a:t>
              </a:r>
              <a:endParaRPr b="0" sz="9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445" name="Google Shape;445;p23"/>
          <p:cNvGrpSpPr/>
          <p:nvPr/>
        </p:nvGrpSpPr>
        <p:grpSpPr>
          <a:xfrm>
            <a:off x="4714875" y="1095375"/>
            <a:ext cx="4048200" cy="1428900"/>
            <a:chOff x="0" y="0"/>
            <a:chExt cx="4048200" cy="1428900"/>
          </a:xfrm>
        </p:grpSpPr>
        <p:sp>
          <p:nvSpPr>
            <p:cNvPr id="446" name="Google Shape;446;p23"/>
            <p:cNvSpPr/>
            <p:nvPr/>
          </p:nvSpPr>
          <p:spPr>
            <a:xfrm>
              <a:off x="0" y="0"/>
              <a:ext cx="4048200" cy="1428900"/>
            </a:xfrm>
            <a:prstGeom prst="roundRect">
              <a:avLst>
                <a:gd fmla="val 8000" name="adj"/>
              </a:avLst>
            </a:prstGeom>
            <a:solidFill>
              <a:srgbClr val="FFFFFF"/>
            </a:solidFill>
            <a:ln cap="flat" cmpd="sng" w="14300">
              <a:solidFill>
                <a:srgbClr val="DBEAF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7" name="Google Shape;447;p23"/>
            <p:cNvSpPr txBox="1"/>
            <p:nvPr/>
          </p:nvSpPr>
          <p:spPr>
            <a:xfrm>
              <a:off x="190500" y="142875"/>
              <a:ext cx="36672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02 </a:t>
              </a:r>
              <a:r>
                <a:rPr b="1" lang="en" sz="1200">
                  <a:solidFill>
                    <a:srgbClr val="0A192F"/>
                  </a:solidFill>
                  <a:latin typeface="Inter"/>
                  <a:ea typeface="Inter"/>
                  <a:cs typeface="Inter"/>
                  <a:sym typeface="Inter"/>
                </a:rPr>
                <a:t>Dual-State Attribution Auditing</a:t>
              </a:r>
              <a:endParaRPr b="1" sz="120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88925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475569"/>
                </a:buClr>
                <a:buSzPts val="950"/>
                <a:buFont typeface="Inter"/>
                <a:buChar char="●"/>
              </a:pPr>
              <a:r>
                <a:rPr b="0" lang="en" sz="9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Train baseline canary MLP on clean data using 40 candidates.</a:t>
              </a:r>
              <a:endParaRPr b="0" sz="9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88925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475569"/>
                </a:buClr>
                <a:buSzPts val="950"/>
                <a:buFont typeface="Inter"/>
                <a:buChar char="●"/>
              </a:pPr>
              <a:r>
                <a:rPr b="0" lang="en" sz="9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Attack a baseline model with PGD[8], then compare feature importance on normal vs. attacked traffic.</a:t>
              </a:r>
              <a:endParaRPr b="0" sz="9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448" name="Google Shape;448;p23"/>
          <p:cNvGrpSpPr/>
          <p:nvPr/>
        </p:nvGrpSpPr>
        <p:grpSpPr>
          <a:xfrm>
            <a:off x="381000" y="2667000"/>
            <a:ext cx="4048200" cy="1381200"/>
            <a:chOff x="0" y="0"/>
            <a:chExt cx="4048200" cy="1381200"/>
          </a:xfrm>
        </p:grpSpPr>
        <p:sp>
          <p:nvSpPr>
            <p:cNvPr id="449" name="Google Shape;449;p23"/>
            <p:cNvSpPr/>
            <p:nvPr/>
          </p:nvSpPr>
          <p:spPr>
            <a:xfrm>
              <a:off x="0" y="0"/>
              <a:ext cx="4048200" cy="1381200"/>
            </a:xfrm>
            <a:prstGeom prst="roundRect">
              <a:avLst>
                <a:gd fmla="val 8275" name="adj"/>
              </a:avLst>
            </a:prstGeom>
            <a:solidFill>
              <a:srgbClr val="FFFFFF"/>
            </a:solidFill>
            <a:ln cap="flat" cmpd="sng" w="14300">
              <a:solidFill>
                <a:srgbClr val="DBEAF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" name="Google Shape;450;p23"/>
            <p:cNvSpPr txBox="1"/>
            <p:nvPr/>
          </p:nvSpPr>
          <p:spPr>
            <a:xfrm>
              <a:off x="190500" y="142875"/>
              <a:ext cx="3667200" cy="10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5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03 </a:t>
              </a:r>
              <a:r>
                <a:rPr b="1" lang="en" sz="1150">
                  <a:solidFill>
                    <a:srgbClr val="0A192F"/>
                  </a:solidFill>
                  <a:latin typeface="Inter"/>
                  <a:ea typeface="Inter"/>
                  <a:cs typeface="Inter"/>
                  <a:sym typeface="Inter"/>
                </a:rPr>
                <a:t>Exact Mathematical Stability Score (S_j)</a:t>
              </a:r>
              <a:endParaRPr b="1" sz="115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450"/>
                </a:spcAft>
                <a:buNone/>
              </a:pPr>
              <a:r>
                <a:rPr b="0" lang="en" sz="9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Quantifying individual feature robustness under perturbation:</a:t>
              </a:r>
              <a:endParaRPr b="0" sz="9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pic>
          <p:nvPicPr>
            <p:cNvPr id="451" name="Google Shape;451;p23"/>
            <p:cNvPicPr preferRelativeResize="0"/>
            <p:nvPr/>
          </p:nvPicPr>
          <p:blipFill rotWithShape="1">
            <a:blip r:embed="rId4">
              <a:alphaModFix/>
            </a:blip>
            <a:srcRect b="6210" l="0" r="0" t="6201"/>
            <a:stretch/>
          </p:blipFill>
          <p:spPr>
            <a:xfrm>
              <a:off x="366755" y="533688"/>
              <a:ext cx="3314700" cy="8094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52" name="Google Shape;452;p23"/>
          <p:cNvGrpSpPr/>
          <p:nvPr/>
        </p:nvGrpSpPr>
        <p:grpSpPr>
          <a:xfrm>
            <a:off x="4714875" y="2667000"/>
            <a:ext cx="4048200" cy="1381200"/>
            <a:chOff x="0" y="0"/>
            <a:chExt cx="4048200" cy="1381200"/>
          </a:xfrm>
        </p:grpSpPr>
        <p:sp>
          <p:nvSpPr>
            <p:cNvPr id="453" name="Google Shape;453;p23"/>
            <p:cNvSpPr/>
            <p:nvPr/>
          </p:nvSpPr>
          <p:spPr>
            <a:xfrm>
              <a:off x="0" y="0"/>
              <a:ext cx="4048200" cy="1381200"/>
            </a:xfrm>
            <a:prstGeom prst="roundRect">
              <a:avLst>
                <a:gd fmla="val 8275" name="adj"/>
              </a:avLst>
            </a:prstGeom>
            <a:solidFill>
              <a:srgbClr val="FFFFFF"/>
            </a:solidFill>
            <a:ln cap="flat" cmpd="sng" w="14300">
              <a:solidFill>
                <a:srgbClr val="DBEAF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" name="Google Shape;454;p23"/>
            <p:cNvSpPr txBox="1"/>
            <p:nvPr/>
          </p:nvSpPr>
          <p:spPr>
            <a:xfrm>
              <a:off x="190500" y="142875"/>
              <a:ext cx="3667200" cy="10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5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04 </a:t>
              </a:r>
              <a:r>
                <a:rPr b="1" lang="en" sz="1150">
                  <a:solidFill>
                    <a:srgbClr val="0A192F"/>
                  </a:solidFill>
                  <a:latin typeface="Inter"/>
                  <a:ea typeface="Inter"/>
                  <a:cs typeface="Inter"/>
                  <a:sym typeface="Inter"/>
                </a:rPr>
                <a:t>80% Cumulative Stability-Mass Selection</a:t>
              </a:r>
              <a:endParaRPr b="1" sz="115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450"/>
                </a:spcAft>
                <a:buNone/>
              </a:pPr>
              <a:r>
                <a:rPr b="0" lang="en" sz="9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Rank features descending and select minimal subset </a:t>
              </a:r>
              <a:r>
                <a:rPr b="1" lang="en" sz="950">
                  <a:solidFill>
                    <a:srgbClr val="0A192F"/>
                  </a:solidFill>
                  <a:latin typeface="Inter"/>
                  <a:ea typeface="Inter"/>
                  <a:cs typeface="Inter"/>
                  <a:sym typeface="Inter"/>
                </a:rPr>
                <a:t>m</a:t>
              </a:r>
              <a:r>
                <a:rPr b="0" lang="en" sz="9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satisfying:</a:t>
              </a:r>
              <a:endParaRPr b="0" sz="9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pic>
          <p:nvPicPr>
            <p:cNvPr id="455" name="Google Shape;455;p23"/>
            <p:cNvPicPr preferRelativeResize="0"/>
            <p:nvPr/>
          </p:nvPicPr>
          <p:blipFill rotWithShape="1">
            <a:blip r:embed="rId5">
              <a:alphaModFix/>
            </a:blip>
            <a:srcRect b="12373" l="0" r="0" t="12365"/>
            <a:stretch/>
          </p:blipFill>
          <p:spPr>
            <a:xfrm>
              <a:off x="847725" y="609600"/>
              <a:ext cx="2880300" cy="627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56" name="Google Shape;456;p23"/>
          <p:cNvGrpSpPr/>
          <p:nvPr/>
        </p:nvGrpSpPr>
        <p:grpSpPr>
          <a:xfrm>
            <a:off x="381000" y="4191000"/>
            <a:ext cx="4048200" cy="400200"/>
            <a:chOff x="0" y="0"/>
            <a:chExt cx="4048200" cy="400200"/>
          </a:xfrm>
        </p:grpSpPr>
        <p:sp>
          <p:nvSpPr>
            <p:cNvPr id="457" name="Google Shape;457;p23"/>
            <p:cNvSpPr/>
            <p:nvPr/>
          </p:nvSpPr>
          <p:spPr>
            <a:xfrm>
              <a:off x="0" y="0"/>
              <a:ext cx="4048200" cy="400200"/>
            </a:xfrm>
            <a:prstGeom prst="roundRect">
              <a:avLst>
                <a:gd fmla="val 19047" name="adj"/>
              </a:avLst>
            </a:prstGeom>
            <a:solidFill>
              <a:srgbClr val="112240"/>
            </a:solidFill>
            <a:ln cap="flat" cmpd="sng" w="14300">
              <a:solidFill>
                <a:srgbClr val="06B6D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8" name="Google Shape;458;p23"/>
            <p:cNvSpPr txBox="1"/>
            <p:nvPr/>
          </p:nvSpPr>
          <p:spPr>
            <a:xfrm>
              <a:off x="0" y="0"/>
              <a:ext cx="4048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600">
                  <a:solidFill>
                    <a:srgbClr val="06B6D4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27 </a:t>
              </a:r>
              <a:r>
                <a:rPr b="1" lang="en" sz="10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STABLE FEATURES SELECTED</a:t>
              </a:r>
              <a:endParaRPr b="0" sz="1600">
                <a:solidFill>
                  <a:srgbClr val="06B6D4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  <p:grpSp>
        <p:nvGrpSpPr>
          <p:cNvPr id="459" name="Google Shape;459;p23"/>
          <p:cNvGrpSpPr/>
          <p:nvPr/>
        </p:nvGrpSpPr>
        <p:grpSpPr>
          <a:xfrm>
            <a:off x="4714875" y="4191000"/>
            <a:ext cx="4048200" cy="400200"/>
            <a:chOff x="0" y="0"/>
            <a:chExt cx="4048200" cy="400200"/>
          </a:xfrm>
        </p:grpSpPr>
        <p:sp>
          <p:nvSpPr>
            <p:cNvPr id="460" name="Google Shape;460;p23"/>
            <p:cNvSpPr/>
            <p:nvPr/>
          </p:nvSpPr>
          <p:spPr>
            <a:xfrm>
              <a:off x="0" y="0"/>
              <a:ext cx="4048200" cy="400200"/>
            </a:xfrm>
            <a:prstGeom prst="roundRect">
              <a:avLst>
                <a:gd fmla="val 19047" name="adj"/>
              </a:avLst>
            </a:prstGeom>
            <a:solidFill>
              <a:srgbClr val="112240"/>
            </a:solidFill>
            <a:ln cap="flat" cmpd="sng" w="9525">
              <a:solidFill>
                <a:srgbClr val="DC262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" name="Google Shape;461;p23"/>
            <p:cNvSpPr txBox="1"/>
            <p:nvPr/>
          </p:nvSpPr>
          <p:spPr>
            <a:xfrm>
              <a:off x="215900" y="0"/>
              <a:ext cx="35937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600">
                  <a:solidFill>
                    <a:srgbClr val="DC2626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13 </a:t>
              </a:r>
              <a:r>
                <a:rPr b="1" lang="en" sz="1000">
                  <a:solidFill>
                    <a:srgbClr val="E2E8F0"/>
                  </a:solidFill>
                  <a:latin typeface="Inter"/>
                  <a:ea typeface="Inter"/>
                  <a:cs typeface="Inter"/>
                  <a:sym typeface="Inter"/>
                </a:rPr>
                <a:t>VOLATILE FEATURES PRUNED</a:t>
              </a:r>
              <a:endParaRPr b="0" sz="1600">
                <a:solidFill>
                  <a:srgbClr val="DC2626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  <p:sp>
        <p:nvSpPr>
          <p:cNvPr id="462" name="Google Shape;462;p23"/>
          <p:cNvSpPr txBox="1"/>
          <p:nvPr/>
        </p:nvSpPr>
        <p:spPr>
          <a:xfrm>
            <a:off x="8371425" y="4776393"/>
            <a:ext cx="391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64748B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09</a:t>
            </a:r>
            <a:endParaRPr sz="1200">
              <a:solidFill>
                <a:srgbClr val="64748B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7" name="Google Shape;467;p24"/>
          <p:cNvPicPr preferRelativeResize="0"/>
          <p:nvPr/>
        </p:nvPicPr>
        <p:blipFill>
          <a:blip r:embed="rId3">
            <a:alphaModFix amt="40000"/>
          </a:blip>
          <a:stretch>
            <a:fillRect/>
          </a:stretch>
        </p:blipFill>
        <p:spPr>
          <a:xfrm>
            <a:off x="0" y="19936"/>
            <a:ext cx="9144002" cy="5103629"/>
          </a:xfrm>
          <a:prstGeom prst="rect">
            <a:avLst/>
          </a:prstGeom>
          <a:noFill/>
          <a:ln>
            <a:noFill/>
          </a:ln>
        </p:spPr>
      </p:pic>
      <p:sp>
        <p:nvSpPr>
          <p:cNvPr id="468" name="Google Shape;468;p24"/>
          <p:cNvSpPr/>
          <p:nvPr/>
        </p:nvSpPr>
        <p:spPr>
          <a:xfrm>
            <a:off x="381000" y="1000125"/>
            <a:ext cx="8382000" cy="96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24"/>
          <p:cNvSpPr/>
          <p:nvPr/>
        </p:nvSpPr>
        <p:spPr>
          <a:xfrm>
            <a:off x="381000" y="4667250"/>
            <a:ext cx="8382000" cy="96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70" name="Google Shape;470;p24"/>
          <p:cNvGrpSpPr/>
          <p:nvPr/>
        </p:nvGrpSpPr>
        <p:grpSpPr>
          <a:xfrm>
            <a:off x="381000" y="228600"/>
            <a:ext cx="8381925" cy="714300"/>
            <a:chOff x="0" y="-57150"/>
            <a:chExt cx="8381925" cy="714300"/>
          </a:xfrm>
        </p:grpSpPr>
        <p:sp>
          <p:nvSpPr>
            <p:cNvPr id="471" name="Google Shape;471;p24"/>
            <p:cNvSpPr/>
            <p:nvPr/>
          </p:nvSpPr>
          <p:spPr>
            <a:xfrm>
              <a:off x="0" y="0"/>
              <a:ext cx="285900" cy="190500"/>
            </a:xfrm>
            <a:custGeom>
              <a:rect b="b" l="l" r="r" t="t"/>
              <a:pathLst>
                <a:path extrusionOk="0" h="120000" w="120000">
                  <a:moveTo>
                    <a:pt x="40000" y="0"/>
                  </a:moveTo>
                  <a:lnTo>
                    <a:pt x="120000" y="0"/>
                  </a:lnTo>
                  <a:lnTo>
                    <a:pt x="8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06B6D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" name="Google Shape;472;p24"/>
            <p:cNvSpPr/>
            <p:nvPr/>
          </p:nvSpPr>
          <p:spPr>
            <a:xfrm>
              <a:off x="238125" y="0"/>
              <a:ext cx="142800" cy="190500"/>
            </a:xfrm>
            <a:custGeom>
              <a:rect b="b" l="l" r="r" t="t"/>
              <a:pathLst>
                <a:path extrusionOk="0" h="120000" w="120000">
                  <a:moveTo>
                    <a:pt x="80000" y="0"/>
                  </a:moveTo>
                  <a:lnTo>
                    <a:pt x="120000" y="0"/>
                  </a:lnTo>
                  <a:lnTo>
                    <a:pt x="4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3" name="Google Shape;473;p24"/>
            <p:cNvSpPr txBox="1"/>
            <p:nvPr/>
          </p:nvSpPr>
          <p:spPr>
            <a:xfrm>
              <a:off x="428625" y="-57150"/>
              <a:ext cx="79533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900">
                  <a:solidFill>
                    <a:srgbClr val="0A192F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Proposed Methodology : Two-Phase Dynamic</a:t>
              </a:r>
              <a:r>
                <a:rPr lang="en" sz="1900">
                  <a:solidFill>
                    <a:srgbClr val="0A192F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 Training</a:t>
              </a:r>
              <a:endParaRPr b="0" sz="1900">
                <a:solidFill>
                  <a:srgbClr val="0A192F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450"/>
                </a:spcAft>
                <a:buNone/>
              </a:pPr>
              <a:r>
                <a:rPr b="0" lang="en" sz="10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Curriculum training to mitigate static attack staleness.</a:t>
              </a:r>
              <a:endParaRPr b="0" sz="10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474" name="Google Shape;474;p24"/>
          <p:cNvGrpSpPr/>
          <p:nvPr/>
        </p:nvGrpSpPr>
        <p:grpSpPr>
          <a:xfrm>
            <a:off x="381000" y="1095375"/>
            <a:ext cx="8382000" cy="685800"/>
            <a:chOff x="0" y="0"/>
            <a:chExt cx="8382000" cy="685800"/>
          </a:xfrm>
        </p:grpSpPr>
        <p:sp>
          <p:nvSpPr>
            <p:cNvPr id="475" name="Google Shape;475;p24"/>
            <p:cNvSpPr/>
            <p:nvPr/>
          </p:nvSpPr>
          <p:spPr>
            <a:xfrm>
              <a:off x="0" y="0"/>
              <a:ext cx="8382000" cy="685800"/>
            </a:xfrm>
            <a:prstGeom prst="roundRect">
              <a:avLst>
                <a:gd fmla="val 11111" name="adj"/>
              </a:avLst>
            </a:prstGeom>
            <a:solidFill>
              <a:schemeClr val="l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" name="Google Shape;476;p24"/>
            <p:cNvSpPr/>
            <p:nvPr/>
          </p:nvSpPr>
          <p:spPr>
            <a:xfrm>
              <a:off x="0" y="190500"/>
              <a:ext cx="38100" cy="304800"/>
            </a:xfrm>
            <a:prstGeom prst="roundRect">
              <a:avLst>
                <a:gd fmla="val 50000" name="adj"/>
              </a:avLst>
            </a:prstGeom>
            <a:solidFill>
              <a:srgbClr val="1E90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" name="Google Shape;477;p24"/>
            <p:cNvSpPr txBox="1"/>
            <p:nvPr/>
          </p:nvSpPr>
          <p:spPr>
            <a:xfrm>
              <a:off x="190500" y="114300"/>
              <a:ext cx="8001000" cy="457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35">
                  <a:solidFill>
                    <a:srgbClr val="0A192F"/>
                  </a:solidFill>
                  <a:latin typeface="Inter"/>
                  <a:ea typeface="Inter"/>
                  <a:cs typeface="Inter"/>
                  <a:sym typeface="Inter"/>
                </a:rPr>
                <a:t>Curriculum Optimization Rationale:</a:t>
              </a:r>
              <a:endParaRPr b="1" sz="935">
                <a:solidFill>
                  <a:srgbClr val="0A192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808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Why Two Phases? Attacking a brand-new model from day one ruins its learning. It must learn normal traffic patterns first before facing attacks. </a:t>
              </a:r>
              <a:endParaRPr b="0" sz="808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478" name="Google Shape;478;p24"/>
          <p:cNvGrpSpPr/>
          <p:nvPr/>
        </p:nvGrpSpPr>
        <p:grpSpPr>
          <a:xfrm>
            <a:off x="381000" y="1924050"/>
            <a:ext cx="4048200" cy="1619100"/>
            <a:chOff x="0" y="0"/>
            <a:chExt cx="4048200" cy="1619100"/>
          </a:xfrm>
        </p:grpSpPr>
        <p:sp>
          <p:nvSpPr>
            <p:cNvPr id="479" name="Google Shape;479;p24"/>
            <p:cNvSpPr/>
            <p:nvPr/>
          </p:nvSpPr>
          <p:spPr>
            <a:xfrm>
              <a:off x="0" y="0"/>
              <a:ext cx="4048200" cy="1619100"/>
            </a:xfrm>
            <a:prstGeom prst="roundRect">
              <a:avLst>
                <a:gd fmla="val 7058" name="adj"/>
              </a:avLst>
            </a:prstGeom>
            <a:solidFill>
              <a:schemeClr val="l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" name="Google Shape;480;p24"/>
            <p:cNvSpPr/>
            <p:nvPr/>
          </p:nvSpPr>
          <p:spPr>
            <a:xfrm>
              <a:off x="0" y="190500"/>
              <a:ext cx="38100" cy="381000"/>
            </a:xfrm>
            <a:prstGeom prst="roundRect">
              <a:avLst>
                <a:gd fmla="val 50000" name="adj"/>
              </a:avLst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" name="Google Shape;481;p24"/>
            <p:cNvSpPr txBox="1"/>
            <p:nvPr/>
          </p:nvSpPr>
          <p:spPr>
            <a:xfrm>
              <a:off x="190500" y="142875"/>
              <a:ext cx="3667200" cy="1333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2563EB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PHASE 1</a:t>
              </a:r>
              <a:endParaRPr b="1" sz="900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0A192F"/>
                  </a:solidFill>
                  <a:latin typeface="Inter"/>
                  <a:ea typeface="Inter"/>
                  <a:cs typeface="Inter"/>
                  <a:sym typeface="Inter"/>
                </a:rPr>
                <a:t>Representation Warmup (Epochs 1-10)</a:t>
              </a:r>
              <a:endParaRPr b="0" sz="9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88925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334155"/>
                </a:buClr>
                <a:buSzPts val="950"/>
                <a:buFont typeface="Inter"/>
                <a:buChar char="●"/>
              </a:pPr>
              <a:r>
                <a:rPr b="1" lang="en" sz="9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Phase 1 (Epochs 1–10):</a:t>
              </a:r>
              <a:r>
                <a:rPr lang="en" sz="9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Train on normal traffic first so the model builds solid, accurate foundations. </a:t>
              </a:r>
              <a:endParaRPr sz="9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45720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88925" lvl="0" marL="457200" rtl="0" algn="l">
                <a:spcBef>
                  <a:spcPts val="0"/>
                </a:spcBef>
                <a:spcAft>
                  <a:spcPts val="450"/>
                </a:spcAft>
                <a:buClr>
                  <a:srgbClr val="334155"/>
                </a:buClr>
                <a:buSzPts val="950"/>
                <a:buFont typeface="Inter"/>
                <a:buChar char="●"/>
              </a:pPr>
              <a:r>
                <a:rPr lang="en" sz="9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Train exclusively on clean data using standard cross-entropy loss.</a:t>
              </a:r>
              <a:endParaRPr sz="9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482" name="Google Shape;482;p24"/>
          <p:cNvGrpSpPr/>
          <p:nvPr/>
        </p:nvGrpSpPr>
        <p:grpSpPr>
          <a:xfrm>
            <a:off x="4714875" y="1924050"/>
            <a:ext cx="4048200" cy="1619100"/>
            <a:chOff x="0" y="0"/>
            <a:chExt cx="4048200" cy="1619100"/>
          </a:xfrm>
        </p:grpSpPr>
        <p:sp>
          <p:nvSpPr>
            <p:cNvPr id="483" name="Google Shape;483;p24"/>
            <p:cNvSpPr/>
            <p:nvPr/>
          </p:nvSpPr>
          <p:spPr>
            <a:xfrm>
              <a:off x="0" y="0"/>
              <a:ext cx="4048200" cy="1619100"/>
            </a:xfrm>
            <a:prstGeom prst="roundRect">
              <a:avLst>
                <a:gd fmla="val 7058" name="adj"/>
              </a:avLst>
            </a:prstGeom>
            <a:solidFill>
              <a:schemeClr val="l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" name="Google Shape;484;p24"/>
            <p:cNvSpPr/>
            <p:nvPr/>
          </p:nvSpPr>
          <p:spPr>
            <a:xfrm>
              <a:off x="0" y="190500"/>
              <a:ext cx="38100" cy="381000"/>
            </a:xfrm>
            <a:prstGeom prst="roundRect">
              <a:avLst>
                <a:gd fmla="val 50000" name="adj"/>
              </a:avLst>
            </a:prstGeom>
            <a:solidFill>
              <a:srgbClr val="0369A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" name="Google Shape;485;p24"/>
            <p:cNvSpPr txBox="1"/>
            <p:nvPr/>
          </p:nvSpPr>
          <p:spPr>
            <a:xfrm>
              <a:off x="190500" y="142875"/>
              <a:ext cx="3667200" cy="1333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0369A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PHASE 2</a:t>
              </a:r>
              <a:endParaRPr b="1" sz="900">
                <a:solidFill>
                  <a:srgbClr val="0369A1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0A192F"/>
                  </a:solidFill>
                  <a:latin typeface="Inter"/>
                  <a:ea typeface="Inter"/>
                  <a:cs typeface="Inter"/>
                  <a:sym typeface="Inter"/>
                </a:rPr>
                <a:t>Dynamic Online Training (Epochs 11-50)</a:t>
              </a:r>
              <a:endParaRPr b="1" sz="1300">
                <a:solidFill>
                  <a:srgbClr val="0A192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88925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334155"/>
                </a:buClr>
                <a:buSzPts val="950"/>
                <a:buFont typeface="Inter"/>
                <a:buChar char="●"/>
              </a:pPr>
              <a:r>
                <a:rPr b="1" lang="en" sz="9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Phase 2 (Epochs 11–50):</a:t>
              </a:r>
              <a:r>
                <a:rPr lang="en" sz="9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Generate live, fresh attacks for every training batch to defeat evolving attacks without hurting normal accuracy. </a:t>
              </a:r>
              <a:endParaRPr b="0" sz="9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88925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334155"/>
                </a:buClr>
                <a:buSzPts val="950"/>
                <a:buFont typeface="Inter"/>
                <a:buChar char="●"/>
              </a:pPr>
              <a:r>
                <a:rPr b="0" lang="en" sz="9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Updates model parameters via a balanced joint objective.</a:t>
              </a:r>
              <a:endParaRPr b="0" sz="9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486" name="Google Shape;486;p24"/>
          <p:cNvGrpSpPr/>
          <p:nvPr/>
        </p:nvGrpSpPr>
        <p:grpSpPr>
          <a:xfrm>
            <a:off x="381000" y="3657600"/>
            <a:ext cx="8382000" cy="800100"/>
            <a:chOff x="0" y="0"/>
            <a:chExt cx="8382000" cy="800100"/>
          </a:xfrm>
        </p:grpSpPr>
        <p:sp>
          <p:nvSpPr>
            <p:cNvPr id="487" name="Google Shape;487;p24"/>
            <p:cNvSpPr/>
            <p:nvPr/>
          </p:nvSpPr>
          <p:spPr>
            <a:xfrm>
              <a:off x="0" y="0"/>
              <a:ext cx="8382000" cy="800100"/>
            </a:xfrm>
            <a:prstGeom prst="roundRect">
              <a:avLst>
                <a:gd fmla="val 9523" name="adj"/>
              </a:avLst>
            </a:prstGeom>
            <a:solidFill>
              <a:srgbClr val="112240"/>
            </a:solidFill>
            <a:ln cap="flat" cmpd="sng" w="9525">
              <a:solidFill>
                <a:srgbClr val="06B6D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" name="Google Shape;488;p24"/>
            <p:cNvSpPr txBox="1"/>
            <p:nvPr/>
          </p:nvSpPr>
          <p:spPr>
            <a:xfrm>
              <a:off x="190500" y="114300"/>
              <a:ext cx="8001000" cy="571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50">
                  <a:solidFill>
                    <a:srgbClr val="06B6D4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Joint Objective:</a:t>
              </a:r>
              <a:r>
                <a:rPr b="1" lang="en" sz="950">
                  <a:solidFill>
                    <a:srgbClr val="00F0FF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</a:t>
              </a:r>
              <a:endParaRPr b="1" sz="950">
                <a:solidFill>
                  <a:srgbClr val="00F0FF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" sz="950">
                  <a:solidFill>
                    <a:srgbClr val="06B6D4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Result:</a:t>
              </a:r>
              <a:r>
                <a:rPr b="1" lang="en" sz="950">
                  <a:solidFill>
                    <a:srgbClr val="00F0FF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</a:t>
              </a:r>
              <a:r>
                <a:rPr b="0" lang="en" sz="950">
                  <a:solidFill>
                    <a:srgbClr val="E2E8F0"/>
                  </a:solidFill>
                  <a:latin typeface="Inter"/>
                  <a:ea typeface="Inter"/>
                  <a:cs typeface="Inter"/>
                  <a:sym typeface="Inter"/>
                </a:rPr>
                <a:t>Mitigates static attack staleness while preserving benign representation anchors.</a:t>
              </a:r>
              <a:endParaRPr b="1" sz="950">
                <a:solidFill>
                  <a:srgbClr val="00F0FF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</p:grpSp>
      <p:pic>
        <p:nvPicPr>
          <p:cNvPr id="489" name="Google Shape;489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40150" y="3834550"/>
            <a:ext cx="3938226" cy="260825"/>
          </a:xfrm>
          <a:prstGeom prst="rect">
            <a:avLst/>
          </a:prstGeom>
          <a:noFill/>
          <a:ln>
            <a:noFill/>
          </a:ln>
        </p:spPr>
      </p:pic>
      <p:sp>
        <p:nvSpPr>
          <p:cNvPr id="490" name="Google Shape;490;p24"/>
          <p:cNvSpPr txBox="1"/>
          <p:nvPr/>
        </p:nvSpPr>
        <p:spPr>
          <a:xfrm>
            <a:off x="8371425" y="4776393"/>
            <a:ext cx="391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64748B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10</a:t>
            </a:r>
            <a:endParaRPr sz="1200">
              <a:solidFill>
                <a:srgbClr val="64748B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5" name="Google Shape;495;p25"/>
          <p:cNvPicPr preferRelativeResize="0"/>
          <p:nvPr/>
        </p:nvPicPr>
        <p:blipFill>
          <a:blip r:embed="rId3">
            <a:alphaModFix amt="40000"/>
          </a:blip>
          <a:stretch>
            <a:fillRect/>
          </a:stretch>
        </p:blipFill>
        <p:spPr>
          <a:xfrm>
            <a:off x="0" y="19936"/>
            <a:ext cx="9144002" cy="5103629"/>
          </a:xfrm>
          <a:prstGeom prst="rect">
            <a:avLst/>
          </a:prstGeom>
          <a:noFill/>
          <a:ln>
            <a:noFill/>
          </a:ln>
        </p:spPr>
      </p:pic>
      <p:sp>
        <p:nvSpPr>
          <p:cNvPr id="496" name="Google Shape;496;p25"/>
          <p:cNvSpPr/>
          <p:nvPr/>
        </p:nvSpPr>
        <p:spPr>
          <a:xfrm>
            <a:off x="381000" y="952500"/>
            <a:ext cx="8382000" cy="96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25"/>
          <p:cNvSpPr/>
          <p:nvPr/>
        </p:nvSpPr>
        <p:spPr>
          <a:xfrm>
            <a:off x="381000" y="4667250"/>
            <a:ext cx="8382000" cy="96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8" name="Google Shape;498;p25"/>
          <p:cNvGrpSpPr/>
          <p:nvPr/>
        </p:nvGrpSpPr>
        <p:grpSpPr>
          <a:xfrm>
            <a:off x="381000" y="342900"/>
            <a:ext cx="380925" cy="190500"/>
            <a:chOff x="0" y="0"/>
            <a:chExt cx="380925" cy="190500"/>
          </a:xfrm>
        </p:grpSpPr>
        <p:sp>
          <p:nvSpPr>
            <p:cNvPr id="499" name="Google Shape;499;p25"/>
            <p:cNvSpPr/>
            <p:nvPr/>
          </p:nvSpPr>
          <p:spPr>
            <a:xfrm>
              <a:off x="0" y="0"/>
              <a:ext cx="285900" cy="190500"/>
            </a:xfrm>
            <a:custGeom>
              <a:rect b="b" l="l" r="r" t="t"/>
              <a:pathLst>
                <a:path extrusionOk="0" h="120000" w="120000">
                  <a:moveTo>
                    <a:pt x="40000" y="0"/>
                  </a:moveTo>
                  <a:lnTo>
                    <a:pt x="120000" y="0"/>
                  </a:lnTo>
                  <a:lnTo>
                    <a:pt x="8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06B6D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" name="Google Shape;500;p25"/>
            <p:cNvSpPr/>
            <p:nvPr/>
          </p:nvSpPr>
          <p:spPr>
            <a:xfrm>
              <a:off x="238125" y="0"/>
              <a:ext cx="142800" cy="190500"/>
            </a:xfrm>
            <a:custGeom>
              <a:rect b="b" l="l" r="r" t="t"/>
              <a:pathLst>
                <a:path extrusionOk="0" h="120000" w="120000">
                  <a:moveTo>
                    <a:pt x="80000" y="0"/>
                  </a:moveTo>
                  <a:lnTo>
                    <a:pt x="120000" y="0"/>
                  </a:lnTo>
                  <a:lnTo>
                    <a:pt x="4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01" name="Google Shape;501;p25"/>
          <p:cNvSpPr txBox="1"/>
          <p:nvPr/>
        </p:nvSpPr>
        <p:spPr>
          <a:xfrm>
            <a:off x="809625" y="228600"/>
            <a:ext cx="79533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000">
                <a:solidFill>
                  <a:srgbClr val="0A192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Dataset &amp; Environment</a:t>
            </a:r>
            <a:endParaRPr b="0" sz="2000">
              <a:solidFill>
                <a:srgbClr val="0A192F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l">
              <a:spcBef>
                <a:spcPts val="225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Experimental configuration and technical architecture parameters</a:t>
            </a:r>
            <a:endParaRPr b="0" sz="10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502" name="Google Shape;502;p25"/>
          <p:cNvGrpSpPr/>
          <p:nvPr/>
        </p:nvGrpSpPr>
        <p:grpSpPr>
          <a:xfrm>
            <a:off x="381000" y="1095375"/>
            <a:ext cx="2619300" cy="3381300"/>
            <a:chOff x="0" y="0"/>
            <a:chExt cx="2619300" cy="3381300"/>
          </a:xfrm>
        </p:grpSpPr>
        <p:sp>
          <p:nvSpPr>
            <p:cNvPr id="503" name="Google Shape;503;p25"/>
            <p:cNvSpPr/>
            <p:nvPr/>
          </p:nvSpPr>
          <p:spPr>
            <a:xfrm>
              <a:off x="0" y="0"/>
              <a:ext cx="2619300" cy="3381300"/>
            </a:xfrm>
            <a:prstGeom prst="roundRect">
              <a:avLst>
                <a:gd fmla="val 4363" name="adj"/>
              </a:avLst>
            </a:prstGeom>
            <a:solidFill>
              <a:srgbClr val="FFFFFF"/>
            </a:solidFill>
            <a:ln cap="flat" cmpd="sng" w="143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4" name="Google Shape;504;p25"/>
            <p:cNvSpPr/>
            <p:nvPr/>
          </p:nvSpPr>
          <p:spPr>
            <a:xfrm>
              <a:off x="142875" y="171450"/>
              <a:ext cx="57300" cy="342900"/>
            </a:xfrm>
            <a:prstGeom prst="roundRect">
              <a:avLst>
                <a:gd fmla="val 50000" name="adj"/>
              </a:avLst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5" name="Google Shape;505;p25"/>
            <p:cNvSpPr txBox="1"/>
            <p:nvPr/>
          </p:nvSpPr>
          <p:spPr>
            <a:xfrm>
              <a:off x="304800" y="142875"/>
              <a:ext cx="2171700" cy="309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50">
                  <a:solidFill>
                    <a:srgbClr val="0A192F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1. Benchmark Dataset</a:t>
              </a:r>
              <a:endParaRPr b="0" sz="1250">
                <a:solidFill>
                  <a:srgbClr val="0A192F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9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Standardized</a:t>
              </a:r>
              <a:r>
                <a:rPr lang="en" sz="9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`dhoogla/csecicids2018` Parquet curation </a:t>
              </a:r>
              <a:r>
                <a:rPr b="1" lang="en" sz="95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[19]</a:t>
              </a:r>
              <a:r>
                <a:rPr lang="en" sz="9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(replaces raw csv to resolve corrupted headers and NaN flaws while guaranteeing 100% reproducibility).</a:t>
              </a:r>
              <a:endParaRPr sz="9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Total Valid Flow Volume:</a:t>
              </a:r>
              <a:endParaRPr b="1" sz="9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2200">
                  <a:solidFill>
                    <a:srgbClr val="2563EB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6,320,003</a:t>
              </a:r>
              <a:endParaRPr b="0" sz="2200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5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flows (post-sanitization).</a:t>
              </a:r>
              <a:endParaRPr sz="85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0A192F"/>
                  </a:solidFill>
                  <a:latin typeface="Inter"/>
                  <a:ea typeface="Inter"/>
                  <a:cs typeface="Inter"/>
                  <a:sym typeface="Inter"/>
                </a:rPr>
                <a:t>Partition Breakdown:</a:t>
              </a:r>
              <a:endParaRPr b="1" sz="900">
                <a:solidFill>
                  <a:srgbClr val="0A192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" sz="850">
                  <a:solidFill>
                    <a:srgbClr val="0A192F"/>
                  </a:solidFill>
                  <a:latin typeface="Inter"/>
                  <a:ea typeface="Inter"/>
                  <a:cs typeface="Inter"/>
                  <a:sym typeface="Inter"/>
                </a:rPr>
                <a:t>72% Core Train:</a:t>
              </a:r>
              <a:r>
                <a:rPr lang="en" sz="8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4.55M flows</a:t>
              </a:r>
              <a:endParaRPr sz="850"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50">
                  <a:solidFill>
                    <a:srgbClr val="0A192F"/>
                  </a:solidFill>
                  <a:latin typeface="Inter"/>
                  <a:ea typeface="Inter"/>
                  <a:cs typeface="Inter"/>
                  <a:sym typeface="Inter"/>
                </a:rPr>
                <a:t>8% Validation:</a:t>
              </a:r>
              <a:r>
                <a:rPr lang="en" sz="8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505K flows</a:t>
              </a:r>
              <a:endParaRPr sz="850"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50">
                  <a:solidFill>
                    <a:srgbClr val="0A192F"/>
                  </a:solidFill>
                  <a:latin typeface="Inter"/>
                  <a:ea typeface="Inter"/>
                  <a:cs typeface="Inter"/>
                  <a:sym typeface="Inter"/>
                </a:rPr>
                <a:t>20% Frozen Test:</a:t>
              </a:r>
              <a:r>
                <a:rPr lang="en" sz="8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1.26M flows</a:t>
              </a:r>
              <a:endParaRPr sz="850"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506" name="Google Shape;506;p25"/>
          <p:cNvGrpSpPr/>
          <p:nvPr/>
        </p:nvGrpSpPr>
        <p:grpSpPr>
          <a:xfrm>
            <a:off x="3262313" y="1095375"/>
            <a:ext cx="2619300" cy="3381300"/>
            <a:chOff x="0" y="0"/>
            <a:chExt cx="2619300" cy="3381300"/>
          </a:xfrm>
        </p:grpSpPr>
        <p:sp>
          <p:nvSpPr>
            <p:cNvPr id="507" name="Google Shape;507;p25"/>
            <p:cNvSpPr/>
            <p:nvPr/>
          </p:nvSpPr>
          <p:spPr>
            <a:xfrm>
              <a:off x="0" y="0"/>
              <a:ext cx="2619300" cy="3381300"/>
            </a:xfrm>
            <a:prstGeom prst="roundRect">
              <a:avLst>
                <a:gd fmla="val 4363" name="adj"/>
              </a:avLst>
            </a:prstGeom>
            <a:solidFill>
              <a:srgbClr val="FFFFFF"/>
            </a:solidFill>
            <a:ln cap="flat" cmpd="sng" w="14300">
              <a:solidFill>
                <a:srgbClr val="06B6D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" name="Google Shape;508;p25"/>
            <p:cNvSpPr/>
            <p:nvPr/>
          </p:nvSpPr>
          <p:spPr>
            <a:xfrm>
              <a:off x="142875" y="171450"/>
              <a:ext cx="57300" cy="342900"/>
            </a:xfrm>
            <a:prstGeom prst="roundRect">
              <a:avLst>
                <a:gd fmla="val 50000" name="adj"/>
              </a:avLst>
            </a:prstGeom>
            <a:solidFill>
              <a:srgbClr val="06B6D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" name="Google Shape;509;p25"/>
            <p:cNvSpPr txBox="1"/>
            <p:nvPr/>
          </p:nvSpPr>
          <p:spPr>
            <a:xfrm>
              <a:off x="304800" y="142875"/>
              <a:ext cx="2171700" cy="309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50">
                  <a:solidFill>
                    <a:srgbClr val="0A192F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2. Platform &amp; Stack</a:t>
              </a:r>
              <a:endParaRPr b="0" sz="1250">
                <a:solidFill>
                  <a:srgbClr val="0A192F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950">
                  <a:solidFill>
                    <a:srgbClr val="0A192F"/>
                  </a:solidFill>
                  <a:latin typeface="Inter"/>
                  <a:ea typeface="Inter"/>
                  <a:cs typeface="Inter"/>
                  <a:sym typeface="Inter"/>
                </a:rPr>
                <a:t>Platform: </a:t>
              </a:r>
              <a:r>
                <a:rPr lang="en" sz="92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AMD Radeon RX 7600 (8 GB VRAM, RDNA 3 architecture).</a:t>
              </a:r>
              <a:endParaRPr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950">
                  <a:solidFill>
                    <a:srgbClr val="0A192F"/>
                  </a:solidFill>
                  <a:latin typeface="Inter"/>
                  <a:ea typeface="Inter"/>
                  <a:cs typeface="Inter"/>
                  <a:sym typeface="Inter"/>
                </a:rPr>
                <a:t>Software Stack: </a:t>
              </a:r>
              <a:r>
                <a:rPr lang="en" sz="92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Python 3.12, PyTorch, ROCm</a:t>
              </a:r>
              <a:r>
                <a:rPr lang="en" sz="92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Windows</a:t>
              </a:r>
              <a:r>
                <a:rPr lang="en" sz="92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, Adversarial Robustness Toolbox.</a:t>
              </a:r>
              <a:endParaRPr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950">
                  <a:solidFill>
                    <a:srgbClr val="0A192F"/>
                  </a:solidFill>
                  <a:latin typeface="Inter"/>
                  <a:ea typeface="Inter"/>
                  <a:cs typeface="Inter"/>
                  <a:sym typeface="Inter"/>
                </a:rPr>
                <a:t>Batch Optimization: </a:t>
              </a:r>
              <a:r>
                <a:rPr lang="en" sz="92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Vectorized GPU tensor operations </a:t>
              </a:r>
              <a:r>
                <a:rPr b="0" lang="en" sz="920">
                  <a:solidFill>
                    <a:srgbClr val="2563E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(Batch Size = 2048)</a:t>
              </a:r>
              <a:r>
                <a:rPr lang="en" sz="92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, mixed-precision.</a:t>
              </a: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510" name="Google Shape;510;p25"/>
          <p:cNvSpPr/>
          <p:nvPr/>
        </p:nvSpPr>
        <p:spPr>
          <a:xfrm>
            <a:off x="6143625" y="1095375"/>
            <a:ext cx="2619300" cy="3381300"/>
          </a:xfrm>
          <a:prstGeom prst="roundRect">
            <a:avLst>
              <a:gd fmla="val 4363" name="adj"/>
            </a:avLst>
          </a:prstGeom>
          <a:solidFill>
            <a:srgbClr val="FFFFFF"/>
          </a:solidFill>
          <a:ln cap="flat" cmpd="sng" w="14300">
            <a:solidFill>
              <a:srgbClr val="1E3A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p25"/>
          <p:cNvSpPr/>
          <p:nvPr/>
        </p:nvSpPr>
        <p:spPr>
          <a:xfrm>
            <a:off x="6286500" y="1266825"/>
            <a:ext cx="57300" cy="342900"/>
          </a:xfrm>
          <a:prstGeom prst="roundRect">
            <a:avLst>
              <a:gd fmla="val 50000" name="adj"/>
            </a:avLst>
          </a:prstGeom>
          <a:solidFill>
            <a:srgbClr val="1E3A8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25"/>
          <p:cNvSpPr txBox="1"/>
          <p:nvPr/>
        </p:nvSpPr>
        <p:spPr>
          <a:xfrm>
            <a:off x="6448425" y="1238250"/>
            <a:ext cx="2171700" cy="22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250">
                <a:solidFill>
                  <a:srgbClr val="0A192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3. Target Architecture</a:t>
            </a:r>
            <a:endParaRPr b="0" sz="1250">
              <a:solidFill>
                <a:srgbClr val="0A192F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en" sz="950">
                <a:solidFill>
                  <a:srgbClr val="0A192F"/>
                </a:solidFill>
                <a:latin typeface="Inter"/>
                <a:ea typeface="Inter"/>
                <a:cs typeface="Inter"/>
                <a:sym typeface="Inter"/>
              </a:rPr>
              <a:t>Topology: </a:t>
            </a:r>
            <a:r>
              <a:rPr lang="en" sz="92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4-Layer Multi-Layer Perceptron (MLP).</a:t>
            </a:r>
            <a:endParaRPr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b="1" lang="en" sz="950">
                <a:solidFill>
                  <a:srgbClr val="0A192F"/>
                </a:solidFill>
                <a:latin typeface="Inter"/>
                <a:ea typeface="Inter"/>
                <a:cs typeface="Inter"/>
                <a:sym typeface="Inter"/>
              </a:rPr>
              <a:t>Layer Design: </a:t>
            </a:r>
            <a:r>
              <a:rPr lang="en" sz="92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Linear → Batch Normalization → ReLU Activation → Dropout (p = 0.30).</a:t>
            </a:r>
            <a:endParaRPr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b="1" lang="en" sz="950">
                <a:solidFill>
                  <a:srgbClr val="0A192F"/>
                </a:solidFill>
                <a:latin typeface="Inter"/>
                <a:ea typeface="Inter"/>
                <a:cs typeface="Inter"/>
                <a:sym typeface="Inter"/>
              </a:rPr>
              <a:t>Complexity: </a:t>
            </a:r>
            <a:r>
              <a:rPr lang="en" sz="92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Compact feed-forward pass (~14,000 parameters) ensuring high GPU throughput.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513" name="Google Shape;513;p25"/>
          <p:cNvGrpSpPr/>
          <p:nvPr/>
        </p:nvGrpSpPr>
        <p:grpSpPr>
          <a:xfrm>
            <a:off x="6319800" y="3322575"/>
            <a:ext cx="2266950" cy="228600"/>
            <a:chOff x="0" y="0"/>
            <a:chExt cx="2266950" cy="228600"/>
          </a:xfrm>
        </p:grpSpPr>
        <p:sp>
          <p:nvSpPr>
            <p:cNvPr id="514" name="Google Shape;514;p25"/>
            <p:cNvSpPr/>
            <p:nvPr/>
          </p:nvSpPr>
          <p:spPr>
            <a:xfrm>
              <a:off x="0" y="0"/>
              <a:ext cx="304800" cy="228600"/>
            </a:xfrm>
            <a:prstGeom prst="roundRect">
              <a:avLst>
                <a:gd fmla="val 25000" name="adj"/>
              </a:avLst>
            </a:prstGeom>
            <a:solidFill>
              <a:srgbClr val="F1F5F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5" name="Google Shape;515;p25"/>
            <p:cNvSpPr txBox="1"/>
            <p:nvPr/>
          </p:nvSpPr>
          <p:spPr>
            <a:xfrm>
              <a:off x="0" y="0"/>
              <a:ext cx="3048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1E3A8A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27</a:t>
              </a:r>
              <a:endParaRPr b="1" sz="900">
                <a:solidFill>
                  <a:srgbClr val="1E3A8A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516" name="Google Shape;516;p25"/>
            <p:cNvSpPr/>
            <p:nvPr/>
          </p:nvSpPr>
          <p:spPr>
            <a:xfrm>
              <a:off x="361950" y="114300"/>
              <a:ext cx="76200" cy="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120000" y="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flat" cmpd="sng" w="14300">
              <a:solidFill>
                <a:srgbClr val="94A3B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7" name="Google Shape;517;p25"/>
            <p:cNvSpPr/>
            <p:nvPr/>
          </p:nvSpPr>
          <p:spPr>
            <a:xfrm>
              <a:off x="409575" y="85725"/>
              <a:ext cx="28500" cy="57300"/>
            </a:xfrm>
            <a:custGeom>
              <a:rect b="b" l="l" r="r" t="t"/>
              <a:pathLst>
                <a:path extrusionOk="0" h="120000" w="120000">
                  <a:moveTo>
                    <a:pt x="120000" y="60000"/>
                  </a:moveTo>
                  <a:lnTo>
                    <a:pt x="0" y="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94A3B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8" name="Google Shape;518;p25"/>
            <p:cNvSpPr/>
            <p:nvPr/>
          </p:nvSpPr>
          <p:spPr>
            <a:xfrm>
              <a:off x="495300" y="0"/>
              <a:ext cx="362100" cy="228600"/>
            </a:xfrm>
            <a:prstGeom prst="roundRect">
              <a:avLst>
                <a:gd fmla="val 25000" name="adj"/>
              </a:avLst>
            </a:prstGeom>
            <a:solidFill>
              <a:srgbClr val="1E3A8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9" name="Google Shape;519;p25"/>
            <p:cNvSpPr txBox="1"/>
            <p:nvPr/>
          </p:nvSpPr>
          <p:spPr>
            <a:xfrm>
              <a:off x="495300" y="0"/>
              <a:ext cx="3621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FFFFFF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128</a:t>
              </a:r>
              <a:endParaRPr b="1" sz="9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520" name="Google Shape;520;p25"/>
            <p:cNvSpPr/>
            <p:nvPr/>
          </p:nvSpPr>
          <p:spPr>
            <a:xfrm>
              <a:off x="914400" y="114300"/>
              <a:ext cx="76200" cy="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120000" y="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flat" cmpd="sng" w="14300">
              <a:solidFill>
                <a:srgbClr val="94A3B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1" name="Google Shape;521;p25"/>
            <p:cNvSpPr/>
            <p:nvPr/>
          </p:nvSpPr>
          <p:spPr>
            <a:xfrm>
              <a:off x="962025" y="85725"/>
              <a:ext cx="28500" cy="57300"/>
            </a:xfrm>
            <a:custGeom>
              <a:rect b="b" l="l" r="r" t="t"/>
              <a:pathLst>
                <a:path extrusionOk="0" h="120000" w="120000">
                  <a:moveTo>
                    <a:pt x="120000" y="60000"/>
                  </a:moveTo>
                  <a:lnTo>
                    <a:pt x="0" y="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94A3B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2" name="Google Shape;522;p25"/>
            <p:cNvSpPr/>
            <p:nvPr/>
          </p:nvSpPr>
          <p:spPr>
            <a:xfrm>
              <a:off x="1047750" y="0"/>
              <a:ext cx="304800" cy="228600"/>
            </a:xfrm>
            <a:prstGeom prst="roundRect">
              <a:avLst>
                <a:gd fmla="val 25000" name="adj"/>
              </a:avLst>
            </a:prstGeom>
            <a:solidFill>
              <a:srgbClr val="EFF6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3" name="Google Shape;523;p25"/>
            <p:cNvSpPr txBox="1"/>
            <p:nvPr/>
          </p:nvSpPr>
          <p:spPr>
            <a:xfrm>
              <a:off x="1047750" y="0"/>
              <a:ext cx="3048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2563EB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64</a:t>
              </a:r>
              <a:endParaRPr b="1" sz="900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524" name="Google Shape;524;p25"/>
            <p:cNvSpPr/>
            <p:nvPr/>
          </p:nvSpPr>
          <p:spPr>
            <a:xfrm>
              <a:off x="1409700" y="114300"/>
              <a:ext cx="76200" cy="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120000" y="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flat" cmpd="sng" w="14300">
              <a:solidFill>
                <a:srgbClr val="94A3B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5" name="Google Shape;525;p25"/>
            <p:cNvSpPr/>
            <p:nvPr/>
          </p:nvSpPr>
          <p:spPr>
            <a:xfrm>
              <a:off x="1457325" y="85725"/>
              <a:ext cx="28500" cy="57300"/>
            </a:xfrm>
            <a:custGeom>
              <a:rect b="b" l="l" r="r" t="t"/>
              <a:pathLst>
                <a:path extrusionOk="0" h="120000" w="120000">
                  <a:moveTo>
                    <a:pt x="120000" y="60000"/>
                  </a:moveTo>
                  <a:lnTo>
                    <a:pt x="0" y="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94A3B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6" name="Google Shape;526;p25"/>
            <p:cNvSpPr/>
            <p:nvPr/>
          </p:nvSpPr>
          <p:spPr>
            <a:xfrm>
              <a:off x="1543050" y="0"/>
              <a:ext cx="304800" cy="228600"/>
            </a:xfrm>
            <a:prstGeom prst="roundRect">
              <a:avLst>
                <a:gd fmla="val 25000" name="adj"/>
              </a:avLst>
            </a:prstGeom>
            <a:solidFill>
              <a:srgbClr val="EFF6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7" name="Google Shape;527;p25"/>
            <p:cNvSpPr txBox="1"/>
            <p:nvPr/>
          </p:nvSpPr>
          <p:spPr>
            <a:xfrm>
              <a:off x="1543050" y="0"/>
              <a:ext cx="3048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2563EB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32</a:t>
              </a:r>
              <a:endParaRPr b="1" sz="900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528" name="Google Shape;528;p25"/>
            <p:cNvSpPr/>
            <p:nvPr/>
          </p:nvSpPr>
          <p:spPr>
            <a:xfrm>
              <a:off x="1905000" y="114300"/>
              <a:ext cx="76200" cy="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120000" y="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flat" cmpd="sng" w="14300">
              <a:solidFill>
                <a:srgbClr val="94A3B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9" name="Google Shape;529;p25"/>
            <p:cNvSpPr/>
            <p:nvPr/>
          </p:nvSpPr>
          <p:spPr>
            <a:xfrm>
              <a:off x="1952625" y="85725"/>
              <a:ext cx="28500" cy="57300"/>
            </a:xfrm>
            <a:custGeom>
              <a:rect b="b" l="l" r="r" t="t"/>
              <a:pathLst>
                <a:path extrusionOk="0" h="120000" w="120000">
                  <a:moveTo>
                    <a:pt x="120000" y="60000"/>
                  </a:moveTo>
                  <a:lnTo>
                    <a:pt x="0" y="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94A3B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0" name="Google Shape;530;p25"/>
            <p:cNvSpPr/>
            <p:nvPr/>
          </p:nvSpPr>
          <p:spPr>
            <a:xfrm>
              <a:off x="2038350" y="0"/>
              <a:ext cx="228600" cy="228600"/>
            </a:xfrm>
            <a:prstGeom prst="roundRect">
              <a:avLst>
                <a:gd fmla="val 25000" name="adj"/>
              </a:avLst>
            </a:prstGeom>
            <a:solidFill>
              <a:srgbClr val="F0F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1" name="Google Shape;531;p25"/>
            <p:cNvSpPr txBox="1"/>
            <p:nvPr/>
          </p:nvSpPr>
          <p:spPr>
            <a:xfrm>
              <a:off x="2038350" y="0"/>
              <a:ext cx="2286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06B6D4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2</a:t>
              </a:r>
              <a:endParaRPr b="1" sz="900">
                <a:solidFill>
                  <a:srgbClr val="06B6D4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</p:grpSp>
      <p:sp>
        <p:nvSpPr>
          <p:cNvPr id="532" name="Google Shape;532;p25"/>
          <p:cNvSpPr txBox="1"/>
          <p:nvPr/>
        </p:nvSpPr>
        <p:spPr>
          <a:xfrm>
            <a:off x="8371425" y="4776393"/>
            <a:ext cx="391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64748B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11</a:t>
            </a:r>
            <a:endParaRPr sz="1200">
              <a:solidFill>
                <a:srgbClr val="64748B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7" name="Google Shape;537;p26"/>
          <p:cNvPicPr preferRelativeResize="0"/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 flipH="1">
            <a:off x="0" y="19936"/>
            <a:ext cx="9144002" cy="5103629"/>
          </a:xfrm>
          <a:prstGeom prst="rect">
            <a:avLst/>
          </a:prstGeom>
          <a:noFill/>
          <a:ln>
            <a:noFill/>
          </a:ln>
        </p:spPr>
      </p:pic>
      <p:sp>
        <p:nvSpPr>
          <p:cNvPr id="538" name="Google Shape;538;p26"/>
          <p:cNvSpPr/>
          <p:nvPr/>
        </p:nvSpPr>
        <p:spPr>
          <a:xfrm>
            <a:off x="251450" y="736955"/>
            <a:ext cx="8600100" cy="4010100"/>
          </a:xfrm>
          <a:prstGeom prst="roundRect">
            <a:avLst>
              <a:gd fmla="val 5595" name="adj"/>
            </a:avLst>
          </a:prstGeom>
          <a:solidFill>
            <a:srgbClr val="FFFFFF"/>
          </a:solidFill>
          <a:ln cap="flat" cmpd="sng" w="9525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39" name="Google Shape;539;p26"/>
          <p:cNvGrpSpPr/>
          <p:nvPr/>
        </p:nvGrpSpPr>
        <p:grpSpPr>
          <a:xfrm>
            <a:off x="285750" y="204218"/>
            <a:ext cx="8477400" cy="666900"/>
            <a:chOff x="-95250" y="0"/>
            <a:chExt cx="8477400" cy="666900"/>
          </a:xfrm>
        </p:grpSpPr>
        <p:grpSp>
          <p:nvGrpSpPr>
            <p:cNvPr id="540" name="Google Shape;540;p26"/>
            <p:cNvGrpSpPr/>
            <p:nvPr/>
          </p:nvGrpSpPr>
          <p:grpSpPr>
            <a:xfrm>
              <a:off x="-95250" y="57150"/>
              <a:ext cx="476325" cy="190500"/>
              <a:chOff x="-95250" y="0"/>
              <a:chExt cx="476325" cy="190500"/>
            </a:xfrm>
          </p:grpSpPr>
          <p:sp>
            <p:nvSpPr>
              <p:cNvPr id="541" name="Google Shape;541;p26"/>
              <p:cNvSpPr/>
              <p:nvPr/>
            </p:nvSpPr>
            <p:spPr>
              <a:xfrm>
                <a:off x="-95250" y="0"/>
                <a:ext cx="285900" cy="190500"/>
              </a:xfrm>
              <a:custGeom>
                <a:rect b="b" l="l" r="r" t="t"/>
                <a:pathLst>
                  <a:path extrusionOk="0" h="120000" w="120000">
                    <a:moveTo>
                      <a:pt x="40000" y="0"/>
                    </a:moveTo>
                    <a:lnTo>
                      <a:pt x="120000" y="0"/>
                    </a:lnTo>
                    <a:lnTo>
                      <a:pt x="80000" y="120000"/>
                    </a:lnTo>
                    <a:lnTo>
                      <a:pt x="0" y="120000"/>
                    </a:lnTo>
                    <a:close/>
                  </a:path>
                </a:pathLst>
              </a:custGeom>
              <a:solidFill>
                <a:srgbClr val="06B6D4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2" name="Google Shape;542;p26"/>
              <p:cNvSpPr/>
              <p:nvPr/>
            </p:nvSpPr>
            <p:spPr>
              <a:xfrm>
                <a:off x="142875" y="0"/>
                <a:ext cx="238200" cy="190500"/>
              </a:xfrm>
              <a:custGeom>
                <a:rect b="b" l="l" r="r" t="t"/>
                <a:pathLst>
                  <a:path extrusionOk="0" h="120000" w="120000">
                    <a:moveTo>
                      <a:pt x="48000" y="0"/>
                    </a:moveTo>
                    <a:lnTo>
                      <a:pt x="120000" y="0"/>
                    </a:lnTo>
                    <a:lnTo>
                      <a:pt x="72000" y="120000"/>
                    </a:lnTo>
                    <a:lnTo>
                      <a:pt x="0" y="120000"/>
                    </a:lnTo>
                    <a:close/>
                  </a:path>
                </a:pathLst>
              </a:custGeom>
              <a:solidFill>
                <a:srgbClr val="2563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543" name="Google Shape;543;p26"/>
            <p:cNvSpPr txBox="1"/>
            <p:nvPr/>
          </p:nvSpPr>
          <p:spPr>
            <a:xfrm>
              <a:off x="476250" y="0"/>
              <a:ext cx="79059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2000">
                  <a:solidFill>
                    <a:srgbClr val="0A192F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Weekly Research Timeline &amp; Gantt Chart</a:t>
              </a:r>
              <a:endParaRPr b="0" sz="2000">
                <a:solidFill>
                  <a:srgbClr val="0A192F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475569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Project Execution Timeline (Weeks 1-14)</a:t>
              </a:r>
              <a:endParaRPr b="0" sz="1000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grpSp>
        <p:nvGrpSpPr>
          <p:cNvPr id="544" name="Google Shape;544;p26"/>
          <p:cNvGrpSpPr/>
          <p:nvPr/>
        </p:nvGrpSpPr>
        <p:grpSpPr>
          <a:xfrm>
            <a:off x="381000" y="3853545"/>
            <a:ext cx="8382075" cy="809700"/>
            <a:chOff x="0" y="0"/>
            <a:chExt cx="8382075" cy="809700"/>
          </a:xfrm>
        </p:grpSpPr>
        <p:grpSp>
          <p:nvGrpSpPr>
            <p:cNvPr id="545" name="Google Shape;545;p26"/>
            <p:cNvGrpSpPr/>
            <p:nvPr/>
          </p:nvGrpSpPr>
          <p:grpSpPr>
            <a:xfrm>
              <a:off x="0" y="0"/>
              <a:ext cx="4048200" cy="809700"/>
              <a:chOff x="0" y="0"/>
              <a:chExt cx="4048200" cy="809700"/>
            </a:xfrm>
          </p:grpSpPr>
          <p:sp>
            <p:nvSpPr>
              <p:cNvPr id="546" name="Google Shape;546;p26"/>
              <p:cNvSpPr/>
              <p:nvPr/>
            </p:nvSpPr>
            <p:spPr>
              <a:xfrm>
                <a:off x="0" y="0"/>
                <a:ext cx="4048200" cy="809700"/>
              </a:xfrm>
              <a:prstGeom prst="roundRect">
                <a:avLst>
                  <a:gd fmla="val 9411" name="adj"/>
                </a:avLst>
              </a:prstGeom>
              <a:solidFill>
                <a:srgbClr val="EFF6FF"/>
              </a:solidFill>
              <a:ln cap="flat" cmpd="sng" w="9525">
                <a:solidFill>
                  <a:srgbClr val="BFDBF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7" name="Google Shape;547;p26"/>
              <p:cNvSpPr/>
              <p:nvPr/>
            </p:nvSpPr>
            <p:spPr>
              <a:xfrm>
                <a:off x="0" y="152400"/>
                <a:ext cx="38100" cy="342900"/>
              </a:xfrm>
              <a:prstGeom prst="roundRect">
                <a:avLst>
                  <a:gd fmla="val 50000" name="adj"/>
                </a:avLst>
              </a:prstGeom>
              <a:solidFill>
                <a:srgbClr val="2563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8" name="Google Shape;548;p26"/>
              <p:cNvSpPr txBox="1"/>
              <p:nvPr/>
            </p:nvSpPr>
            <p:spPr>
              <a:xfrm>
                <a:off x="190500" y="114300"/>
                <a:ext cx="36672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925">
                    <a:solidFill>
                      <a:srgbClr val="1E3A8A"/>
                    </a:solidFill>
                    <a:latin typeface="Inter"/>
                    <a:ea typeface="Inter"/>
                    <a:cs typeface="Inter"/>
                    <a:sym typeface="Inter"/>
                  </a:rPr>
                  <a:t>Current Status (September 10, 2026)</a:t>
                </a:r>
                <a:endParaRPr b="1" sz="925">
                  <a:solidFill>
                    <a:srgbClr val="1E3A8A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" sz="786">
                    <a:solidFill>
                      <a:srgbClr val="334155"/>
                    </a:solidFill>
                    <a:latin typeface="Inter"/>
                    <a:ea typeface="Inter"/>
                    <a:cs typeface="Inter"/>
                    <a:sym typeface="Inter"/>
                  </a:rPr>
                  <a:t>Tasks 1 through 7 are complete (Theoretical formulation, literature audit, data ingestion pipeline</a:t>
                </a:r>
                <a:r>
                  <a:rPr lang="en" sz="786">
                    <a:solidFill>
                      <a:srgbClr val="334155"/>
                    </a:solidFill>
                    <a:latin typeface="Inter"/>
                    <a:ea typeface="Inter"/>
                    <a:cs typeface="Inter"/>
                    <a:sym typeface="Inter"/>
                  </a:rPr>
                  <a:t> </a:t>
                </a:r>
                <a:r>
                  <a:rPr b="0" lang="en" sz="786">
                    <a:solidFill>
                      <a:srgbClr val="334155"/>
                    </a:solidFill>
                    <a:latin typeface="Inter"/>
                    <a:ea typeface="Inter"/>
                    <a:cs typeface="Inter"/>
                    <a:sym typeface="Inter"/>
                  </a:rPr>
                  <a:t>verified). The </a:t>
                </a:r>
                <a:r>
                  <a:rPr b="1" lang="en" sz="786">
                    <a:solidFill>
                      <a:srgbClr val="1E3A8A"/>
                    </a:solidFill>
                    <a:latin typeface="Inter"/>
                    <a:ea typeface="Inter"/>
                    <a:cs typeface="Inter"/>
                    <a:sym typeface="Inter"/>
                  </a:rPr>
                  <a:t>Pre-Defense Milestone</a:t>
                </a:r>
                <a:r>
                  <a:rPr b="0" lang="en" sz="786">
                    <a:solidFill>
                      <a:srgbClr val="334155"/>
                    </a:solidFill>
                    <a:latin typeface="Inter"/>
                    <a:ea typeface="Inter"/>
                    <a:cs typeface="Inter"/>
                    <a:sym typeface="Inter"/>
                  </a:rPr>
                  <a:t> has been successfully achieved.</a:t>
                </a:r>
                <a:endParaRPr b="0" sz="786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549" name="Google Shape;549;p26"/>
            <p:cNvGrpSpPr/>
            <p:nvPr/>
          </p:nvGrpSpPr>
          <p:grpSpPr>
            <a:xfrm>
              <a:off x="4333875" y="0"/>
              <a:ext cx="4048200" cy="809700"/>
              <a:chOff x="0" y="0"/>
              <a:chExt cx="4048200" cy="809700"/>
            </a:xfrm>
          </p:grpSpPr>
          <p:sp>
            <p:nvSpPr>
              <p:cNvPr id="550" name="Google Shape;550;p26"/>
              <p:cNvSpPr/>
              <p:nvPr/>
            </p:nvSpPr>
            <p:spPr>
              <a:xfrm>
                <a:off x="0" y="0"/>
                <a:ext cx="4048200" cy="809700"/>
              </a:xfrm>
              <a:prstGeom prst="roundRect">
                <a:avLst>
                  <a:gd fmla="val 9411" name="adj"/>
                </a:avLst>
              </a:prstGeom>
              <a:solidFill>
                <a:srgbClr val="F8FAFC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1" name="Google Shape;551;p26"/>
              <p:cNvSpPr/>
              <p:nvPr/>
            </p:nvSpPr>
            <p:spPr>
              <a:xfrm>
                <a:off x="0" y="152400"/>
                <a:ext cx="38100" cy="342900"/>
              </a:xfrm>
              <a:prstGeom prst="roundRect">
                <a:avLst>
                  <a:gd fmla="val 50000" name="adj"/>
                </a:avLst>
              </a:prstGeom>
              <a:solidFill>
                <a:srgbClr val="06B6D4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2" name="Google Shape;552;p26"/>
              <p:cNvSpPr txBox="1"/>
              <p:nvPr/>
            </p:nvSpPr>
            <p:spPr>
              <a:xfrm>
                <a:off x="190500" y="114300"/>
                <a:ext cx="36672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0F172A"/>
                    </a:solidFill>
                    <a:latin typeface="Inter"/>
                    <a:ea typeface="Inter"/>
                    <a:cs typeface="Inter"/>
                    <a:sym typeface="Inter"/>
                  </a:rPr>
                  <a:t>Immediate Transitions &amp; Next Steps</a:t>
                </a:r>
                <a:endParaRPr b="1" sz="10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" sz="850">
                    <a:solidFill>
                      <a:srgbClr val="334155"/>
                    </a:solidFill>
                    <a:latin typeface="Inter"/>
                    <a:ea typeface="Inter"/>
                    <a:cs typeface="Inter"/>
                    <a:sym typeface="Inter"/>
                  </a:rPr>
                  <a:t>Immediately transitioning to </a:t>
                </a:r>
                <a:r>
                  <a:rPr b="1" lang="en" sz="850">
                    <a:solidFill>
                      <a:srgbClr val="0F172A"/>
                    </a:solidFill>
                    <a:latin typeface="Inter"/>
                    <a:ea typeface="Inter"/>
                    <a:cs typeface="Inter"/>
                    <a:sym typeface="Inter"/>
                  </a:rPr>
                  <a:t>multi-threat evaluation</a:t>
                </a:r>
                <a:r>
                  <a:rPr b="0" lang="en" sz="850">
                    <a:solidFill>
                      <a:srgbClr val="334155"/>
                    </a:solidFill>
                    <a:latin typeface="Inter"/>
                    <a:ea typeface="Inter"/>
                    <a:cs typeface="Inter"/>
                    <a:sym typeface="Inter"/>
                  </a:rPr>
                  <a:t> (Weeks 11–12) and </a:t>
                </a:r>
                <a:r>
                  <a:rPr b="1" lang="en" sz="850">
                    <a:solidFill>
                      <a:srgbClr val="2563EB"/>
                    </a:solidFill>
                    <a:latin typeface="Inter"/>
                    <a:ea typeface="Inter"/>
                    <a:cs typeface="Inter"/>
                    <a:sym typeface="Inter"/>
                  </a:rPr>
                  <a:t>final manuscript submission</a:t>
                </a:r>
                <a:r>
                  <a:rPr b="0" lang="en" sz="850">
                    <a:solidFill>
                      <a:srgbClr val="334155"/>
                    </a:solidFill>
                    <a:latin typeface="Inter"/>
                    <a:ea typeface="Inter"/>
                    <a:cs typeface="Inter"/>
                    <a:sym typeface="Inter"/>
                  </a:rPr>
                  <a:t> (Weeks 13–14).</a:t>
                </a:r>
                <a:endParaRPr b="0" sz="8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553" name="Google Shape;553;p26"/>
          <p:cNvGrpSpPr/>
          <p:nvPr/>
        </p:nvGrpSpPr>
        <p:grpSpPr>
          <a:xfrm>
            <a:off x="-397675" y="759742"/>
            <a:ext cx="9120283" cy="3038986"/>
            <a:chOff x="95250" y="876300"/>
            <a:chExt cx="8572500" cy="2453565"/>
          </a:xfrm>
        </p:grpSpPr>
        <p:cxnSp>
          <p:nvCxnSpPr>
            <p:cNvPr id="554" name="Google Shape;554;p26"/>
            <p:cNvCxnSpPr/>
            <p:nvPr/>
          </p:nvCxnSpPr>
          <p:spPr>
            <a:xfrm>
              <a:off x="2476500" y="1285875"/>
              <a:ext cx="0" cy="200010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6F0FA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55" name="Google Shape;555;p26"/>
            <p:cNvCxnSpPr/>
            <p:nvPr/>
          </p:nvCxnSpPr>
          <p:spPr>
            <a:xfrm>
              <a:off x="2918746" y="1285875"/>
              <a:ext cx="0" cy="200010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6F0FA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56" name="Google Shape;556;p26"/>
            <p:cNvCxnSpPr/>
            <p:nvPr/>
          </p:nvCxnSpPr>
          <p:spPr>
            <a:xfrm>
              <a:off x="3360992" y="1285875"/>
              <a:ext cx="0" cy="200010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6F0FA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57" name="Google Shape;557;p26"/>
            <p:cNvCxnSpPr/>
            <p:nvPr/>
          </p:nvCxnSpPr>
          <p:spPr>
            <a:xfrm>
              <a:off x="3803237" y="1285875"/>
              <a:ext cx="0" cy="200010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6F0FA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58" name="Google Shape;558;p26"/>
            <p:cNvCxnSpPr/>
            <p:nvPr/>
          </p:nvCxnSpPr>
          <p:spPr>
            <a:xfrm>
              <a:off x="4245388" y="1285875"/>
              <a:ext cx="0" cy="200010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6F0FA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59" name="Google Shape;559;p26"/>
            <p:cNvCxnSpPr/>
            <p:nvPr/>
          </p:nvCxnSpPr>
          <p:spPr>
            <a:xfrm>
              <a:off x="4687634" y="1285875"/>
              <a:ext cx="0" cy="200010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6F0FA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60" name="Google Shape;560;p26"/>
            <p:cNvCxnSpPr/>
            <p:nvPr/>
          </p:nvCxnSpPr>
          <p:spPr>
            <a:xfrm>
              <a:off x="5129879" y="1285875"/>
              <a:ext cx="0" cy="200010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6F0FA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61" name="Google Shape;561;p26"/>
            <p:cNvCxnSpPr/>
            <p:nvPr/>
          </p:nvCxnSpPr>
          <p:spPr>
            <a:xfrm>
              <a:off x="5572125" y="1285875"/>
              <a:ext cx="0" cy="200010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6F0FA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62" name="Google Shape;562;p26"/>
            <p:cNvCxnSpPr/>
            <p:nvPr/>
          </p:nvCxnSpPr>
          <p:spPr>
            <a:xfrm>
              <a:off x="6014371" y="1285875"/>
              <a:ext cx="0" cy="200010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6F0FA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63" name="Google Shape;563;p26"/>
            <p:cNvCxnSpPr/>
            <p:nvPr/>
          </p:nvCxnSpPr>
          <p:spPr>
            <a:xfrm>
              <a:off x="6456617" y="1285875"/>
              <a:ext cx="0" cy="200010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6F0FA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64" name="Google Shape;564;p26"/>
            <p:cNvCxnSpPr/>
            <p:nvPr/>
          </p:nvCxnSpPr>
          <p:spPr>
            <a:xfrm>
              <a:off x="6898862" y="1285875"/>
              <a:ext cx="0" cy="200010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6F0FA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65" name="Google Shape;565;p26"/>
            <p:cNvCxnSpPr/>
            <p:nvPr/>
          </p:nvCxnSpPr>
          <p:spPr>
            <a:xfrm>
              <a:off x="7341013" y="1285875"/>
              <a:ext cx="0" cy="200010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6F0FA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66" name="Google Shape;566;p26"/>
            <p:cNvCxnSpPr/>
            <p:nvPr/>
          </p:nvCxnSpPr>
          <p:spPr>
            <a:xfrm>
              <a:off x="7783259" y="1285875"/>
              <a:ext cx="0" cy="200010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6F0FA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67" name="Google Shape;567;p26"/>
            <p:cNvCxnSpPr/>
            <p:nvPr/>
          </p:nvCxnSpPr>
          <p:spPr>
            <a:xfrm>
              <a:off x="8225504" y="1285875"/>
              <a:ext cx="0" cy="200010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6F0FA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68" name="Google Shape;568;p26"/>
            <p:cNvCxnSpPr/>
            <p:nvPr/>
          </p:nvCxnSpPr>
          <p:spPr>
            <a:xfrm>
              <a:off x="8667750" y="1285875"/>
              <a:ext cx="0" cy="200010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6F0FA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569" name="Google Shape;569;p26"/>
            <p:cNvSpPr txBox="1"/>
            <p:nvPr/>
          </p:nvSpPr>
          <p:spPr>
            <a:xfrm>
              <a:off x="2653332" y="1162050"/>
              <a:ext cx="190500" cy="190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850">
                  <a:solidFill>
                    <a:srgbClr val="888888"/>
                  </a:solidFill>
                  <a:latin typeface="Inter"/>
                  <a:ea typeface="Inter"/>
                  <a:cs typeface="Inter"/>
                  <a:sym typeface="Inter"/>
                </a:rPr>
                <a:t>W1</a:t>
              </a:r>
              <a:endParaRPr b="1" i="0" sz="850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570" name="Google Shape;570;p26"/>
            <p:cNvSpPr txBox="1"/>
            <p:nvPr/>
          </p:nvSpPr>
          <p:spPr>
            <a:xfrm>
              <a:off x="3095292" y="1162050"/>
              <a:ext cx="190500" cy="190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850">
                  <a:solidFill>
                    <a:srgbClr val="888888"/>
                  </a:solidFill>
                  <a:latin typeface="Inter"/>
                  <a:ea typeface="Inter"/>
                  <a:cs typeface="Inter"/>
                  <a:sym typeface="Inter"/>
                </a:rPr>
                <a:t>W2</a:t>
              </a:r>
              <a:endParaRPr b="1" i="0" sz="850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571" name="Google Shape;571;p26"/>
            <p:cNvSpPr txBox="1"/>
            <p:nvPr/>
          </p:nvSpPr>
          <p:spPr>
            <a:xfrm>
              <a:off x="3538204" y="1162050"/>
              <a:ext cx="190500" cy="190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850">
                  <a:solidFill>
                    <a:srgbClr val="888888"/>
                  </a:solidFill>
                  <a:latin typeface="Inter"/>
                  <a:ea typeface="Inter"/>
                  <a:cs typeface="Inter"/>
                  <a:sym typeface="Inter"/>
                </a:rPr>
                <a:t>W3</a:t>
              </a:r>
              <a:endParaRPr b="1" i="0" sz="850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572" name="Google Shape;572;p26"/>
            <p:cNvSpPr txBox="1"/>
            <p:nvPr/>
          </p:nvSpPr>
          <p:spPr>
            <a:xfrm>
              <a:off x="3980164" y="1162050"/>
              <a:ext cx="190500" cy="190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850">
                  <a:solidFill>
                    <a:srgbClr val="888888"/>
                  </a:solidFill>
                  <a:latin typeface="Inter"/>
                  <a:ea typeface="Inter"/>
                  <a:cs typeface="Inter"/>
                  <a:sym typeface="Inter"/>
                </a:rPr>
                <a:t>W4</a:t>
              </a:r>
              <a:endParaRPr b="1" i="0" sz="850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573" name="Google Shape;573;p26"/>
            <p:cNvSpPr txBox="1"/>
            <p:nvPr/>
          </p:nvSpPr>
          <p:spPr>
            <a:xfrm>
              <a:off x="4422124" y="1162050"/>
              <a:ext cx="190500" cy="190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850">
                  <a:solidFill>
                    <a:srgbClr val="888888"/>
                  </a:solidFill>
                  <a:latin typeface="Inter"/>
                  <a:ea typeface="Inter"/>
                  <a:cs typeface="Inter"/>
                  <a:sym typeface="Inter"/>
                </a:rPr>
                <a:t>W5</a:t>
              </a:r>
              <a:endParaRPr b="1" i="0" sz="850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574" name="Google Shape;574;p26"/>
            <p:cNvSpPr txBox="1"/>
            <p:nvPr/>
          </p:nvSpPr>
          <p:spPr>
            <a:xfrm>
              <a:off x="4864084" y="1162050"/>
              <a:ext cx="190500" cy="190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850">
                  <a:solidFill>
                    <a:srgbClr val="888888"/>
                  </a:solidFill>
                  <a:latin typeface="Inter"/>
                  <a:ea typeface="Inter"/>
                  <a:cs typeface="Inter"/>
                  <a:sym typeface="Inter"/>
                </a:rPr>
                <a:t>W6</a:t>
              </a:r>
              <a:endParaRPr b="1" i="0" sz="850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575" name="Google Shape;575;p26"/>
            <p:cNvSpPr txBox="1"/>
            <p:nvPr/>
          </p:nvSpPr>
          <p:spPr>
            <a:xfrm>
              <a:off x="5306997" y="1162050"/>
              <a:ext cx="190500" cy="190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850">
                  <a:solidFill>
                    <a:srgbClr val="888888"/>
                  </a:solidFill>
                  <a:latin typeface="Inter"/>
                  <a:ea typeface="Inter"/>
                  <a:cs typeface="Inter"/>
                  <a:sym typeface="Inter"/>
                </a:rPr>
                <a:t>W7</a:t>
              </a:r>
              <a:endParaRPr b="1" i="0" sz="850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576" name="Google Shape;576;p26"/>
            <p:cNvSpPr txBox="1"/>
            <p:nvPr/>
          </p:nvSpPr>
          <p:spPr>
            <a:xfrm>
              <a:off x="5748957" y="1162050"/>
              <a:ext cx="190500" cy="190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850">
                  <a:solidFill>
                    <a:srgbClr val="888888"/>
                  </a:solidFill>
                  <a:latin typeface="Inter"/>
                  <a:ea typeface="Inter"/>
                  <a:cs typeface="Inter"/>
                  <a:sym typeface="Inter"/>
                </a:rPr>
                <a:t>W8</a:t>
              </a:r>
              <a:endParaRPr b="1" i="0" sz="850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577" name="Google Shape;577;p26"/>
            <p:cNvSpPr txBox="1"/>
            <p:nvPr/>
          </p:nvSpPr>
          <p:spPr>
            <a:xfrm>
              <a:off x="6190917" y="1162050"/>
              <a:ext cx="190500" cy="190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850">
                  <a:solidFill>
                    <a:srgbClr val="888888"/>
                  </a:solidFill>
                  <a:latin typeface="Inter"/>
                  <a:ea typeface="Inter"/>
                  <a:cs typeface="Inter"/>
                  <a:sym typeface="Inter"/>
                </a:rPr>
                <a:t>W9</a:t>
              </a:r>
              <a:endParaRPr b="1" i="0" sz="850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578" name="Google Shape;578;p26"/>
            <p:cNvSpPr txBox="1"/>
            <p:nvPr/>
          </p:nvSpPr>
          <p:spPr>
            <a:xfrm>
              <a:off x="6610807" y="1162050"/>
              <a:ext cx="285900" cy="190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850">
                  <a:solidFill>
                    <a:srgbClr val="888888"/>
                  </a:solidFill>
                  <a:latin typeface="Inter"/>
                  <a:ea typeface="Inter"/>
                  <a:cs typeface="Inter"/>
                  <a:sym typeface="Inter"/>
                </a:rPr>
                <a:t>W10</a:t>
              </a:r>
              <a:endParaRPr b="1" i="0" sz="850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579" name="Google Shape;579;p26"/>
            <p:cNvSpPr txBox="1"/>
            <p:nvPr/>
          </p:nvSpPr>
          <p:spPr>
            <a:xfrm>
              <a:off x="7053720" y="1162050"/>
              <a:ext cx="285900" cy="190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850">
                  <a:solidFill>
                    <a:srgbClr val="888888"/>
                  </a:solidFill>
                  <a:latin typeface="Inter"/>
                  <a:ea typeface="Inter"/>
                  <a:cs typeface="Inter"/>
                  <a:sym typeface="Inter"/>
                </a:rPr>
                <a:t>W11</a:t>
              </a:r>
              <a:endParaRPr b="1" i="0" sz="850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580" name="Google Shape;580;p26"/>
            <p:cNvSpPr txBox="1"/>
            <p:nvPr/>
          </p:nvSpPr>
          <p:spPr>
            <a:xfrm>
              <a:off x="7495670" y="1162050"/>
              <a:ext cx="285900" cy="190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850">
                  <a:solidFill>
                    <a:srgbClr val="888888"/>
                  </a:solidFill>
                  <a:latin typeface="Inter"/>
                  <a:ea typeface="Inter"/>
                  <a:cs typeface="Inter"/>
                  <a:sym typeface="Inter"/>
                </a:rPr>
                <a:t>W12</a:t>
              </a:r>
              <a:endParaRPr b="1" i="0" sz="850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581" name="Google Shape;581;p26"/>
            <p:cNvSpPr txBox="1"/>
            <p:nvPr/>
          </p:nvSpPr>
          <p:spPr>
            <a:xfrm>
              <a:off x="7937630" y="1162050"/>
              <a:ext cx="285900" cy="190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850">
                  <a:solidFill>
                    <a:srgbClr val="888888"/>
                  </a:solidFill>
                  <a:latin typeface="Inter"/>
                  <a:ea typeface="Inter"/>
                  <a:cs typeface="Inter"/>
                  <a:sym typeface="Inter"/>
                </a:rPr>
                <a:t>W13</a:t>
              </a:r>
              <a:endParaRPr b="1" i="0" sz="850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582" name="Google Shape;582;p26"/>
            <p:cNvSpPr txBox="1"/>
            <p:nvPr/>
          </p:nvSpPr>
          <p:spPr>
            <a:xfrm>
              <a:off x="8379600" y="1162050"/>
              <a:ext cx="285900" cy="190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850">
                  <a:solidFill>
                    <a:srgbClr val="888888"/>
                  </a:solidFill>
                  <a:latin typeface="Inter"/>
                  <a:ea typeface="Inter"/>
                  <a:cs typeface="Inter"/>
                  <a:sym typeface="Inter"/>
                </a:rPr>
                <a:t>W14</a:t>
              </a:r>
              <a:endParaRPr b="1" i="0" sz="850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583" name="Google Shape;583;p26"/>
            <p:cNvSpPr/>
            <p:nvPr/>
          </p:nvSpPr>
          <p:spPr>
            <a:xfrm>
              <a:off x="2476490" y="1285880"/>
              <a:ext cx="3980100" cy="2000100"/>
            </a:xfrm>
            <a:prstGeom prst="rect">
              <a:avLst/>
            </a:prstGeom>
            <a:solidFill>
              <a:srgbClr val="1E90FF">
                <a:alpha val="3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584" name="Google Shape;584;p2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6447013" y="1047108"/>
              <a:ext cx="19200" cy="2257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5" name="Google Shape;585;p26"/>
            <p:cNvSpPr txBox="1"/>
            <p:nvPr/>
          </p:nvSpPr>
          <p:spPr>
            <a:xfrm>
              <a:off x="5334000" y="876300"/>
              <a:ext cx="1524000" cy="190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800">
                  <a:solidFill>
                    <a:srgbClr val="1E90FF"/>
                  </a:solidFill>
                  <a:latin typeface="Inter"/>
                  <a:ea typeface="Inter"/>
                  <a:cs typeface="Inter"/>
                  <a:sym typeface="Inter"/>
                </a:rPr>
                <a:t>★ PRE-DEFENSE (SEP 10)</a:t>
              </a:r>
              <a:endParaRPr b="1" i="0" sz="800">
                <a:solidFill>
                  <a:srgbClr val="1E90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586" name="Google Shape;586;p26"/>
            <p:cNvSpPr txBox="1"/>
            <p:nvPr/>
          </p:nvSpPr>
          <p:spPr>
            <a:xfrm>
              <a:off x="7096125" y="876300"/>
              <a:ext cx="1524000" cy="190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0" sz="800">
                <a:solidFill>
                  <a:srgbClr val="0D2B5C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587" name="Google Shape;587;p26"/>
            <p:cNvSpPr txBox="1"/>
            <p:nvPr/>
          </p:nvSpPr>
          <p:spPr>
            <a:xfrm>
              <a:off x="95250" y="1358265"/>
              <a:ext cx="2286000" cy="1428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850">
                  <a:solidFill>
                    <a:srgbClr val="333333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1. Topic Selection</a:t>
              </a:r>
              <a:endParaRPr b="0" i="0" sz="85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  <p:sp>
          <p:nvSpPr>
            <p:cNvPr id="588" name="Google Shape;588;p26"/>
            <p:cNvSpPr/>
            <p:nvPr/>
          </p:nvSpPr>
          <p:spPr>
            <a:xfrm>
              <a:off x="2476500" y="1352550"/>
              <a:ext cx="442200" cy="95400"/>
            </a:xfrm>
            <a:prstGeom prst="roundRect">
              <a:avLst>
                <a:gd fmla="val 35000" name="adj"/>
              </a:avLst>
            </a:prstGeom>
            <a:solidFill>
              <a:srgbClr val="2A64C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9" name="Google Shape;589;p26"/>
            <p:cNvSpPr txBox="1"/>
            <p:nvPr/>
          </p:nvSpPr>
          <p:spPr>
            <a:xfrm>
              <a:off x="95250" y="1510665"/>
              <a:ext cx="2286000" cy="1428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850">
                  <a:solidFill>
                    <a:srgbClr val="333333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2. Literature Review</a:t>
              </a:r>
              <a:endParaRPr b="0" i="0" sz="85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  <p:sp>
          <p:nvSpPr>
            <p:cNvPr id="590" name="Google Shape;590;p26"/>
            <p:cNvSpPr/>
            <p:nvPr/>
          </p:nvSpPr>
          <p:spPr>
            <a:xfrm>
              <a:off x="2918749" y="1504958"/>
              <a:ext cx="442200" cy="95400"/>
            </a:xfrm>
            <a:prstGeom prst="roundRect">
              <a:avLst>
                <a:gd fmla="val 35000" name="adj"/>
              </a:avLst>
            </a:prstGeom>
            <a:solidFill>
              <a:srgbClr val="2A64C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1" name="Google Shape;591;p26"/>
            <p:cNvSpPr txBox="1"/>
            <p:nvPr/>
          </p:nvSpPr>
          <p:spPr>
            <a:xfrm>
              <a:off x="95250" y="1663065"/>
              <a:ext cx="2286000" cy="1428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850">
                  <a:solidFill>
                    <a:srgbClr val="333333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3. Base Paper Selection</a:t>
              </a:r>
              <a:endParaRPr b="0" i="0" sz="85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  <p:sp>
          <p:nvSpPr>
            <p:cNvPr id="592" name="Google Shape;592;p26"/>
            <p:cNvSpPr/>
            <p:nvPr/>
          </p:nvSpPr>
          <p:spPr>
            <a:xfrm>
              <a:off x="3360973" y="1653475"/>
              <a:ext cx="442200" cy="95400"/>
            </a:xfrm>
            <a:prstGeom prst="roundRect">
              <a:avLst>
                <a:gd fmla="val 35000" name="adj"/>
              </a:avLst>
            </a:prstGeom>
            <a:solidFill>
              <a:srgbClr val="2A64C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3" name="Google Shape;593;p26"/>
            <p:cNvSpPr txBox="1"/>
            <p:nvPr/>
          </p:nvSpPr>
          <p:spPr>
            <a:xfrm>
              <a:off x="95250" y="1815465"/>
              <a:ext cx="2286000" cy="1428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850">
                  <a:solidFill>
                    <a:srgbClr val="333333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4. Methodology Study</a:t>
              </a:r>
              <a:endParaRPr b="0" i="0" sz="85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  <p:sp>
          <p:nvSpPr>
            <p:cNvPr id="594" name="Google Shape;594;p26"/>
            <p:cNvSpPr/>
            <p:nvPr/>
          </p:nvSpPr>
          <p:spPr>
            <a:xfrm>
              <a:off x="3803236" y="1815469"/>
              <a:ext cx="884400" cy="95400"/>
            </a:xfrm>
            <a:prstGeom prst="roundRect">
              <a:avLst>
                <a:gd fmla="val 35000" name="adj"/>
              </a:avLst>
            </a:prstGeom>
            <a:solidFill>
              <a:srgbClr val="2A64C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5" name="Google Shape;595;p26"/>
            <p:cNvSpPr txBox="1"/>
            <p:nvPr/>
          </p:nvSpPr>
          <p:spPr>
            <a:xfrm>
              <a:off x="95250" y="1967865"/>
              <a:ext cx="2286000" cy="1428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850">
                  <a:solidFill>
                    <a:srgbClr val="333333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5. Limitation Identify</a:t>
              </a:r>
              <a:endParaRPr b="0" i="0" sz="85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  <p:sp>
          <p:nvSpPr>
            <p:cNvPr id="596" name="Google Shape;596;p26"/>
            <p:cNvSpPr/>
            <p:nvPr/>
          </p:nvSpPr>
          <p:spPr>
            <a:xfrm>
              <a:off x="4687650" y="1967862"/>
              <a:ext cx="442200" cy="95400"/>
            </a:xfrm>
            <a:prstGeom prst="roundRect">
              <a:avLst>
                <a:gd fmla="val 35000" name="adj"/>
              </a:avLst>
            </a:prstGeom>
            <a:solidFill>
              <a:srgbClr val="2A64C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7" name="Google Shape;597;p26"/>
            <p:cNvSpPr txBox="1"/>
            <p:nvPr/>
          </p:nvSpPr>
          <p:spPr>
            <a:xfrm>
              <a:off x="95250" y="2120265"/>
              <a:ext cx="2286000" cy="1428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850">
                  <a:solidFill>
                    <a:srgbClr val="333333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6. Environment Setup</a:t>
              </a:r>
              <a:endParaRPr b="0" i="0" sz="85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  <p:sp>
          <p:nvSpPr>
            <p:cNvPr id="598" name="Google Shape;598;p26"/>
            <p:cNvSpPr/>
            <p:nvPr/>
          </p:nvSpPr>
          <p:spPr>
            <a:xfrm>
              <a:off x="5129896" y="2109746"/>
              <a:ext cx="442200" cy="95400"/>
            </a:xfrm>
            <a:prstGeom prst="roundRect">
              <a:avLst>
                <a:gd fmla="val 35000" name="adj"/>
              </a:avLst>
            </a:prstGeom>
            <a:solidFill>
              <a:srgbClr val="2A64C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9" name="Google Shape;599;p26"/>
            <p:cNvSpPr txBox="1"/>
            <p:nvPr/>
          </p:nvSpPr>
          <p:spPr>
            <a:xfrm>
              <a:off x="95250" y="2272665"/>
              <a:ext cx="2286000" cy="1428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850">
                  <a:solidFill>
                    <a:srgbClr val="333333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7. Pre-Defense Prep</a:t>
              </a:r>
              <a:endParaRPr b="0" i="0" sz="850">
                <a:solidFill>
                  <a:srgbClr val="333333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  <p:sp>
          <p:nvSpPr>
            <p:cNvPr id="600" name="Google Shape;600;p26"/>
            <p:cNvSpPr/>
            <p:nvPr/>
          </p:nvSpPr>
          <p:spPr>
            <a:xfrm>
              <a:off x="5572177" y="2272662"/>
              <a:ext cx="884400" cy="95400"/>
            </a:xfrm>
            <a:prstGeom prst="roundRect">
              <a:avLst>
                <a:gd fmla="val 35000" name="adj"/>
              </a:avLst>
            </a:prstGeom>
            <a:solidFill>
              <a:srgbClr val="06B6D4">
                <a:alpha val="8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1" name="Google Shape;601;p26"/>
            <p:cNvSpPr txBox="1"/>
            <p:nvPr/>
          </p:nvSpPr>
          <p:spPr>
            <a:xfrm>
              <a:off x="95250" y="2425065"/>
              <a:ext cx="2286000" cy="1428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850">
                  <a:solidFill>
                    <a:schemeClr val="dk2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8. Implementation</a:t>
              </a:r>
              <a:endParaRPr b="0" i="0" sz="850">
                <a:solidFill>
                  <a:schemeClr val="dk2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  <p:pic>
          <p:nvPicPr>
            <p:cNvPr id="602" name="Google Shape;602;p2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6449097" y="2444117"/>
              <a:ext cx="457200" cy="104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3" name="Google Shape;603;p26"/>
            <p:cNvSpPr txBox="1"/>
            <p:nvPr/>
          </p:nvSpPr>
          <p:spPr>
            <a:xfrm>
              <a:off x="95250" y="2577465"/>
              <a:ext cx="2286000" cy="1428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850">
                  <a:solidFill>
                    <a:schemeClr val="dk2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9. Empirical Evaluation</a:t>
              </a:r>
              <a:endParaRPr b="0" i="0" sz="850">
                <a:solidFill>
                  <a:schemeClr val="dk2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  <p:pic>
          <p:nvPicPr>
            <p:cNvPr id="604" name="Google Shape;604;p26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6896145" y="2596517"/>
              <a:ext cx="457200" cy="104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5" name="Google Shape;605;p26"/>
            <p:cNvSpPr txBox="1"/>
            <p:nvPr/>
          </p:nvSpPr>
          <p:spPr>
            <a:xfrm>
              <a:off x="95250" y="2729865"/>
              <a:ext cx="2286000" cy="1428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850">
                  <a:solidFill>
                    <a:schemeClr val="dk2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10. Result Analysis &amp; Comparison</a:t>
              </a:r>
              <a:endParaRPr b="0" i="0" sz="850">
                <a:solidFill>
                  <a:schemeClr val="dk2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  <p:pic>
          <p:nvPicPr>
            <p:cNvPr id="606" name="Google Shape;606;p26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7338388" y="2711647"/>
              <a:ext cx="457200" cy="104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7" name="Google Shape;607;p26"/>
            <p:cNvSpPr txBox="1"/>
            <p:nvPr/>
          </p:nvSpPr>
          <p:spPr>
            <a:xfrm>
              <a:off x="95250" y="2882265"/>
              <a:ext cx="2286000" cy="1428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850">
                  <a:solidFill>
                    <a:schemeClr val="dk2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11. Thesis Manuscript Drafting</a:t>
              </a:r>
              <a:endParaRPr b="0" i="0" sz="850">
                <a:solidFill>
                  <a:schemeClr val="dk2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  <p:pic>
          <p:nvPicPr>
            <p:cNvPr id="608" name="Google Shape;608;p26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7344725" y="2867928"/>
              <a:ext cx="870300" cy="104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9" name="Google Shape;609;p26"/>
            <p:cNvSpPr txBox="1"/>
            <p:nvPr/>
          </p:nvSpPr>
          <p:spPr>
            <a:xfrm>
              <a:off x="95250" y="3034665"/>
              <a:ext cx="2286000" cy="1428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850">
                  <a:solidFill>
                    <a:schemeClr val="dk2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12. Supervisor Review &amp; Revisions</a:t>
              </a:r>
              <a:endParaRPr b="0" i="0" sz="850">
                <a:solidFill>
                  <a:schemeClr val="dk2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  <p:pic>
          <p:nvPicPr>
            <p:cNvPr id="610" name="Google Shape;610;p26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7773428" y="3024208"/>
              <a:ext cx="452400" cy="104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1" name="Google Shape;611;p26"/>
            <p:cNvSpPr txBox="1"/>
            <p:nvPr/>
          </p:nvSpPr>
          <p:spPr>
            <a:xfrm>
              <a:off x="95250" y="3187065"/>
              <a:ext cx="2286000" cy="1428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850">
                  <a:solidFill>
                    <a:schemeClr val="dk2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13. Final Thesis Defense</a:t>
              </a:r>
              <a:endParaRPr b="0" i="0" sz="850">
                <a:solidFill>
                  <a:schemeClr val="dk2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pic>
        <p:nvPicPr>
          <p:cNvPr id="612" name="Google Shape;612;p2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237904" y="3595442"/>
            <a:ext cx="481200" cy="1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613" name="Google Shape;613;p26"/>
          <p:cNvSpPr txBox="1"/>
          <p:nvPr/>
        </p:nvSpPr>
        <p:spPr>
          <a:xfrm>
            <a:off x="8371425" y="4776393"/>
            <a:ext cx="391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64748B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12</a:t>
            </a:r>
            <a:endParaRPr sz="1200">
              <a:solidFill>
                <a:srgbClr val="64748B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8" name="Google Shape;618;p27"/>
          <p:cNvPicPr preferRelativeResize="0"/>
          <p:nvPr/>
        </p:nvPicPr>
        <p:blipFill>
          <a:blip r:embed="rId3">
            <a:alphaModFix amt="40000"/>
          </a:blip>
          <a:stretch>
            <a:fillRect/>
          </a:stretch>
        </p:blipFill>
        <p:spPr>
          <a:xfrm flipH="1">
            <a:off x="0" y="19936"/>
            <a:ext cx="9144002" cy="510362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19" name="Google Shape;619;p27"/>
          <p:cNvGrpSpPr/>
          <p:nvPr/>
        </p:nvGrpSpPr>
        <p:grpSpPr>
          <a:xfrm>
            <a:off x="285750" y="381000"/>
            <a:ext cx="8477175" cy="857400"/>
            <a:chOff x="-95250" y="0"/>
            <a:chExt cx="8477175" cy="857400"/>
          </a:xfrm>
        </p:grpSpPr>
        <p:grpSp>
          <p:nvGrpSpPr>
            <p:cNvPr id="620" name="Google Shape;620;p27"/>
            <p:cNvGrpSpPr/>
            <p:nvPr/>
          </p:nvGrpSpPr>
          <p:grpSpPr>
            <a:xfrm>
              <a:off x="-95250" y="57150"/>
              <a:ext cx="380925" cy="190500"/>
              <a:chOff x="-95250" y="0"/>
              <a:chExt cx="380925" cy="190500"/>
            </a:xfrm>
          </p:grpSpPr>
          <p:sp>
            <p:nvSpPr>
              <p:cNvPr id="621" name="Google Shape;621;p27"/>
              <p:cNvSpPr/>
              <p:nvPr/>
            </p:nvSpPr>
            <p:spPr>
              <a:xfrm>
                <a:off x="-95250" y="0"/>
                <a:ext cx="285900" cy="190500"/>
              </a:xfrm>
              <a:custGeom>
                <a:rect b="b" l="l" r="r" t="t"/>
                <a:pathLst>
                  <a:path extrusionOk="0" h="120000" w="120000">
                    <a:moveTo>
                      <a:pt x="40000" y="0"/>
                    </a:moveTo>
                    <a:lnTo>
                      <a:pt x="120000" y="0"/>
                    </a:lnTo>
                    <a:lnTo>
                      <a:pt x="80000" y="120000"/>
                    </a:lnTo>
                    <a:lnTo>
                      <a:pt x="0" y="120000"/>
                    </a:lnTo>
                    <a:close/>
                  </a:path>
                </a:pathLst>
              </a:custGeom>
              <a:solidFill>
                <a:srgbClr val="06B6D4">
                  <a:alpha val="80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2" name="Google Shape;622;p27"/>
              <p:cNvSpPr/>
              <p:nvPr/>
            </p:nvSpPr>
            <p:spPr>
              <a:xfrm>
                <a:off x="142875" y="0"/>
                <a:ext cx="142800" cy="190500"/>
              </a:xfrm>
              <a:custGeom>
                <a:rect b="b" l="l" r="r" t="t"/>
                <a:pathLst>
                  <a:path extrusionOk="0" h="120000" w="120000">
                    <a:moveTo>
                      <a:pt x="80000" y="0"/>
                    </a:moveTo>
                    <a:lnTo>
                      <a:pt x="120000" y="0"/>
                    </a:lnTo>
                    <a:lnTo>
                      <a:pt x="40000" y="120000"/>
                    </a:lnTo>
                    <a:lnTo>
                      <a:pt x="0" y="120000"/>
                    </a:lnTo>
                    <a:close/>
                  </a:path>
                </a:pathLst>
              </a:custGeom>
              <a:solidFill>
                <a:srgbClr val="2563EB">
                  <a:alpha val="60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623" name="Google Shape;623;p27"/>
            <p:cNvSpPr txBox="1"/>
            <p:nvPr/>
          </p:nvSpPr>
          <p:spPr>
            <a:xfrm>
              <a:off x="428625" y="0"/>
              <a:ext cx="7953300" cy="857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2400">
                  <a:solidFill>
                    <a:srgbClr val="0A192F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Expected Results &amp; Research Hypotheses</a:t>
              </a:r>
              <a:endParaRPr b="0" sz="2400">
                <a:solidFill>
                  <a:srgbClr val="0A192F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Comprehensive multi-threat evaluation protocol and performance targets.</a:t>
              </a:r>
              <a:endParaRPr b="0" sz="14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624" name="Google Shape;624;p27"/>
          <p:cNvGrpSpPr/>
          <p:nvPr/>
        </p:nvGrpSpPr>
        <p:grpSpPr>
          <a:xfrm>
            <a:off x="380925" y="1468500"/>
            <a:ext cx="1952700" cy="1288390"/>
            <a:chOff x="0" y="0"/>
            <a:chExt cx="1952700" cy="1143000"/>
          </a:xfrm>
        </p:grpSpPr>
        <p:sp>
          <p:nvSpPr>
            <p:cNvPr id="625" name="Google Shape;625;p27"/>
            <p:cNvSpPr/>
            <p:nvPr/>
          </p:nvSpPr>
          <p:spPr>
            <a:xfrm>
              <a:off x="0" y="0"/>
              <a:ext cx="1952700" cy="1143000"/>
            </a:xfrm>
            <a:prstGeom prst="roundRect">
              <a:avLst>
                <a:gd fmla="val 8333" name="adj"/>
              </a:avLst>
            </a:prstGeom>
            <a:solidFill>
              <a:srgbClr val="FFFFFF"/>
            </a:solidFill>
            <a:ln cap="flat" cmpd="sng" w="9525">
              <a:solidFill>
                <a:srgbClr val="0369A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6" name="Google Shape;626;p27"/>
            <p:cNvSpPr txBox="1"/>
            <p:nvPr/>
          </p:nvSpPr>
          <p:spPr>
            <a:xfrm>
              <a:off x="0" y="0"/>
              <a:ext cx="1952700" cy="1143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142875" lIns="142875" spcFirstLastPara="1" rIns="142875" wrap="square" tIns="1428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chemeClr val="dk2"/>
                  </a:solidFill>
                  <a:latin typeface="Inter"/>
                  <a:ea typeface="Inter"/>
                  <a:cs typeface="Inter"/>
                  <a:sym typeface="Inter"/>
                </a:rPr>
                <a:t>Clean Accuracy</a:t>
              </a:r>
              <a:endParaRPr b="1" sz="9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2400">
                  <a:solidFill>
                    <a:srgbClr val="0A192F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≥ 95%</a:t>
              </a:r>
              <a:endParaRPr b="1" sz="1000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Pruning 13 unstable features mitigates degradation.</a:t>
              </a:r>
              <a:endParaRPr b="0" sz="8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627" name="Google Shape;627;p27"/>
          <p:cNvGrpSpPr/>
          <p:nvPr/>
        </p:nvGrpSpPr>
        <p:grpSpPr>
          <a:xfrm>
            <a:off x="2524050" y="1468500"/>
            <a:ext cx="1952700" cy="1288390"/>
            <a:chOff x="0" y="0"/>
            <a:chExt cx="1952700" cy="1143000"/>
          </a:xfrm>
        </p:grpSpPr>
        <p:sp>
          <p:nvSpPr>
            <p:cNvPr id="628" name="Google Shape;628;p27"/>
            <p:cNvSpPr/>
            <p:nvPr/>
          </p:nvSpPr>
          <p:spPr>
            <a:xfrm>
              <a:off x="0" y="0"/>
              <a:ext cx="1952700" cy="1143000"/>
            </a:xfrm>
            <a:prstGeom prst="roundRect">
              <a:avLst>
                <a:gd fmla="val 8333" name="adj"/>
              </a:avLst>
            </a:prstGeom>
            <a:solidFill>
              <a:srgbClr val="FFFFFF"/>
            </a:solidFill>
            <a:ln cap="flat" cmpd="sng" w="9525">
              <a:solidFill>
                <a:srgbClr val="3B82F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9" name="Google Shape;629;p27"/>
            <p:cNvSpPr txBox="1"/>
            <p:nvPr/>
          </p:nvSpPr>
          <p:spPr>
            <a:xfrm>
              <a:off x="0" y="0"/>
              <a:ext cx="1952700" cy="1143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142875" lIns="142875" spcFirstLastPara="1" rIns="142875" wrap="square" tIns="1428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33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Robust Accuracy</a:t>
              </a:r>
              <a:endParaRPr b="1" sz="833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1900">
                  <a:solidFill>
                    <a:srgbClr val="2563EB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88.0%</a:t>
              </a:r>
              <a:r>
                <a:rPr b="1" lang="en" sz="1900">
                  <a:solidFill>
                    <a:srgbClr val="2563EB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</a:t>
              </a:r>
              <a:r>
                <a:rPr b="1" lang="en" sz="1900">
                  <a:solidFill>
                    <a:srgbClr val="2563EB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–</a:t>
              </a:r>
              <a:r>
                <a:rPr b="1" lang="en" sz="1900">
                  <a:solidFill>
                    <a:srgbClr val="2563EB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</a:t>
              </a:r>
              <a:r>
                <a:rPr b="1" lang="en" sz="1900">
                  <a:solidFill>
                    <a:srgbClr val="2563EB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90%</a:t>
              </a:r>
              <a:endParaRPr b="1" sz="190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786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PGD-100 (ε=0.05) vs. undefended baselines.</a:t>
              </a:r>
              <a:endParaRPr b="0" sz="786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630" name="Google Shape;630;p27"/>
          <p:cNvGrpSpPr/>
          <p:nvPr/>
        </p:nvGrpSpPr>
        <p:grpSpPr>
          <a:xfrm>
            <a:off x="380925" y="2971607"/>
            <a:ext cx="1952700" cy="1288390"/>
            <a:chOff x="0" y="0"/>
            <a:chExt cx="1952700" cy="1143000"/>
          </a:xfrm>
        </p:grpSpPr>
        <p:sp>
          <p:nvSpPr>
            <p:cNvPr id="631" name="Google Shape;631;p27"/>
            <p:cNvSpPr/>
            <p:nvPr/>
          </p:nvSpPr>
          <p:spPr>
            <a:xfrm>
              <a:off x="0" y="0"/>
              <a:ext cx="1952700" cy="1143000"/>
            </a:xfrm>
            <a:prstGeom prst="roundRect">
              <a:avLst>
                <a:gd fmla="val 8333" name="adj"/>
              </a:avLst>
            </a:prstGeom>
            <a:solidFill>
              <a:srgbClr val="FFFFFF"/>
            </a:solidFill>
            <a:ln cap="flat" cmpd="sng" w="9525">
              <a:solidFill>
                <a:srgbClr val="3B82F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2" name="Google Shape;632;p27"/>
            <p:cNvSpPr txBox="1"/>
            <p:nvPr/>
          </p:nvSpPr>
          <p:spPr>
            <a:xfrm>
              <a:off x="0" y="0"/>
              <a:ext cx="1952700" cy="1143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142875" lIns="142875" spcFirstLastPara="1" rIns="142875" wrap="square" tIns="1428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Attack Success Rate</a:t>
              </a:r>
              <a:endParaRPr b="1" sz="9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2000">
                  <a:solidFill>
                    <a:srgbClr val="4F46E5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&lt; 12.0%</a:t>
              </a:r>
              <a:endParaRPr b="1" sz="600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Under iterative white-box gradient attacks.</a:t>
              </a:r>
              <a:endParaRPr b="0" sz="8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633" name="Google Shape;633;p27"/>
          <p:cNvGrpSpPr/>
          <p:nvPr/>
        </p:nvGrpSpPr>
        <p:grpSpPr>
          <a:xfrm>
            <a:off x="2524050" y="2971607"/>
            <a:ext cx="1952700" cy="1288390"/>
            <a:chOff x="0" y="0"/>
            <a:chExt cx="1952700" cy="1143000"/>
          </a:xfrm>
        </p:grpSpPr>
        <p:sp>
          <p:nvSpPr>
            <p:cNvPr id="634" name="Google Shape;634;p27"/>
            <p:cNvSpPr/>
            <p:nvPr/>
          </p:nvSpPr>
          <p:spPr>
            <a:xfrm>
              <a:off x="0" y="0"/>
              <a:ext cx="1952700" cy="1143000"/>
            </a:xfrm>
            <a:prstGeom prst="roundRect">
              <a:avLst>
                <a:gd fmla="val 8333" name="adj"/>
              </a:avLst>
            </a:prstGeom>
            <a:solidFill>
              <a:srgbClr val="FFFFFF"/>
            </a:solidFill>
            <a:ln cap="flat" cmpd="sng" w="9525">
              <a:solidFill>
                <a:srgbClr val="06B6D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5" name="Google Shape;635;p27"/>
            <p:cNvSpPr txBox="1"/>
            <p:nvPr/>
          </p:nvSpPr>
          <p:spPr>
            <a:xfrm>
              <a:off x="0" y="0"/>
              <a:ext cx="1952700" cy="1143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142875" lIns="142875" spcFirstLastPara="1" rIns="142875" wrap="square" tIns="1428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Inference Speed</a:t>
              </a:r>
              <a:endParaRPr b="1" sz="9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2200">
                  <a:solidFill>
                    <a:srgbClr val="06B6D4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&lt; 0.05ms</a:t>
              </a:r>
              <a:endParaRPr b="1" sz="1000">
                <a:solidFill>
                  <a:srgbClr val="06B6D4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Amortized per flow (preliminary: &lt;0.02 ms).</a:t>
              </a:r>
              <a:endParaRPr b="0" sz="8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636" name="Google Shape;636;p27"/>
          <p:cNvGrpSpPr/>
          <p:nvPr/>
        </p:nvGrpSpPr>
        <p:grpSpPr>
          <a:xfrm>
            <a:off x="4667175" y="1468500"/>
            <a:ext cx="4095900" cy="2791511"/>
            <a:chOff x="0" y="0"/>
            <a:chExt cx="4095900" cy="2476500"/>
          </a:xfrm>
        </p:grpSpPr>
        <p:sp>
          <p:nvSpPr>
            <p:cNvPr id="637" name="Google Shape;637;p27"/>
            <p:cNvSpPr/>
            <p:nvPr/>
          </p:nvSpPr>
          <p:spPr>
            <a:xfrm>
              <a:off x="0" y="0"/>
              <a:ext cx="4095900" cy="2476500"/>
            </a:xfrm>
            <a:prstGeom prst="roundRect">
              <a:avLst>
                <a:gd fmla="val 4615" name="adj"/>
              </a:avLst>
            </a:prstGeom>
            <a:solidFill>
              <a:srgbClr val="FFFFFF"/>
            </a:solidFill>
            <a:ln cap="flat" cmpd="sng" w="9525">
              <a:solidFill>
                <a:srgbClr val="0D2B5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8" name="Google Shape;638;p27"/>
            <p:cNvSpPr/>
            <p:nvPr/>
          </p:nvSpPr>
          <p:spPr>
            <a:xfrm>
              <a:off x="190500" y="190500"/>
              <a:ext cx="38100" cy="381000"/>
            </a:xfrm>
            <a:prstGeom prst="roundRect">
              <a:avLst>
                <a:gd fmla="val 50000" name="adj"/>
              </a:avLst>
            </a:prstGeom>
            <a:solidFill>
              <a:srgbClr val="2563EB"/>
            </a:solidFill>
            <a:ln cap="flat" cmpd="sng" w="9525">
              <a:solidFill>
                <a:srgbClr val="0D2B5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9" name="Google Shape;639;p27"/>
            <p:cNvSpPr txBox="1"/>
            <p:nvPr/>
          </p:nvSpPr>
          <p:spPr>
            <a:xfrm>
              <a:off x="333375" y="280784"/>
              <a:ext cx="3571800" cy="2034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200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0A192F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Multi-Threat Evaluation Suite</a:t>
              </a:r>
              <a:endParaRPr b="0" sz="1300">
                <a:solidFill>
                  <a:srgbClr val="0A192F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950">
                <a:solidFill>
                  <a:srgbClr val="0A192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1" lang="en" sz="950">
                  <a:solidFill>
                    <a:srgbClr val="0A192F"/>
                  </a:solidFill>
                  <a:latin typeface="Inter"/>
                  <a:ea typeface="Inter"/>
                  <a:cs typeface="Inter"/>
                  <a:sym typeface="Inter"/>
                </a:rPr>
                <a:t>First-Order Gradient Attacks</a:t>
              </a:r>
              <a:endParaRPr b="1" sz="950">
                <a:solidFill>
                  <a:srgbClr val="0A192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FGSM, PGD20, PGD100, BIM, DeepFool (minimum-distance boundary perturbation)</a:t>
              </a:r>
              <a:endParaRPr b="0" sz="9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" sz="950">
                  <a:solidFill>
                    <a:srgbClr val="0A192F"/>
                  </a:solidFill>
                  <a:latin typeface="Inter"/>
                  <a:ea typeface="Inter"/>
                  <a:cs typeface="Inter"/>
                  <a:sym typeface="Inter"/>
                </a:rPr>
                <a:t>Parameter-Free &amp; Optimization Attacks</a:t>
              </a:r>
              <a:endParaRPr b="1" sz="950">
                <a:solidFill>
                  <a:srgbClr val="0A192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Auto-PGD (APGD-CE), Carlini-Wagner (l∞)</a:t>
              </a:r>
              <a:endParaRPr b="0" sz="9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" sz="950">
                  <a:solidFill>
                    <a:srgbClr val="0A192F"/>
                  </a:solidFill>
                  <a:latin typeface="Inter"/>
                  <a:ea typeface="Inter"/>
                  <a:cs typeface="Inter"/>
                  <a:sym typeface="Inter"/>
                </a:rPr>
                <a:t>Decision-Based &amp; Black-Box Attacks</a:t>
              </a:r>
              <a:endParaRPr b="1" sz="950">
                <a:solidFill>
                  <a:srgbClr val="0A192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Square Attack (query-based), Surrogate Model Transferability</a:t>
              </a:r>
              <a:endParaRPr b="0" sz="9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b="1" lang="en" sz="95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Gradient Obfuscation Safeguards</a:t>
              </a:r>
              <a:endParaRPr b="1" sz="95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" sz="936">
                  <a:solidFill>
                    <a:schemeClr val="dk2"/>
                  </a:solidFill>
                  <a:latin typeface="Inter"/>
                  <a:ea typeface="Inter"/>
                  <a:cs typeface="Inter"/>
                  <a:sym typeface="Inter"/>
                </a:rPr>
                <a:t>Validate that robustness is genuine and not caused by gradient masking (verifying non-zero input gradients and evaluating black-box transferability </a:t>
              </a:r>
              <a:r>
                <a:rPr b="1" lang="en" sz="936">
                  <a:solidFill>
                    <a:schemeClr val="dk2"/>
                  </a:solidFill>
                  <a:latin typeface="Inter"/>
                  <a:ea typeface="Inter"/>
                  <a:cs typeface="Inter"/>
                  <a:sym typeface="Inter"/>
                </a:rPr>
                <a:t>[12]</a:t>
              </a:r>
              <a:r>
                <a:rPr lang="en" sz="936">
                  <a:solidFill>
                    <a:schemeClr val="dk2"/>
                  </a:solidFill>
                  <a:latin typeface="Inter"/>
                  <a:ea typeface="Inter"/>
                  <a:cs typeface="Inter"/>
                  <a:sym typeface="Inter"/>
                </a:rPr>
                <a:t>).</a:t>
              </a:r>
              <a:endParaRPr sz="936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95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t/>
              </a:r>
              <a:endParaRPr sz="9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640" name="Google Shape;640;p27"/>
          <p:cNvSpPr txBox="1"/>
          <p:nvPr/>
        </p:nvSpPr>
        <p:spPr>
          <a:xfrm>
            <a:off x="8371425" y="4776393"/>
            <a:ext cx="391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64748B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13</a:t>
            </a:r>
            <a:endParaRPr sz="1200">
              <a:solidFill>
                <a:srgbClr val="64748B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5" name="Google Shape;645;p28"/>
          <p:cNvPicPr preferRelativeResize="0"/>
          <p:nvPr/>
        </p:nvPicPr>
        <p:blipFill>
          <a:blip r:embed="rId3">
            <a:alphaModFix amt="40000"/>
          </a:blip>
          <a:stretch>
            <a:fillRect/>
          </a:stretch>
        </p:blipFill>
        <p:spPr>
          <a:xfrm>
            <a:off x="0" y="19936"/>
            <a:ext cx="9144002" cy="5103629"/>
          </a:xfrm>
          <a:prstGeom prst="rect">
            <a:avLst/>
          </a:prstGeom>
          <a:noFill/>
          <a:ln>
            <a:noFill/>
          </a:ln>
        </p:spPr>
      </p:pic>
      <p:sp>
        <p:nvSpPr>
          <p:cNvPr id="646" name="Google Shape;646;p28"/>
          <p:cNvSpPr/>
          <p:nvPr/>
        </p:nvSpPr>
        <p:spPr>
          <a:xfrm>
            <a:off x="381000" y="952500"/>
            <a:ext cx="8382000" cy="96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7" name="Google Shape;647;p28"/>
          <p:cNvSpPr/>
          <p:nvPr/>
        </p:nvSpPr>
        <p:spPr>
          <a:xfrm>
            <a:off x="381000" y="4667250"/>
            <a:ext cx="8382000" cy="96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48" name="Google Shape;648;p28"/>
          <p:cNvGrpSpPr/>
          <p:nvPr/>
        </p:nvGrpSpPr>
        <p:grpSpPr>
          <a:xfrm>
            <a:off x="381000" y="333375"/>
            <a:ext cx="285900" cy="190500"/>
            <a:chOff x="0" y="0"/>
            <a:chExt cx="285900" cy="190500"/>
          </a:xfrm>
        </p:grpSpPr>
        <p:sp>
          <p:nvSpPr>
            <p:cNvPr id="649" name="Google Shape;649;p28"/>
            <p:cNvSpPr/>
            <p:nvPr/>
          </p:nvSpPr>
          <p:spPr>
            <a:xfrm>
              <a:off x="0" y="0"/>
              <a:ext cx="285900" cy="190500"/>
            </a:xfrm>
            <a:custGeom>
              <a:rect b="b" l="l" r="r" t="t"/>
              <a:pathLst>
                <a:path extrusionOk="0" h="120000" w="120000">
                  <a:moveTo>
                    <a:pt x="39999" y="0"/>
                  </a:moveTo>
                  <a:lnTo>
                    <a:pt x="120000" y="0"/>
                  </a:lnTo>
                  <a:lnTo>
                    <a:pt x="80001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06B6D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0" name="Google Shape;650;p28"/>
            <p:cNvSpPr/>
            <p:nvPr/>
          </p:nvSpPr>
          <p:spPr>
            <a:xfrm>
              <a:off x="142875" y="0"/>
              <a:ext cx="142800" cy="190500"/>
            </a:xfrm>
            <a:custGeom>
              <a:rect b="b" l="l" r="r" t="t"/>
              <a:pathLst>
                <a:path extrusionOk="0" h="120000" w="120000">
                  <a:moveTo>
                    <a:pt x="80003" y="0"/>
                  </a:moveTo>
                  <a:lnTo>
                    <a:pt x="120000" y="0"/>
                  </a:lnTo>
                  <a:lnTo>
                    <a:pt x="39997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51" name="Google Shape;651;p28"/>
          <p:cNvSpPr txBox="1"/>
          <p:nvPr/>
        </p:nvSpPr>
        <p:spPr>
          <a:xfrm>
            <a:off x="857250" y="228600"/>
            <a:ext cx="79059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000">
                <a:solidFill>
                  <a:srgbClr val="0A192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Conclusion &amp; Immediate Next Steps</a:t>
            </a:r>
            <a:endParaRPr b="0" sz="2000">
              <a:solidFill>
                <a:srgbClr val="0A192F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l">
              <a:spcBef>
                <a:spcPts val="225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Summary of proposed contributions and immediate project execution roadmap</a:t>
            </a:r>
            <a:endParaRPr b="0" sz="10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652" name="Google Shape;652;p28"/>
          <p:cNvGrpSpPr/>
          <p:nvPr/>
        </p:nvGrpSpPr>
        <p:grpSpPr>
          <a:xfrm>
            <a:off x="381000" y="1047750"/>
            <a:ext cx="8382150" cy="3429000"/>
            <a:chOff x="381000" y="1047750"/>
            <a:chExt cx="8382150" cy="3429000"/>
          </a:xfrm>
        </p:grpSpPr>
        <p:sp>
          <p:nvSpPr>
            <p:cNvPr id="653" name="Google Shape;653;p28"/>
            <p:cNvSpPr/>
            <p:nvPr/>
          </p:nvSpPr>
          <p:spPr>
            <a:xfrm>
              <a:off x="381000" y="1047750"/>
              <a:ext cx="4095900" cy="3429000"/>
            </a:xfrm>
            <a:prstGeom prst="roundRect">
              <a:avLst>
                <a:gd fmla="val 3333" name="adj"/>
              </a:avLst>
            </a:prstGeom>
            <a:solidFill>
              <a:srgbClr val="FFFFFF"/>
            </a:solidFill>
            <a:ln cap="flat" cmpd="sng" w="14300">
              <a:solidFill>
                <a:srgbClr val="A4C2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654" name="Google Shape;654;p28"/>
            <p:cNvGrpSpPr/>
            <p:nvPr/>
          </p:nvGrpSpPr>
          <p:grpSpPr>
            <a:xfrm>
              <a:off x="523875" y="1190625"/>
              <a:ext cx="1619100" cy="209700"/>
              <a:chOff x="0" y="0"/>
              <a:chExt cx="1619100" cy="209700"/>
            </a:xfrm>
          </p:grpSpPr>
          <p:sp>
            <p:nvSpPr>
              <p:cNvPr id="655" name="Google Shape;655;p28"/>
              <p:cNvSpPr/>
              <p:nvPr/>
            </p:nvSpPr>
            <p:spPr>
              <a:xfrm>
                <a:off x="0" y="0"/>
                <a:ext cx="1619100" cy="209700"/>
              </a:xfrm>
              <a:prstGeom prst="roundRect">
                <a:avLst>
                  <a:gd fmla="val 18181" name="adj"/>
                </a:avLst>
              </a:prstGeom>
              <a:solidFill>
                <a:srgbClr val="EFF6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6" name="Google Shape;656;p28"/>
              <p:cNvSpPr txBox="1"/>
              <p:nvPr/>
            </p:nvSpPr>
            <p:spPr>
              <a:xfrm>
                <a:off x="0" y="0"/>
                <a:ext cx="1619100" cy="209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750">
                    <a:solidFill>
                      <a:srgbClr val="2563EB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PROPOSED CONTRIBUTIONS</a:t>
                </a:r>
                <a:endParaRPr b="1" sz="750">
                  <a:solidFill>
                    <a:srgbClr val="2563EB"/>
                  </a:solidFill>
                  <a:latin typeface="Roboto Mono"/>
                  <a:ea typeface="Roboto Mono"/>
                  <a:cs typeface="Roboto Mono"/>
                  <a:sym typeface="Roboto Mono"/>
                </a:endParaRPr>
              </a:p>
            </p:txBody>
          </p:sp>
        </p:grpSp>
        <p:grpSp>
          <p:nvGrpSpPr>
            <p:cNvPr id="657" name="Google Shape;657;p28"/>
            <p:cNvGrpSpPr/>
            <p:nvPr/>
          </p:nvGrpSpPr>
          <p:grpSpPr>
            <a:xfrm>
              <a:off x="523875" y="1571625"/>
              <a:ext cx="3762375" cy="714300"/>
              <a:chOff x="0" y="0"/>
              <a:chExt cx="3762375" cy="714300"/>
            </a:xfrm>
          </p:grpSpPr>
          <p:sp>
            <p:nvSpPr>
              <p:cNvPr id="658" name="Google Shape;658;p28"/>
              <p:cNvSpPr/>
              <p:nvPr/>
            </p:nvSpPr>
            <p:spPr>
              <a:xfrm>
                <a:off x="0" y="0"/>
                <a:ext cx="38100" cy="714300"/>
              </a:xfrm>
              <a:prstGeom prst="roundRect">
                <a:avLst>
                  <a:gd fmla="val 50000" name="adj"/>
                </a:avLst>
              </a:prstGeom>
              <a:solidFill>
                <a:srgbClr val="2563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9" name="Google Shape;659;p28"/>
              <p:cNvSpPr txBox="1"/>
              <p:nvPr/>
            </p:nvSpPr>
            <p:spPr>
              <a:xfrm>
                <a:off x="142875" y="0"/>
                <a:ext cx="3619500" cy="714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950">
                    <a:solidFill>
                      <a:srgbClr val="0A192F"/>
                    </a:solidFill>
                    <a:latin typeface="Inter"/>
                    <a:ea typeface="Inter"/>
                    <a:cs typeface="Inter"/>
                    <a:sym typeface="Inter"/>
                  </a:rPr>
                  <a:t>Robust Feature Selection &amp; SMOTE Balancing</a:t>
                </a:r>
                <a:endParaRPr b="1" sz="950">
                  <a:solidFill>
                    <a:srgbClr val="0A192F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225"/>
                  </a:spcBef>
                  <a:spcAft>
                    <a:spcPts val="0"/>
                  </a:spcAft>
                  <a:buNone/>
                </a:pPr>
                <a:r>
                  <a:rPr b="0" lang="en" sz="850">
                    <a:solidFill>
                      <a:srgbClr val="334155"/>
                    </a:solidFill>
                    <a:latin typeface="Inter"/>
                    <a:ea typeface="Inter"/>
                    <a:cs typeface="Inter"/>
                    <a:sym typeface="Inter"/>
                  </a:rPr>
                  <a:t>Formulates Adversarial Stability SHAP (80% stability rule isolating 27 invariant features) combined with leak-free SMOTE class balancing strictly inside the training split.</a:t>
                </a:r>
                <a:endParaRPr b="0" sz="8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660" name="Google Shape;660;p28"/>
            <p:cNvGrpSpPr/>
            <p:nvPr/>
          </p:nvGrpSpPr>
          <p:grpSpPr>
            <a:xfrm>
              <a:off x="523875" y="2428875"/>
              <a:ext cx="3762375" cy="714300"/>
              <a:chOff x="0" y="0"/>
              <a:chExt cx="3762375" cy="714300"/>
            </a:xfrm>
          </p:grpSpPr>
          <p:sp>
            <p:nvSpPr>
              <p:cNvPr id="661" name="Google Shape;661;p28"/>
              <p:cNvSpPr/>
              <p:nvPr/>
            </p:nvSpPr>
            <p:spPr>
              <a:xfrm>
                <a:off x="0" y="0"/>
                <a:ext cx="38100" cy="714300"/>
              </a:xfrm>
              <a:prstGeom prst="roundRect">
                <a:avLst>
                  <a:gd fmla="val 50000" name="adj"/>
                </a:avLst>
              </a:prstGeom>
              <a:solidFill>
                <a:srgbClr val="06B6D4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2" name="Google Shape;662;p28"/>
              <p:cNvSpPr txBox="1"/>
              <p:nvPr/>
            </p:nvSpPr>
            <p:spPr>
              <a:xfrm>
                <a:off x="142875" y="0"/>
                <a:ext cx="3619500" cy="714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950">
                    <a:solidFill>
                      <a:srgbClr val="0A192F"/>
                    </a:solidFill>
                    <a:latin typeface="Inter"/>
                    <a:ea typeface="Inter"/>
                    <a:cs typeface="Inter"/>
                    <a:sym typeface="Inter"/>
                  </a:rPr>
                  <a:t>Two-Phase Dynamic Adversarial Training</a:t>
                </a:r>
                <a:endParaRPr b="1" sz="950">
                  <a:solidFill>
                    <a:srgbClr val="0A192F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225"/>
                  </a:spcBef>
                  <a:spcAft>
                    <a:spcPts val="0"/>
                  </a:spcAft>
                  <a:buNone/>
                </a:pPr>
                <a:r>
                  <a:rPr b="0" lang="en" sz="850">
                    <a:solidFill>
                      <a:srgbClr val="334155"/>
                    </a:solidFill>
                    <a:latin typeface="Inter"/>
                    <a:ea typeface="Inter"/>
                    <a:cs typeface="Inter"/>
                    <a:sym typeface="Inter"/>
                  </a:rPr>
                  <a:t>Proposes representation warmup (Epochs 1–10) followed by live 5-step online PGD mini-batch hardening (Epochs 11–50) to track moving decision boundaries and eliminate attack staleness.</a:t>
                </a:r>
                <a:endParaRPr b="0" sz="8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663" name="Google Shape;663;p28"/>
            <p:cNvGrpSpPr/>
            <p:nvPr/>
          </p:nvGrpSpPr>
          <p:grpSpPr>
            <a:xfrm>
              <a:off x="523875" y="3286125"/>
              <a:ext cx="3762375" cy="714300"/>
              <a:chOff x="0" y="0"/>
              <a:chExt cx="3762375" cy="714300"/>
            </a:xfrm>
          </p:grpSpPr>
          <p:sp>
            <p:nvSpPr>
              <p:cNvPr id="664" name="Google Shape;664;p28"/>
              <p:cNvSpPr/>
              <p:nvPr/>
            </p:nvSpPr>
            <p:spPr>
              <a:xfrm>
                <a:off x="0" y="0"/>
                <a:ext cx="38100" cy="714300"/>
              </a:xfrm>
              <a:prstGeom prst="roundRect">
                <a:avLst>
                  <a:gd fmla="val 50000" name="adj"/>
                </a:avLst>
              </a:prstGeom>
              <a:solidFill>
                <a:srgbClr val="1E3A8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5" name="Google Shape;665;p28"/>
              <p:cNvSpPr txBox="1"/>
              <p:nvPr/>
            </p:nvSpPr>
            <p:spPr>
              <a:xfrm>
                <a:off x="142875" y="0"/>
                <a:ext cx="3619500" cy="714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950">
                    <a:solidFill>
                      <a:srgbClr val="0A192F"/>
                    </a:solidFill>
                    <a:latin typeface="Inter"/>
                    <a:ea typeface="Inter"/>
                    <a:cs typeface="Inter"/>
                    <a:sym typeface="Inter"/>
                  </a:rPr>
                  <a:t>Comprehensive Multi-Threat Evaluation</a:t>
                </a:r>
                <a:endParaRPr b="1" sz="950">
                  <a:solidFill>
                    <a:srgbClr val="0A192F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225"/>
                  </a:spcBef>
                  <a:spcAft>
                    <a:spcPts val="0"/>
                  </a:spcAft>
                  <a:buNone/>
                </a:pPr>
                <a:r>
                  <a:rPr b="0" lang="en" sz="850">
                    <a:solidFill>
                      <a:srgbClr val="334155"/>
                    </a:solidFill>
                    <a:latin typeface="Inter"/>
                    <a:ea typeface="Inter"/>
                    <a:cs typeface="Inter"/>
                    <a:sym typeface="Inter"/>
                  </a:rPr>
                  <a:t>Rigorous robustness verification across diverse attack modalities (FGSM, DeepFool, PGD, CW, Square Attack) with zero socket-shortcut leakage.</a:t>
                </a:r>
                <a:endParaRPr b="0" sz="8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sp>
          <p:nvSpPr>
            <p:cNvPr id="666" name="Google Shape;666;p28"/>
            <p:cNvSpPr/>
            <p:nvPr/>
          </p:nvSpPr>
          <p:spPr>
            <a:xfrm>
              <a:off x="4667250" y="1047750"/>
              <a:ext cx="4095900" cy="3429000"/>
            </a:xfrm>
            <a:prstGeom prst="roundRect">
              <a:avLst>
                <a:gd fmla="val 3333" name="adj"/>
              </a:avLst>
            </a:prstGeom>
            <a:solidFill>
              <a:srgbClr val="FFFFFF"/>
            </a:solidFill>
            <a:ln cap="flat" cmpd="sng" w="14300">
              <a:solidFill>
                <a:srgbClr val="9FC5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667" name="Google Shape;667;p28"/>
            <p:cNvGrpSpPr/>
            <p:nvPr/>
          </p:nvGrpSpPr>
          <p:grpSpPr>
            <a:xfrm>
              <a:off x="4810125" y="1190625"/>
              <a:ext cx="1238400" cy="209700"/>
              <a:chOff x="0" y="0"/>
              <a:chExt cx="1238400" cy="209700"/>
            </a:xfrm>
          </p:grpSpPr>
          <p:sp>
            <p:nvSpPr>
              <p:cNvPr id="668" name="Google Shape;668;p28"/>
              <p:cNvSpPr/>
              <p:nvPr/>
            </p:nvSpPr>
            <p:spPr>
              <a:xfrm>
                <a:off x="0" y="0"/>
                <a:ext cx="1238400" cy="209700"/>
              </a:xfrm>
              <a:prstGeom prst="roundRect">
                <a:avLst>
                  <a:gd fmla="val 18181" name="adj"/>
                </a:avLst>
              </a:prstGeom>
              <a:solidFill>
                <a:srgbClr val="F1F5F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9" name="Google Shape;669;p28"/>
              <p:cNvSpPr txBox="1"/>
              <p:nvPr/>
            </p:nvSpPr>
            <p:spPr>
              <a:xfrm>
                <a:off x="0" y="0"/>
                <a:ext cx="1238400" cy="209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750">
                    <a:solidFill>
                      <a:srgbClr val="06B6D4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SEPT 11 – OCT 11</a:t>
                </a:r>
                <a:endParaRPr b="1" sz="750">
                  <a:solidFill>
                    <a:srgbClr val="06B6D4"/>
                  </a:solidFill>
                  <a:latin typeface="Roboto Mono"/>
                  <a:ea typeface="Roboto Mono"/>
                  <a:cs typeface="Roboto Mono"/>
                  <a:sym typeface="Roboto Mono"/>
                </a:endParaRPr>
              </a:p>
            </p:txBody>
          </p:sp>
        </p:grpSp>
        <p:sp>
          <p:nvSpPr>
            <p:cNvPr id="670" name="Google Shape;670;p28"/>
            <p:cNvSpPr txBox="1"/>
            <p:nvPr/>
          </p:nvSpPr>
          <p:spPr>
            <a:xfrm>
              <a:off x="4810125" y="1476375"/>
              <a:ext cx="3810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0A192F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Immediate Next Milestones</a:t>
              </a:r>
              <a:endParaRPr b="0" sz="1300">
                <a:solidFill>
                  <a:srgbClr val="0A192F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  <p:grpSp>
          <p:nvGrpSpPr>
            <p:cNvPr id="671" name="Google Shape;671;p28"/>
            <p:cNvGrpSpPr/>
            <p:nvPr/>
          </p:nvGrpSpPr>
          <p:grpSpPr>
            <a:xfrm>
              <a:off x="4810125" y="1857375"/>
              <a:ext cx="3781350" cy="476400"/>
              <a:chOff x="0" y="0"/>
              <a:chExt cx="3781350" cy="476400"/>
            </a:xfrm>
          </p:grpSpPr>
          <p:sp>
            <p:nvSpPr>
              <p:cNvPr id="672" name="Google Shape;672;p28"/>
              <p:cNvSpPr/>
              <p:nvPr/>
            </p:nvSpPr>
            <p:spPr>
              <a:xfrm>
                <a:off x="0" y="95250"/>
                <a:ext cx="285900" cy="285900"/>
              </a:xfrm>
              <a:prstGeom prst="ellipse">
                <a:avLst/>
              </a:prstGeom>
              <a:solidFill>
                <a:srgbClr val="2563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3" name="Google Shape;673;p28"/>
              <p:cNvSpPr txBox="1"/>
              <p:nvPr/>
            </p:nvSpPr>
            <p:spPr>
              <a:xfrm>
                <a:off x="0" y="95250"/>
                <a:ext cx="2859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900">
                    <a:solidFill>
                      <a:srgbClr val="FFFFFF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01</a:t>
                </a:r>
                <a:endParaRPr b="1" sz="900">
                  <a:solidFill>
                    <a:srgbClr val="FFFFFF"/>
                  </a:solidFill>
                  <a:latin typeface="Roboto Mono"/>
                  <a:ea typeface="Roboto Mono"/>
                  <a:cs typeface="Roboto Mono"/>
                  <a:sym typeface="Roboto Mono"/>
                </a:endParaRPr>
              </a:p>
            </p:txBody>
          </p:sp>
          <p:sp>
            <p:nvSpPr>
              <p:cNvPr id="674" name="Google Shape;674;p28"/>
              <p:cNvSpPr txBox="1"/>
              <p:nvPr/>
            </p:nvSpPr>
            <p:spPr>
              <a:xfrm>
                <a:off x="400050" y="0"/>
                <a:ext cx="33813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850">
                    <a:solidFill>
                      <a:srgbClr val="334155"/>
                    </a:solidFill>
                    <a:latin typeface="Inter"/>
                    <a:ea typeface="Inter"/>
                    <a:cs typeface="Inter"/>
                    <a:sym typeface="Inter"/>
                  </a:rPr>
                  <a:t>Execute 3-seed experimental runs across all 9 adversarial threat models.</a:t>
                </a:r>
                <a:endParaRPr b="0" sz="8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675" name="Google Shape;675;p28"/>
            <p:cNvGrpSpPr/>
            <p:nvPr/>
          </p:nvGrpSpPr>
          <p:grpSpPr>
            <a:xfrm>
              <a:off x="4810125" y="2524125"/>
              <a:ext cx="3781350" cy="476400"/>
              <a:chOff x="0" y="0"/>
              <a:chExt cx="3781350" cy="476400"/>
            </a:xfrm>
          </p:grpSpPr>
          <p:sp>
            <p:nvSpPr>
              <p:cNvPr id="676" name="Google Shape;676;p28"/>
              <p:cNvSpPr/>
              <p:nvPr/>
            </p:nvSpPr>
            <p:spPr>
              <a:xfrm>
                <a:off x="0" y="95250"/>
                <a:ext cx="285900" cy="285900"/>
              </a:xfrm>
              <a:prstGeom prst="ellipse">
                <a:avLst/>
              </a:prstGeom>
              <a:solidFill>
                <a:srgbClr val="06B6D4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7" name="Google Shape;677;p28"/>
              <p:cNvSpPr txBox="1"/>
              <p:nvPr/>
            </p:nvSpPr>
            <p:spPr>
              <a:xfrm>
                <a:off x="0" y="95250"/>
                <a:ext cx="2859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900">
                    <a:solidFill>
                      <a:srgbClr val="FFFFFF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02</a:t>
                </a:r>
                <a:endParaRPr b="1" sz="900">
                  <a:solidFill>
                    <a:srgbClr val="FFFFFF"/>
                  </a:solidFill>
                  <a:latin typeface="Roboto Mono"/>
                  <a:ea typeface="Roboto Mono"/>
                  <a:cs typeface="Roboto Mono"/>
                  <a:sym typeface="Roboto Mono"/>
                </a:endParaRPr>
              </a:p>
            </p:txBody>
          </p:sp>
          <p:sp>
            <p:nvSpPr>
              <p:cNvPr id="678" name="Google Shape;678;p28"/>
              <p:cNvSpPr txBox="1"/>
              <p:nvPr/>
            </p:nvSpPr>
            <p:spPr>
              <a:xfrm>
                <a:off x="400050" y="0"/>
                <a:ext cx="33813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850">
                    <a:solidFill>
                      <a:srgbClr val="334155"/>
                    </a:solidFill>
                    <a:latin typeface="Inter"/>
                    <a:ea typeface="Inter"/>
                    <a:cs typeface="Inter"/>
                    <a:sym typeface="Inter"/>
                  </a:rPr>
                  <a:t>Conduct ablation studies: (1) Full 69D vs. 40D MI vs. 27D Stable; (2) Static Triad vs. Dynamic PGD.</a:t>
                </a:r>
                <a:endParaRPr b="0" sz="8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679" name="Google Shape;679;p28"/>
            <p:cNvGrpSpPr/>
            <p:nvPr/>
          </p:nvGrpSpPr>
          <p:grpSpPr>
            <a:xfrm>
              <a:off x="4810125" y="3190875"/>
              <a:ext cx="3781350" cy="523800"/>
              <a:chOff x="0" y="0"/>
              <a:chExt cx="3781350" cy="523800"/>
            </a:xfrm>
          </p:grpSpPr>
          <p:sp>
            <p:nvSpPr>
              <p:cNvPr id="680" name="Google Shape;680;p28"/>
              <p:cNvSpPr/>
              <p:nvPr/>
            </p:nvSpPr>
            <p:spPr>
              <a:xfrm>
                <a:off x="0" y="95250"/>
                <a:ext cx="285900" cy="285900"/>
              </a:xfrm>
              <a:prstGeom prst="ellipse">
                <a:avLst/>
              </a:prstGeom>
              <a:solidFill>
                <a:srgbClr val="1E3A8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1" name="Google Shape;681;p28"/>
              <p:cNvSpPr txBox="1"/>
              <p:nvPr/>
            </p:nvSpPr>
            <p:spPr>
              <a:xfrm>
                <a:off x="0" y="95250"/>
                <a:ext cx="2859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900">
                    <a:solidFill>
                      <a:srgbClr val="FFFFFF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03</a:t>
                </a:r>
                <a:endParaRPr b="1" sz="900">
                  <a:solidFill>
                    <a:srgbClr val="FFFFFF"/>
                  </a:solidFill>
                  <a:latin typeface="Roboto Mono"/>
                  <a:ea typeface="Roboto Mono"/>
                  <a:cs typeface="Roboto Mono"/>
                  <a:sym typeface="Roboto Mono"/>
                </a:endParaRPr>
              </a:p>
            </p:txBody>
          </p:sp>
          <p:sp>
            <p:nvSpPr>
              <p:cNvPr id="682" name="Google Shape;682;p28"/>
              <p:cNvSpPr txBox="1"/>
              <p:nvPr/>
            </p:nvSpPr>
            <p:spPr>
              <a:xfrm>
                <a:off x="400050" y="0"/>
                <a:ext cx="3381300" cy="523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850">
                    <a:solidFill>
                      <a:srgbClr val="334155"/>
                    </a:solidFill>
                    <a:latin typeface="Inter"/>
                    <a:ea typeface="Inter"/>
                    <a:cs typeface="Inter"/>
                    <a:sym typeface="Inter"/>
                  </a:rPr>
                  <a:t>Complete and submit the final undergraduate B.Sc. thesis manuscript for defense.</a:t>
                </a:r>
                <a:endParaRPr b="0" sz="8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sp>
        <p:nvSpPr>
          <p:cNvPr id="683" name="Google Shape;683;p28"/>
          <p:cNvSpPr txBox="1"/>
          <p:nvPr/>
        </p:nvSpPr>
        <p:spPr>
          <a:xfrm>
            <a:off x="8371425" y="4776393"/>
            <a:ext cx="391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64748B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14</a:t>
            </a:r>
            <a:endParaRPr sz="1200">
              <a:solidFill>
                <a:srgbClr val="64748B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7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29"/>
          <p:cNvSpPr/>
          <p:nvPr/>
        </p:nvSpPr>
        <p:spPr>
          <a:xfrm>
            <a:off x="135000" y="675000"/>
            <a:ext cx="8835000" cy="4101900"/>
          </a:xfrm>
          <a:prstGeom prst="roundRect">
            <a:avLst>
              <a:gd fmla="val 5605" name="adj"/>
            </a:avLst>
          </a:prstGeom>
          <a:solidFill>
            <a:srgbClr val="FFFFFF"/>
          </a:solidFill>
          <a:ln cap="flat" cmpd="sng" w="9525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89" name="Google Shape;689;p29"/>
          <p:cNvGrpSpPr/>
          <p:nvPr/>
        </p:nvGrpSpPr>
        <p:grpSpPr>
          <a:xfrm>
            <a:off x="285750" y="203835"/>
            <a:ext cx="8477400" cy="666900"/>
            <a:chOff x="-95250" y="0"/>
            <a:chExt cx="8477400" cy="666900"/>
          </a:xfrm>
        </p:grpSpPr>
        <p:sp>
          <p:nvSpPr>
            <p:cNvPr id="690" name="Google Shape;690;p29"/>
            <p:cNvSpPr/>
            <p:nvPr/>
          </p:nvSpPr>
          <p:spPr>
            <a:xfrm>
              <a:off x="-95250" y="57150"/>
              <a:ext cx="285900" cy="190500"/>
            </a:xfrm>
            <a:custGeom>
              <a:rect b="b" l="l" r="r" t="t"/>
              <a:pathLst>
                <a:path extrusionOk="0" h="120000" w="120000">
                  <a:moveTo>
                    <a:pt x="40000" y="0"/>
                  </a:moveTo>
                  <a:lnTo>
                    <a:pt x="120000" y="0"/>
                  </a:lnTo>
                  <a:lnTo>
                    <a:pt x="8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06B6D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1" name="Google Shape;691;p29"/>
            <p:cNvSpPr/>
            <p:nvPr/>
          </p:nvSpPr>
          <p:spPr>
            <a:xfrm>
              <a:off x="142875" y="57150"/>
              <a:ext cx="142800" cy="190500"/>
            </a:xfrm>
            <a:custGeom>
              <a:rect b="b" l="l" r="r" t="t"/>
              <a:pathLst>
                <a:path extrusionOk="0" h="120000" w="120000">
                  <a:moveTo>
                    <a:pt x="80000" y="0"/>
                  </a:moveTo>
                  <a:lnTo>
                    <a:pt x="120000" y="0"/>
                  </a:lnTo>
                  <a:lnTo>
                    <a:pt x="4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2" name="Google Shape;692;p29"/>
            <p:cNvSpPr txBox="1"/>
            <p:nvPr/>
          </p:nvSpPr>
          <p:spPr>
            <a:xfrm>
              <a:off x="476250" y="0"/>
              <a:ext cx="79059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2000">
                  <a:solidFill>
                    <a:srgbClr val="0A192F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References </a:t>
              </a:r>
              <a:endParaRPr b="0" sz="2000">
                <a:solidFill>
                  <a:srgbClr val="0A192F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338"/>
                </a:spcAft>
                <a:buNone/>
              </a:pPr>
              <a:r>
                <a:t/>
              </a:r>
              <a:endParaRPr b="0"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693" name="Google Shape;693;p29"/>
          <p:cNvGrpSpPr/>
          <p:nvPr/>
        </p:nvGrpSpPr>
        <p:grpSpPr>
          <a:xfrm>
            <a:off x="225000" y="817500"/>
            <a:ext cx="8662378" cy="3802180"/>
            <a:chOff x="-59141" y="0"/>
            <a:chExt cx="8433000" cy="3762300"/>
          </a:xfrm>
        </p:grpSpPr>
        <p:sp>
          <p:nvSpPr>
            <p:cNvPr id="694" name="Google Shape;694;p29"/>
            <p:cNvSpPr/>
            <p:nvPr/>
          </p:nvSpPr>
          <p:spPr>
            <a:xfrm>
              <a:off x="0" y="0"/>
              <a:ext cx="8286900" cy="37623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5" name="Google Shape;695;p29"/>
            <p:cNvSpPr txBox="1"/>
            <p:nvPr/>
          </p:nvSpPr>
          <p:spPr>
            <a:xfrm>
              <a:off x="-59141" y="0"/>
              <a:ext cx="8433000" cy="376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7625" lIns="47625" spcFirstLastPara="1" rIns="47625" wrap="square" tIns="476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01">
                  <a:solidFill>
                    <a:srgbClr val="2563EB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[1]</a:t>
              </a:r>
              <a:r>
                <a:rPr lang="en" sz="801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Holla, Polepalli, &amp; Sasikumar, "Adversarial Threats to Cloud IDS: Robust Defense With Adversarial Training and Feature Selection," </a:t>
              </a:r>
              <a:r>
                <a:rPr i="1" lang="en" sz="801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IEEE Access</a:t>
              </a:r>
              <a:r>
                <a:rPr lang="en" sz="801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, vol. 13, 2025.</a:t>
              </a:r>
              <a:endParaRPr sz="80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1" lang="en" sz="801">
                  <a:solidFill>
                    <a:srgbClr val="2563EB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[2]</a:t>
              </a:r>
              <a:r>
                <a:rPr lang="en" sz="801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Olukola &amp; Rahimi, "Adversarial Hardening of Deep Neural Network-Based Network Intrusion Detection Systems," </a:t>
              </a:r>
              <a:r>
                <a:rPr i="1" lang="en" sz="801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IEEE Transactions on Information Forensics and Security</a:t>
              </a:r>
              <a:r>
                <a:rPr lang="en" sz="801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, vol. 21, 2026.</a:t>
              </a:r>
              <a:endParaRPr sz="80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1" lang="en" sz="801">
                  <a:solidFill>
                    <a:srgbClr val="2563EB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[3]</a:t>
              </a:r>
              <a:r>
                <a:rPr lang="en" sz="801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Güvenç Paltun et al., "Real-Time Explainable AI Gate for Detecting Adversarial Perturbations in Network Intrusion Detection," </a:t>
              </a:r>
              <a:r>
                <a:rPr i="1" lang="en" sz="801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IEEE Transactions on Reliability</a:t>
              </a:r>
              <a:r>
                <a:rPr lang="en" sz="801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, 2025.</a:t>
              </a:r>
              <a:endParaRPr sz="80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1" lang="en" sz="801">
                  <a:solidFill>
                    <a:srgbClr val="2563EB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[4]</a:t>
              </a:r>
              <a:r>
                <a:rPr lang="en" sz="801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Zeng et al., "CSAGC-IDS: Channel-Spatial Attention Graph Convolutional Network for Intrusion Detection," </a:t>
              </a:r>
              <a:r>
                <a:rPr i="1" lang="en" sz="801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IEEE Internet of Things Journal</a:t>
              </a:r>
              <a:r>
                <a:rPr lang="en" sz="801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, 2025.</a:t>
              </a:r>
              <a:endParaRPr sz="80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1" lang="en" sz="801">
                  <a:solidFill>
                    <a:srgbClr val="2563EB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[5]</a:t>
              </a:r>
              <a:r>
                <a:rPr lang="en" sz="801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lang="en" sz="801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Zhou et al., "Provable Certified Robustness Guarantees for Deep Tabular Anomaly Detectors," </a:t>
              </a:r>
              <a:r>
                <a:rPr i="1" lang="en" sz="801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IEEE Transactions on Dependable and Secure Computing</a:t>
              </a:r>
              <a:r>
                <a:rPr lang="en" sz="801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, 2023.</a:t>
              </a:r>
              <a:br>
                <a:rPr lang="en" sz="801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</a:br>
              <a:r>
                <a:rPr b="1" lang="en" sz="801">
                  <a:solidFill>
                    <a:srgbClr val="2563EB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[6]</a:t>
              </a:r>
              <a:r>
                <a:rPr lang="en" sz="801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Ennaji et al., "Black-Box Adversarial Detection via Stateful Query Profiling in Deep IDS," </a:t>
              </a:r>
              <a:r>
                <a:rPr i="1" lang="en" sz="801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IEEE Transactions on Information Forensics and Security</a:t>
              </a:r>
              <a:r>
                <a:rPr lang="en" sz="801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, 2025.</a:t>
              </a:r>
              <a:endParaRPr sz="80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1" lang="en" sz="801">
                  <a:solidFill>
                    <a:srgbClr val="2563EB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[7]</a:t>
              </a:r>
              <a:r>
                <a:rPr lang="en" sz="801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lang="en" sz="801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Roshan et al., "Empirical Robustness Limits of Deep Learning Network Intrusion Detection Systems," </a:t>
              </a:r>
              <a:r>
                <a:rPr i="1" lang="en" sz="801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IEEE Access</a:t>
              </a:r>
              <a:r>
                <a:rPr lang="en" sz="801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, 2023.</a:t>
              </a:r>
              <a:endParaRPr sz="80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801">
                  <a:solidFill>
                    <a:srgbClr val="2563EB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[8]</a:t>
              </a:r>
              <a:r>
                <a:rPr lang="en" sz="801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Madry, Makelov, Schmidt, Tsipras, &amp; Vladu, "Towards Deep Learning Models Resistant to Adversarial Attacks," in </a:t>
              </a:r>
              <a:r>
                <a:rPr i="1" lang="en" sz="801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International Conference on Learning Representations (ICLR)</a:t>
              </a:r>
              <a:r>
                <a:rPr lang="en" sz="801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, 2018.</a:t>
              </a:r>
              <a:endParaRPr sz="80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1" lang="en" sz="801">
                  <a:solidFill>
                    <a:srgbClr val="2563EB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[9]</a:t>
              </a:r>
              <a:r>
                <a:rPr lang="en" sz="801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Goodfellow, Shlens, &amp; Szegedy, "Explaining and Harnessing Adversarial Examples," in </a:t>
              </a:r>
              <a:r>
                <a:rPr i="1" lang="en" sz="801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International Conference on Learning Representations (ICLR)</a:t>
              </a:r>
              <a:r>
                <a:rPr lang="en" sz="801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, 2015.</a:t>
              </a:r>
              <a:endParaRPr sz="80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1" lang="en" sz="801">
                  <a:solidFill>
                    <a:srgbClr val="2563EB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[10]</a:t>
              </a:r>
              <a:r>
                <a:rPr lang="en" sz="801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Zhang, Yu, Jiao, Xing, El Ghaoui, &amp; Jordan, "Theoretically Principled Trade-off between Robustness and Accuracy (TRADES)," in </a:t>
              </a:r>
              <a:r>
                <a:rPr i="1" lang="en" sz="801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International Conference on Machine Learning (ICML)</a:t>
              </a:r>
              <a:r>
                <a:rPr lang="en" sz="801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, 2019.</a:t>
              </a:r>
              <a:endParaRPr sz="80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1" lang="en" sz="801">
                  <a:solidFill>
                    <a:srgbClr val="2563EB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[11]</a:t>
              </a:r>
              <a:r>
                <a:rPr lang="en" sz="801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Lundberg &amp; Lee, "A Unified Approach to Interpreting Model Predictions (SHAP)," in </a:t>
              </a:r>
              <a:r>
                <a:rPr i="1" lang="en" sz="801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Advances in Neural Information Processing Systems (NeurIPS)</a:t>
              </a:r>
              <a:r>
                <a:rPr lang="en" sz="801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, 2017.</a:t>
              </a:r>
              <a:endParaRPr sz="80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1" lang="en" sz="801">
                  <a:solidFill>
                    <a:srgbClr val="2563EB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[12]</a:t>
              </a:r>
              <a:r>
                <a:rPr lang="en" sz="801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Athalye, Carlini, &amp; Wagner, "Obfuscated Gradients Give a False Sense of Security: Circumventing Defenses to Adversarial Examples," in </a:t>
              </a:r>
              <a:r>
                <a:rPr i="1" lang="en" sz="801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International Conference on Machine Learning (ICML)</a:t>
              </a:r>
              <a:r>
                <a:rPr lang="en" sz="801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, 2018.</a:t>
              </a:r>
              <a:endParaRPr sz="80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1" lang="en" sz="801">
                  <a:solidFill>
                    <a:srgbClr val="2563EB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[13]</a:t>
              </a:r>
              <a:r>
                <a:rPr lang="en" sz="801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Andriushchenko, Croce, Flammarion, &amp; Hein, "Square Attack: A Query-Efficient Black-Box Adversarial Attack via Random Search," in </a:t>
              </a:r>
              <a:r>
                <a:rPr i="1" lang="en" sz="801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European Conference on Computer Vision (ECCV)</a:t>
              </a:r>
              <a:r>
                <a:rPr lang="en" sz="801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, 2020.</a:t>
              </a:r>
              <a:endParaRPr sz="80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1" lang="en" sz="801">
                  <a:solidFill>
                    <a:srgbClr val="2563EB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[14]</a:t>
              </a:r>
              <a:r>
                <a:rPr lang="en" sz="801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Brendel, Rauber, &amp; Bethge, "Decision-Based Adversarial Attacks: Reliable Attacks Against Black-Box Models," in </a:t>
              </a:r>
              <a:r>
                <a:rPr i="1" lang="en" sz="801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International Conference on Learning Representations (ICLR)</a:t>
              </a:r>
              <a:r>
                <a:rPr lang="en" sz="801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, 2018.</a:t>
              </a:r>
              <a:endParaRPr b="0" sz="908">
                <a:solidFill>
                  <a:srgbClr val="1E3A8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801">
                  <a:solidFill>
                    <a:srgbClr val="2563EB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[15]</a:t>
              </a:r>
              <a:r>
                <a:rPr lang="en" sz="801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Chawla, Bowyer, Hall, &amp; Kegelmeyer, "SMOTE: Synthetic Minority Over-Sampling Technique," </a:t>
              </a:r>
              <a:r>
                <a:rPr i="1" lang="en" sz="801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Journal of Artificial Intelligence Research</a:t>
              </a:r>
              <a:r>
                <a:rPr lang="en" sz="801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, vol. 16, 2002.</a:t>
              </a:r>
              <a:endParaRPr sz="80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1" lang="en" sz="801">
                  <a:solidFill>
                    <a:srgbClr val="2563EB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[16]</a:t>
              </a:r>
              <a:r>
                <a:rPr lang="en" sz="801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Sharafaldin, Lashkari, &amp; Ghorbani, "Toward Generating a New Intrusion Detection Dataset and Intrusion Traffic Characterization (CSE-CIC-IDS2018)," in </a:t>
              </a:r>
              <a:r>
                <a:rPr i="1" lang="en" sz="801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Proc. ICISSP</a:t>
              </a:r>
              <a:r>
                <a:rPr lang="en" sz="801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, 2018.</a:t>
              </a:r>
              <a:endParaRPr sz="80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1" lang="en" sz="801">
                  <a:solidFill>
                    <a:srgbClr val="2563EB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[17]</a:t>
              </a:r>
              <a:r>
                <a:rPr lang="en" sz="801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Tsipras, Santurkar, Engstrom, Turner, &amp; Madry, "Robustness May Be at Odds with Accuracy," in </a:t>
              </a:r>
              <a:r>
                <a:rPr i="1" lang="en" sz="801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International Conference on Learning Representations (ICLR)</a:t>
              </a:r>
              <a:r>
                <a:rPr lang="en" sz="801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, 2019.</a:t>
              </a:r>
              <a:endParaRPr sz="80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1" lang="en" sz="801">
                  <a:solidFill>
                    <a:srgbClr val="2563EB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[18]</a:t>
              </a:r>
              <a:r>
                <a:rPr lang="en" sz="801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Engelen et al., "Troubleshooting the Flaws of Machine Learning in Network Intrusion Detection," in </a:t>
              </a:r>
              <a:r>
                <a:rPr i="1" lang="en" sz="801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ACM Conference on Computer and Communications Security (CCS)</a:t>
              </a:r>
              <a:r>
                <a:rPr lang="en" sz="801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, 2021.</a:t>
              </a:r>
              <a:endParaRPr sz="80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" sz="801">
                  <a:solidFill>
                    <a:srgbClr val="2563EB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[19]</a:t>
              </a:r>
              <a:r>
                <a:rPr lang="en" sz="801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D'hooge, Wauters, Volckaert, &amp; De Turck, "CSE-CIC-IDS2018 on AWS (Standardized Parquet Curation)," Hugging Face Dataset (dhoogla/csecicids2018), 2020/2023.</a:t>
              </a:r>
              <a:endParaRPr sz="80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696" name="Google Shape;696;p29"/>
          <p:cNvSpPr txBox="1"/>
          <p:nvPr/>
        </p:nvSpPr>
        <p:spPr>
          <a:xfrm>
            <a:off x="8371523" y="4776788"/>
            <a:ext cx="391500" cy="36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338"/>
              </a:spcAft>
              <a:buNone/>
            </a:pPr>
            <a:r>
              <a:rPr b="0" lang="en" sz="1200">
                <a:solidFill>
                  <a:srgbClr val="64748B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15</a:t>
            </a:r>
            <a:endParaRPr b="0" sz="1200">
              <a:solidFill>
                <a:srgbClr val="64748B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