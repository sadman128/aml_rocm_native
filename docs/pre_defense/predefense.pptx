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 Medium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Inter ExtraBold"/>
      <p:bold r:id="rId31"/>
      <p:boldItalic r:id="rId32"/>
    </p:embeddedFont>
    <p:embeddedFont>
      <p:font typeface="Roboto Mono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RobotoMonoMedium-regular.fntdata"/><Relationship Id="rId22" Type="http://schemas.openxmlformats.org/officeDocument/2006/relationships/font" Target="fonts/RobotoMonoMedium-bold.fntdata"/><Relationship Id="rId23" Type="http://schemas.openxmlformats.org/officeDocument/2006/relationships/font" Target="fonts/RobotoMonoMedium-italic.fntdata"/><Relationship Id="rId24" Type="http://schemas.openxmlformats.org/officeDocument/2006/relationships/font" Target="fonts/RobotoMonoMedium-boldItalic.fntdata"/><Relationship Id="rId25" Type="http://schemas.openxmlformats.org/officeDocument/2006/relationships/font" Target="fonts/InterSemiBold-regular.fntdata"/><Relationship Id="rId26" Type="http://schemas.openxmlformats.org/officeDocument/2006/relationships/font" Target="fonts/InterSemiBold-bold.fntdata"/><Relationship Id="rId27" Type="http://schemas.openxmlformats.org/officeDocument/2006/relationships/font" Target="fonts/InterSemiBold-italic.fntdata"/><Relationship Id="rId28" Type="http://schemas.openxmlformats.org/officeDocument/2006/relationships/font" Target="fonts/InterSemiBold-boldItalic.fntdata"/><Relationship Id="rId29" Type="http://schemas.openxmlformats.org/officeDocument/2006/relationships/font" Target="fonts/Inter-bold.fntdata"/><Relationship Id="rId30" Type="http://schemas.openxmlformats.org/officeDocument/2006/relationships/font" Target="fonts/Inter-boldItalic.fntdata"/><Relationship Id="rId31" Type="http://schemas.openxmlformats.org/officeDocument/2006/relationships/font" Target="fonts/InterExtraBold-bold.fntdata"/><Relationship Id="rId32" Type="http://schemas.openxmlformats.org/officeDocument/2006/relationships/font" Target="fonts/InterExtraBold-boldItalic.fntdata"/><Relationship Id="rId33" Type="http://schemas.openxmlformats.org/officeDocument/2006/relationships/font" Target="fonts/RobotoMono-bold.fntdata"/><Relationship Id="rId34" Type="http://schemas.openxmlformats.org/officeDocument/2006/relationships/font" Target="fonts/RobotoMono-boldItalic.fntdata"/><Relationship Id="rId35" Type="http://schemas.openxmlformats.org/officeDocument/2006/relationships/font" Target="fonts/InterMedium-regular.fntdata"/><Relationship Id="rId36" Type="http://schemas.openxmlformats.org/officeDocument/2006/relationships/font" Target="fonts/InterMedium-bold.fntdata"/><Relationship Id="rId37" Type="http://schemas.openxmlformats.org/officeDocument/2006/relationships/font" Target="fonts/InterMedium-italic.fntdata"/><Relationship Id="rId38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bf74f11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09bf74f11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3b4e7faa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3b4e7fa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bf74f11f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09bf74f11f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3b4e7faa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a3b4e7fa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3b73068e_22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a3b73068e_22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bf74f11f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09bf74f11f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09bf74f11f_0_3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09bf74f11f_0_3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a3b73068e_22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a3b73068e_22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a3b73068e_22_2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a3b73068e_22_2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a3b73068e_22_2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a3b73068e_22_2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a3b73068e_22_4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fa3b73068e_22_4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a3b73068e_22_3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a3b73068e_22_3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a3b4e7faa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a3b4e7fa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a3b73068e_22_4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fa3b73068e_22_4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b4e7faa_13_0)">
  <p:cSld name="Generated (g3fa3b4e7faa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cc69b39_9_0)">
  <p:cSld name="Generated (g409bcc69b39_9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39.png"/><Relationship Id="rId8" Type="http://schemas.openxmlformats.org/officeDocument/2006/relationships/image" Target="../media/image32.png"/><Relationship Id="rId9" Type="http://schemas.openxmlformats.org/officeDocument/2006/relationships/image" Target="../media/image42.png"/><Relationship Id="rId10" Type="http://schemas.openxmlformats.org/officeDocument/2006/relationships/image" Target="../media/image35.png"/><Relationship Id="rId11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9000" stPos="0" sy="-100000" ky="0"/>
          </a:effectLst>
        </p:spPr>
      </p:pic>
      <p:grpSp>
        <p:nvGrpSpPr>
          <p:cNvPr id="57" name="Google Shape;57;p15"/>
          <p:cNvGrpSpPr/>
          <p:nvPr/>
        </p:nvGrpSpPr>
        <p:grpSpPr>
          <a:xfrm>
            <a:off x="762000" y="600075"/>
            <a:ext cx="380925" cy="190500"/>
            <a:chOff x="0" y="0"/>
            <a:chExt cx="380925" cy="190500"/>
          </a:xfrm>
        </p:grpSpPr>
        <p:sp>
          <p:nvSpPr>
            <p:cNvPr id="58" name="Google Shape;58;p1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15"/>
          <p:cNvSpPr txBox="1"/>
          <p:nvPr/>
        </p:nvSpPr>
        <p:spPr>
          <a:xfrm>
            <a:off x="762000" y="1000200"/>
            <a:ext cx="3905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Adversarial Robustness in Network Intrusion Detection Systems</a:t>
            </a:r>
            <a:endParaRPr b="0" sz="32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 Attribution-Guided Feature Selection and Dynamic Multi-Stage Adversarial Training</a:t>
            </a:r>
            <a:endParaRPr b="0" sz="135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43500" y="619125"/>
            <a:ext cx="3238500" cy="39054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3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143500" y="619125"/>
            <a:ext cx="3238500" cy="152400"/>
          </a:xfrm>
          <a:custGeom>
            <a:rect b="b" l="l" r="r" t="t"/>
            <a:pathLst>
              <a:path extrusionOk="0" h="120000" w="120000">
                <a:moveTo>
                  <a:pt x="4235" y="0"/>
                </a:moveTo>
                <a:lnTo>
                  <a:pt x="115765" y="0"/>
                </a:lnTo>
                <a:cubicBezTo>
                  <a:pt x="118094" y="0"/>
                  <a:pt x="120000" y="40500"/>
                  <a:pt x="120000" y="90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90000"/>
                </a:lnTo>
                <a:cubicBezTo>
                  <a:pt x="0" y="40500"/>
                  <a:pt x="1906" y="0"/>
                  <a:pt x="423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5381625" y="952500"/>
            <a:ext cx="2762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CANDIDATES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Sadman Hossain Sajid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2023200000062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Redoan Islam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2023200000689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SUPERVISOR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Mahjabin Sultana</a:t>
            </a:r>
            <a:endParaRPr b="1" sz="135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September 10, 2026</a:t>
            </a:r>
            <a:endParaRPr b="0" sz="10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6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70" name="Google Shape;70;p16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71" name="Google Shape;71;p16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6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" name="Google Shape;73;p16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Presentation Outline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Overview of the research structure and milestones.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476250" y="1333500"/>
            <a:ext cx="8191650" cy="3105300"/>
            <a:chOff x="476250" y="1333500"/>
            <a:chExt cx="8191650" cy="3105300"/>
          </a:xfrm>
        </p:grpSpPr>
        <p:grpSp>
          <p:nvGrpSpPr>
            <p:cNvPr id="75" name="Google Shape;75;p16"/>
            <p:cNvGrpSpPr/>
            <p:nvPr/>
          </p:nvGrpSpPr>
          <p:grpSpPr>
            <a:xfrm>
              <a:off x="476250" y="1333500"/>
              <a:ext cx="3905400" cy="514500"/>
              <a:chOff x="0" y="0"/>
              <a:chExt cx="3905400" cy="514500"/>
            </a:xfrm>
          </p:grpSpPr>
          <p:sp>
            <p:nvSpPr>
              <p:cNvPr id="76" name="Google Shape;76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0" name="Google Shape;80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Problem Statement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1" name="Google Shape;81;p16"/>
            <p:cNvGrpSpPr/>
            <p:nvPr/>
          </p:nvGrpSpPr>
          <p:grpSpPr>
            <a:xfrm>
              <a:off x="476250" y="1981200"/>
              <a:ext cx="3905400" cy="514500"/>
              <a:chOff x="0" y="0"/>
              <a:chExt cx="3905400" cy="514500"/>
            </a:xfrm>
          </p:grpSpPr>
          <p:sp>
            <p:nvSpPr>
              <p:cNvPr id="82" name="Google Shape;82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6" name="Google Shape;86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Motivation &amp; Objectives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" name="Google Shape;87;p16"/>
            <p:cNvGrpSpPr/>
            <p:nvPr/>
          </p:nvGrpSpPr>
          <p:grpSpPr>
            <a:xfrm>
              <a:off x="476250" y="2628900"/>
              <a:ext cx="3905400" cy="514500"/>
              <a:chOff x="0" y="0"/>
              <a:chExt cx="3905400" cy="514500"/>
            </a:xfrm>
          </p:grpSpPr>
          <p:sp>
            <p:nvSpPr>
              <p:cNvPr id="88" name="Google Shape;88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2" name="Google Shape;92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Literature Review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3" name="Google Shape;93;p16"/>
            <p:cNvGrpSpPr/>
            <p:nvPr/>
          </p:nvGrpSpPr>
          <p:grpSpPr>
            <a:xfrm>
              <a:off x="476250" y="3276600"/>
              <a:ext cx="3905400" cy="514500"/>
              <a:chOff x="0" y="0"/>
              <a:chExt cx="3905400" cy="5145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8" name="Google Shape;98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Comparative Analysis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9" name="Google Shape;99;p16"/>
            <p:cNvGrpSpPr/>
            <p:nvPr/>
          </p:nvGrpSpPr>
          <p:grpSpPr>
            <a:xfrm>
              <a:off x="476250" y="3924300"/>
              <a:ext cx="3905400" cy="514500"/>
              <a:chOff x="0" y="0"/>
              <a:chExt cx="3905400" cy="5145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05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Proposed Methodology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5" name="Google Shape;105;p16"/>
            <p:cNvGrpSpPr/>
            <p:nvPr/>
          </p:nvGrpSpPr>
          <p:grpSpPr>
            <a:xfrm>
              <a:off x="4762500" y="1333500"/>
              <a:ext cx="3905400" cy="514500"/>
              <a:chOff x="0" y="0"/>
              <a:chExt cx="3905400" cy="5145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06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Dataset &amp; Environment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1" name="Google Shape;111;p16"/>
            <p:cNvGrpSpPr/>
            <p:nvPr/>
          </p:nvGrpSpPr>
          <p:grpSpPr>
            <a:xfrm>
              <a:off x="4762500" y="1981200"/>
              <a:ext cx="3905400" cy="514500"/>
              <a:chOff x="0" y="0"/>
              <a:chExt cx="3905400" cy="514500"/>
            </a:xfrm>
          </p:grpSpPr>
          <p:sp>
            <p:nvSpPr>
              <p:cNvPr id="112" name="Google Shape;112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07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Target Architecture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4762500" y="2628900"/>
              <a:ext cx="3905400" cy="514500"/>
              <a:chOff x="0" y="0"/>
              <a:chExt cx="3905400" cy="5145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08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Research Timeline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4762500" y="3276600"/>
              <a:ext cx="3905400" cy="514500"/>
              <a:chOff x="0" y="0"/>
              <a:chExt cx="3905400" cy="5145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09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Expected Results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4762500" y="3924300"/>
              <a:ext cx="3905400" cy="514500"/>
              <a:chOff x="0" y="0"/>
              <a:chExt cx="3905400" cy="5145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Conclusion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381000" y="11430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7"/>
          <p:cNvGrpSpPr/>
          <p:nvPr/>
        </p:nvGrpSpPr>
        <p:grpSpPr>
          <a:xfrm>
            <a:off x="285750" y="381000"/>
            <a:ext cx="8477175" cy="714300"/>
            <a:chOff x="-95250" y="0"/>
            <a:chExt cx="8477175" cy="714300"/>
          </a:xfrm>
        </p:grpSpPr>
        <p:sp>
          <p:nvSpPr>
            <p:cNvPr id="142" name="Google Shape;142;p17"/>
            <p:cNvSpPr/>
            <p:nvPr/>
          </p:nvSpPr>
          <p:spPr>
            <a:xfrm>
              <a:off x="-9525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4287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Statement</a:t>
              </a:r>
              <a:endParaRPr b="0" sz="222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Modern Deep NIDS achieve </a:t>
              </a:r>
              <a:r>
                <a:rPr b="1" lang="en" sz="103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&gt;95% accuracy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on normal traffic, but collapse to</a:t>
              </a:r>
              <a:r>
                <a:rPr lang="en" sz="10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 ~30%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under tiny, undetectable packet tweaks.</a:t>
              </a:r>
              <a:endParaRPr b="0" sz="103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381000" y="1238250"/>
            <a:ext cx="3143400" cy="3524400"/>
            <a:chOff x="0" y="0"/>
            <a:chExt cx="3143400" cy="35244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0"/>
              <a:ext cx="31434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28600" y="228600"/>
              <a:ext cx="2686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Performance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Clean vs. Robust</a:t>
              </a:r>
              <a:endParaRPr b="0" sz="18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149" name="Google Shape;149;p17"/>
            <p:cNvGrpSpPr/>
            <p:nvPr/>
          </p:nvGrpSpPr>
          <p:grpSpPr>
            <a:xfrm>
              <a:off x="228600" y="857250"/>
              <a:ext cx="2476650" cy="666900"/>
              <a:chOff x="0" y="0"/>
              <a:chExt cx="2476650" cy="666900"/>
            </a:xfrm>
          </p:grpSpPr>
          <p:sp>
            <p:nvSpPr>
              <p:cNvPr id="150" name="Google Shape;150;p17"/>
              <p:cNvSpPr txBox="1"/>
              <p:nvPr/>
            </p:nvSpPr>
            <p:spPr>
              <a:xfrm>
                <a:off x="0" y="0"/>
                <a:ext cx="8574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3341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95%</a:t>
                </a:r>
                <a:endParaRPr b="1" sz="2600">
                  <a:solidFill>
                    <a:srgbClr val="33415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CLEAN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952500" y="133350"/>
                <a:ext cx="2286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5000" y="0"/>
                    </a:moveTo>
                    <a:lnTo>
                      <a:pt x="120000" y="60000"/>
                    </a:lnTo>
                    <a:lnTo>
                      <a:pt x="85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1428750" y="0"/>
                <a:ext cx="1047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~30%</a:t>
                </a:r>
                <a:endParaRPr b="1" sz="26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ROBUST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53" name="Google Shape;153;p17"/>
            <p:cNvCxnSpPr/>
            <p:nvPr/>
          </p:nvCxnSpPr>
          <p:spPr>
            <a:xfrm>
              <a:off x="228600" y="1666875"/>
              <a:ext cx="268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228600" y="1857375"/>
              <a:ext cx="26862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The Adversarial Evasion Mechanism</a:t>
              </a:r>
              <a:endParaRPr b="1" sz="11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Attackers slightly alter flow timing and packet sizes.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Consequence: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 AI is tricked into classifying dangerous attacks as normal benign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3714750" y="1238250"/>
            <a:ext cx="5048400" cy="1047900"/>
            <a:chOff x="0" y="0"/>
            <a:chExt cx="5048400" cy="10479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17"/>
            <p:cNvGrpSpPr/>
            <p:nvPr/>
          </p:nvGrpSpPr>
          <p:grpSpPr>
            <a:xfrm>
              <a:off x="209550" y="381000"/>
              <a:ext cx="247800" cy="247800"/>
              <a:chOff x="19050" y="19050"/>
              <a:chExt cx="247800" cy="247800"/>
            </a:xfrm>
          </p:grpSpPr>
          <p:sp>
            <p:nvSpPr>
              <p:cNvPr id="159" name="Google Shape;159;p17"/>
              <p:cNvSpPr/>
              <p:nvPr/>
            </p:nvSpPr>
            <p:spPr>
              <a:xfrm>
                <a:off x="47625" y="47625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lnTo>
                      <a:pt x="6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190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2095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114300" y="2095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4" name="Google Shape;164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0013" y="104775"/>
                <a:ext cx="858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5" name="Google Shape;165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Gradient-Volatile Features</a:t>
              </a:r>
              <a:endParaRPr b="1" sz="12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Classifiers rely on weak traffic clues that attackers can easily disguise.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3714750" y="2476500"/>
            <a:ext cx="5048400" cy="1047900"/>
            <a:chOff x="0" y="0"/>
            <a:chExt cx="5048400" cy="104790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200025" y="381000"/>
              <a:ext cx="304950" cy="257175"/>
              <a:chOff x="9525" y="19050"/>
              <a:chExt cx="304950" cy="257175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47625" y="47625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48000" y="0"/>
                    </a:lnTo>
                    <a:lnTo>
                      <a:pt x="72000" y="6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257175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9525" y="200025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891B2"/>
                  </a:solidFill>
                  <a:latin typeface="Inter"/>
                  <a:ea typeface="Inter"/>
                  <a:cs typeface="Inter"/>
                  <a:sym typeface="Inter"/>
                </a:rPr>
                <a:t>Transient Socket Shortcuts</a:t>
              </a:r>
              <a:endParaRPr b="1" sz="1200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Models memorize port numbers and IP addresses instead of learning real attack behavior.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3714750" y="3714750"/>
            <a:ext cx="5048400" cy="1047900"/>
            <a:chOff x="0" y="0"/>
            <a:chExt cx="50484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1122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17"/>
            <p:cNvGrpSpPr/>
            <p:nvPr/>
          </p:nvGrpSpPr>
          <p:grpSpPr>
            <a:xfrm>
              <a:off x="238125" y="409575"/>
              <a:ext cx="190500" cy="219000"/>
              <a:chOff x="47625" y="47625"/>
              <a:chExt cx="190500" cy="219000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47625" y="47625"/>
                <a:ext cx="190500" cy="21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52174"/>
                    </a:lnTo>
                    <a:cubicBezTo>
                      <a:pt x="120000" y="88696"/>
                      <a:pt x="60000" y="120000"/>
                      <a:pt x="60000" y="120000"/>
                    </a:cubicBezTo>
                    <a:cubicBezTo>
                      <a:pt x="60000" y="120000"/>
                      <a:pt x="0" y="88696"/>
                      <a:pt x="0" y="521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142875" y="85725"/>
                <a:ext cx="381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9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B6D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" name="Google Shape;181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Defensive Hardening Trade-Offs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Existing defenses train once on old attacks, making them helpless against adaptive, modern attackers.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8"/>
          <p:cNvGrpSpPr/>
          <p:nvPr/>
        </p:nvGrpSpPr>
        <p:grpSpPr>
          <a:xfrm>
            <a:off x="-57150" y="4617720"/>
            <a:ext cx="1268730" cy="1040310"/>
            <a:chOff x="142875" y="228600"/>
            <a:chExt cx="1057275" cy="866925"/>
          </a:xfrm>
        </p:grpSpPr>
        <p:sp>
          <p:nvSpPr>
            <p:cNvPr id="188" name="Google Shape;188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2" name="Google Shape;19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438" y="277702"/>
              <a:ext cx="683400" cy="68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2563" y="473384"/>
              <a:ext cx="675300" cy="58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18"/>
          <p:cNvGrpSpPr/>
          <p:nvPr/>
        </p:nvGrpSpPr>
        <p:grpSpPr>
          <a:xfrm>
            <a:off x="9844088" y="4507230"/>
            <a:ext cx="1374457" cy="1127002"/>
            <a:chOff x="142875" y="228600"/>
            <a:chExt cx="1057275" cy="866925"/>
          </a:xfrm>
        </p:grpSpPr>
        <p:sp>
          <p:nvSpPr>
            <p:cNvPr id="195" name="Google Shape;195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8809" y="279053"/>
              <a:ext cx="683100" cy="68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3059" y="473273"/>
              <a:ext cx="676500" cy="58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18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202" name="Google Shape;202;p18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203" name="Google Shape;203;p18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5" name="Google Shape;205;p18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Motivation &amp; Objectives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fast, accurate, and honest AI defense for live enterprise networks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381000" y="1524000"/>
            <a:ext cx="2628900" cy="3048000"/>
            <a:chOff x="0" y="0"/>
            <a:chExt cx="2628900" cy="30480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" name="Google Shape;209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0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12" name="Google Shape;212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>
                  <a:solidFill>
                    <a:srgbClr val="0A192F"/>
                  </a:solidFill>
                </a:rPr>
                <a:t>Real-Time Speed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sz="1050">
                  <a:solidFill>
                    <a:srgbClr val="475569"/>
                  </a:solidFill>
                </a:rPr>
                <a:t>High-speed networks cannot wait: slow detection drops valid packets.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sz="1050">
                  <a:solidFill>
                    <a:srgbClr val="2563EB"/>
                  </a:solidFill>
                </a:rPr>
                <a:t>Goal:</a:t>
              </a:r>
              <a:r>
                <a:rPr sz="1050">
                  <a:solidFill>
                    <a:srgbClr val="475569"/>
                  </a:solidFill>
                </a:rPr>
                <a:t> Keep inference under </a:t>
              </a:r>
              <a:r>
                <a:rPr b="1" sz="1050">
                  <a:solidFill>
                    <a:srgbClr val="2563EB"/>
                  </a:solidFill>
                </a:rPr>
                <a:t>0.05 ms</a:t>
              </a:r>
              <a:r>
                <a:rPr sz="1050">
                  <a:solidFill>
                    <a:srgbClr val="475569"/>
                  </a:solidFill>
                </a:rPr>
                <a:t> per flow for line-rate speed.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18"/>
          <p:cNvGrpSpPr/>
          <p:nvPr/>
        </p:nvGrpSpPr>
        <p:grpSpPr>
          <a:xfrm>
            <a:off x="3257550" y="1524000"/>
            <a:ext cx="2628900" cy="3048000"/>
            <a:chOff x="0" y="0"/>
            <a:chExt cx="2628900" cy="3048000"/>
          </a:xfrm>
        </p:grpSpPr>
        <p:sp>
          <p:nvSpPr>
            <p:cNvPr id="214" name="Google Shape;214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" name="Google Shape;216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17" name="Google Shape;217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0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19" name="Google Shape;219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>
                  <a:solidFill>
                    <a:srgbClr val="0A192F"/>
                  </a:solidFill>
                </a:rPr>
                <a:t>Accuracy vs Robustness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sz="1050">
                  <a:solidFill>
                    <a:srgbClr val="475569"/>
                  </a:solidFill>
                </a:rPr>
                <a:t>Defending models usually causes a 2% to 6% drop in normal accuracy.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sz="1050">
                  <a:solidFill>
                    <a:srgbClr val="06B6D4"/>
                  </a:solidFill>
                </a:rPr>
                <a:t>Goal:</a:t>
              </a:r>
              <a:r>
                <a:rPr sz="1050">
                  <a:solidFill>
                    <a:srgbClr val="475569"/>
                  </a:solidFill>
                </a:rPr>
                <a:t> Stop attacks without hurting normal accuracy by removing noisy features.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6134100" y="1524000"/>
            <a:ext cx="2628900" cy="3048000"/>
            <a:chOff x="0" y="0"/>
            <a:chExt cx="2628900" cy="304800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F46E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000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26" name="Google Shape;226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>
                  <a:solidFill>
                    <a:srgbClr val="0A192F"/>
                  </a:solidFill>
                </a:rPr>
                <a:t>Benchmark Hygiene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sz="1050">
                  <a:solidFill>
                    <a:srgbClr val="475569"/>
                  </a:solidFill>
                </a:rPr>
                <a:t>Models cheat by memorizing port numbers and IP shortcuts.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sz="1050">
                  <a:solidFill>
                    <a:srgbClr val="4F46E5"/>
                  </a:solidFill>
                </a:rPr>
                <a:t>Goal:</a:t>
              </a:r>
              <a:r>
                <a:rPr sz="1050">
                  <a:solidFill>
                    <a:srgbClr val="475569"/>
                  </a:solidFill>
                </a:rPr>
                <a:t> Strictly sanitize shortcuts and enforce zero-leakage partitioning.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19"/>
          <p:cNvGrpSpPr/>
          <p:nvPr/>
        </p:nvGrpSpPr>
        <p:grpSpPr>
          <a:xfrm>
            <a:off x="381000" y="1238250"/>
            <a:ext cx="2381400" cy="3238500"/>
            <a:chOff x="0" y="0"/>
            <a:chExt cx="2381400" cy="32385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190500" y="190500"/>
              <a:ext cx="2000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Scope of Survey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54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40</a:t>
              </a:r>
              <a:endParaRPr b="1" sz="5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Peer-Reviewed Publications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90FF"/>
                  </a:solidFill>
                  <a:latin typeface="Inter"/>
                  <a:ea typeface="Inter"/>
                  <a:cs typeface="Inter"/>
                  <a:sym typeface="Inter"/>
                </a:rPr>
                <a:t>(2021–2026)</a:t>
              </a:r>
              <a:endParaRPr b="1" sz="1100">
                <a:solidFill>
                  <a:srgbClr val="1E90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Comprehensive analysis spanning deep learning NIDS, adversarial hardening, and Explainable AI (SHAP).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6" name="Google Shape;236;p19"/>
          <p:cNvSpPr txBox="1"/>
          <p:nvPr/>
        </p:nvSpPr>
        <p:spPr>
          <a:xfrm>
            <a:off x="3000375" y="1238250"/>
            <a:ext cx="5762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Macro Empirical Findings Across the Literature</a:t>
            </a:r>
            <a:endParaRPr b="0" sz="135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7" name="Google Shape;237;p19"/>
          <p:cNvGrpSpPr/>
          <p:nvPr/>
        </p:nvGrpSpPr>
        <p:grpSpPr>
          <a:xfrm>
            <a:off x="3000375" y="1619250"/>
            <a:ext cx="2809800" cy="904800"/>
            <a:chOff x="0" y="0"/>
            <a:chExt cx="2809800" cy="9048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Clean Accuracy Trade-Off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Adversarial training on unpruned feature spaces leads to a clean accuracy drop of 2% to 6%, reflecting Tsipras' trade-off.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5953125" y="1619250"/>
            <a:ext cx="2809800" cy="904800"/>
            <a:chOff x="0" y="0"/>
            <a:chExt cx="2809800" cy="9048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Vulnerability of Tree Ensembles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Tree-based ensembles suffer severe degradation under iterative gradient perturbations (&gt;80% Attack Success Rate).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3000375" y="2667000"/>
            <a:ext cx="2809800" cy="904800"/>
            <a:chOff x="0" y="0"/>
            <a:chExt cx="2809800" cy="9048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Static Perturbation Staleness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Offline data augmentation exhibits reduced effectiveness against adaptive attacks (16% to 20% evasion reported).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5953125" y="2667000"/>
            <a:ext cx="2809800" cy="904800"/>
            <a:chOff x="0" y="0"/>
            <a:chExt cx="2809800" cy="9048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28098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57200" y="114300"/>
              <a:ext cx="2238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Inference Latency Overhead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Runtime XAI verification (85–220 ms/flow) introduces substantial latency overhead relative to real-time line-rate constraints.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19"/>
          <p:cNvGrpSpPr/>
          <p:nvPr/>
        </p:nvGrpSpPr>
        <p:grpSpPr>
          <a:xfrm>
            <a:off x="3000375" y="3714750"/>
            <a:ext cx="5762700" cy="762000"/>
            <a:chOff x="0" y="0"/>
            <a:chExt cx="5762700" cy="762000"/>
          </a:xfrm>
        </p:grpSpPr>
        <p:sp>
          <p:nvSpPr>
            <p:cNvPr id="258" name="Google Shape;258;p19"/>
            <p:cNvSpPr/>
            <p:nvPr/>
          </p:nvSpPr>
          <p:spPr>
            <a:xfrm>
              <a:off x="0" y="0"/>
              <a:ext cx="57627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114300" y="114300"/>
              <a:ext cx="266700" cy="171600"/>
            </a:xfrm>
            <a:prstGeom prst="roundRect">
              <a:avLst>
                <a:gd fmla="val 2222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114300" y="114300"/>
              <a:ext cx="266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b="1" sz="8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457200" y="114300"/>
              <a:ext cx="519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Shortcut Memorization &amp; Clean-Only Bias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Conventional feature selection methods evaluate features solely on nominal traffic, frequently retaining port numbers that act as fragile back doors under perturbation.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2" name="Google Shape;262;p19"/>
          <p:cNvSpPr txBox="1"/>
          <p:nvPr/>
        </p:nvSpPr>
        <p:spPr>
          <a:xfrm>
            <a:off x="809625" y="381000"/>
            <a:ext cx="795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Literature Review</a:t>
            </a:r>
            <a:endParaRPr b="0" sz="24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Survey of 40 peer-reviewed defenses spanning 2021–2026.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3" name="Google Shape;263;p19"/>
          <p:cNvGrpSpPr/>
          <p:nvPr/>
        </p:nvGrpSpPr>
        <p:grpSpPr>
          <a:xfrm>
            <a:off x="342900" y="461010"/>
            <a:ext cx="380925" cy="190500"/>
            <a:chOff x="-190500" y="57150"/>
            <a:chExt cx="380925" cy="190500"/>
          </a:xfrm>
        </p:grpSpPr>
        <p:sp>
          <p:nvSpPr>
            <p:cNvPr id="264" name="Google Shape;264;p19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0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20"/>
          <p:cNvGrpSpPr/>
          <p:nvPr/>
        </p:nvGrpSpPr>
        <p:grpSpPr>
          <a:xfrm>
            <a:off x="8210550" y="400050"/>
            <a:ext cx="495300" cy="495300"/>
            <a:chOff x="19050" y="19050"/>
            <a:chExt cx="495300" cy="495300"/>
          </a:xfrm>
        </p:grpSpPr>
        <p:sp>
          <p:nvSpPr>
            <p:cNvPr id="272" name="Google Shape;272;p20"/>
            <p:cNvSpPr/>
            <p:nvPr/>
          </p:nvSpPr>
          <p:spPr>
            <a:xfrm>
              <a:off x="190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333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476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3619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476250" y="190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190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1333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2476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3619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476250" y="1333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90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1333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2476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619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476250" y="2476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190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1333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2476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619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476250" y="3619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190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1333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2476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3619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476250" y="476250"/>
              <a:ext cx="38100" cy="38100"/>
            </a:xfrm>
            <a:prstGeom prst="ellipse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0"/>
          <p:cNvSpPr txBox="1"/>
          <p:nvPr/>
        </p:nvSpPr>
        <p:spPr>
          <a:xfrm>
            <a:off x="1000125" y="381000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Literature Review (Part 2)</a:t>
            </a:r>
            <a:endParaRPr b="0" sz="24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Landmark Peer Benchmarks &amp; Defense Paradigms</a:t>
            </a:r>
            <a:endParaRPr b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8" name="Google Shape;298;p20"/>
          <p:cNvGrpSpPr/>
          <p:nvPr/>
        </p:nvGrpSpPr>
        <p:grpSpPr>
          <a:xfrm>
            <a:off x="381000" y="1333500"/>
            <a:ext cx="1952700" cy="3286200"/>
            <a:chOff x="0" y="0"/>
            <a:chExt cx="1952700" cy="3286200"/>
          </a:xfrm>
        </p:grpSpPr>
        <p:sp>
          <p:nvSpPr>
            <p:cNvPr id="299" name="Google Shape;299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Static Adversarial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Holla et al., IEEE Access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3-layer MLP; clean SHAP top 8; static triad augmentation.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Clean 85% drops to 55% under PGD; defense restores to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88% / 84%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Square.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Static attack staleness &amp; explicit port retention issues.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2476500" y="1333500"/>
            <a:ext cx="1952700" cy="3286200"/>
            <a:chOff x="0" y="0"/>
            <a:chExt cx="1952700" cy="3286200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Dynamic Hardening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Olukola &amp; Rahimi, TIFS 2026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4-layer MLP; clean </a:t>
              </a:r>
              <a:r>
                <a:rPr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warm up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+ dynamic PGD with adaptive loss scheduling.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94.8%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 and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89.4%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robust accuracy (0.08 ms latency).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Operates across all 78 dimensions (+140% overhead); limited explainability.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0"/>
          <p:cNvGrpSpPr/>
          <p:nvPr/>
        </p:nvGrpSpPr>
        <p:grpSpPr>
          <a:xfrm>
            <a:off x="4572000" y="1333500"/>
            <a:ext cx="1952700" cy="3286200"/>
            <a:chOff x="0" y="0"/>
            <a:chExt cx="1952700" cy="3286200"/>
          </a:xfrm>
        </p:grpSpPr>
        <p:sp>
          <p:nvSpPr>
            <p:cNvPr id="307" name="Google Shape;307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Explainable AI Gate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Güvenç Paltun et al.,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DNN with runtime SHAP cosine similarity vs. clean centroids.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95.1%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accuracy; detects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88.5%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FGSM/PGD perturbations.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 runtime latency (85–220 ms per flow); susceptible to scaffolding.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6667500" y="1333500"/>
            <a:ext cx="1952700" cy="3286200"/>
            <a:chOff x="0" y="0"/>
            <a:chExt cx="1952700" cy="3286200"/>
          </a:xfrm>
        </p:grpSpPr>
        <p:sp>
          <p:nvSpPr>
            <p:cNvPr id="311" name="Google Shape;311;p20"/>
            <p:cNvSpPr/>
            <p:nvPr/>
          </p:nvSpPr>
          <p:spPr>
            <a:xfrm>
              <a:off x="0" y="0"/>
              <a:ext cx="1952700" cy="32862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0" y="0"/>
              <a:ext cx="1952700" cy="57300"/>
            </a:xfrm>
            <a:prstGeom prst="roundRect">
              <a:avLst>
                <a:gd fmla="val 5000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42875" y="171450"/>
              <a:ext cx="16668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4. Graph Attention IDS</a:t>
              </a:r>
              <a:endParaRPr b="0" sz="11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Zeng et al., IEEE IoTJ 2025</a:t>
              </a:r>
              <a:endParaRPr b="0" sz="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b="1" sz="8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Dual-module channel-spatial attention over dynamic host communication graphs.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1" sz="8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97.4%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accuracy; </a:t>
              </a:r>
              <a:r>
                <a:rPr b="1" lang="en" sz="8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76.2%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robust accuracy under topology evasion.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Window batch delay (&gt;2.4 ms/flow); vulnerable to dummy-edge spoofing.</a:t>
              </a:r>
              <a:endParaRPr b="0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4" name="Google Shape;314;p20"/>
          <p:cNvGrpSpPr/>
          <p:nvPr/>
        </p:nvGrpSpPr>
        <p:grpSpPr>
          <a:xfrm>
            <a:off x="480060" y="468630"/>
            <a:ext cx="380925" cy="190500"/>
            <a:chOff x="-190500" y="57150"/>
            <a:chExt cx="380925" cy="190500"/>
          </a:xfrm>
        </p:grpSpPr>
        <p:sp>
          <p:nvSpPr>
            <p:cNvPr id="315" name="Google Shape;315;p20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2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1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22"/>
          <p:cNvGrpSpPr/>
          <p:nvPr/>
        </p:nvGrpSpPr>
        <p:grpSpPr>
          <a:xfrm>
            <a:off x="190500" y="190500"/>
            <a:ext cx="8572425" cy="571500"/>
            <a:chOff x="-190500" y="-47625"/>
            <a:chExt cx="8572425" cy="571500"/>
          </a:xfrm>
        </p:grpSpPr>
        <p:sp>
          <p:nvSpPr>
            <p:cNvPr id="389" name="Google Shape;389;p22"/>
            <p:cNvSpPr/>
            <p:nvPr/>
          </p:nvSpPr>
          <p:spPr>
            <a:xfrm>
              <a:off x="-19050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4762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 txBox="1"/>
            <p:nvPr/>
          </p:nvSpPr>
          <p:spPr>
            <a:xfrm>
              <a:off x="428625" y="-47625"/>
              <a:ext cx="795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Comparative Analysis</a:t>
              </a:r>
              <a:endParaRPr b="0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Empirical benchmarks across 40 surveyed papers: Every best result has a limitation.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2" name="Google Shape;392;p22"/>
          <p:cNvGrpSpPr/>
          <p:nvPr/>
        </p:nvGrpSpPr>
        <p:grpSpPr>
          <a:xfrm>
            <a:off x="381000" y="904875"/>
            <a:ext cx="8382000" cy="266700"/>
            <a:chOff x="0" y="0"/>
            <a:chExt cx="8382000" cy="266700"/>
          </a:xfrm>
        </p:grpSpPr>
        <p:sp>
          <p:nvSpPr>
            <p:cNvPr id="393" name="Google Shape;393;p22"/>
            <p:cNvSpPr/>
            <p:nvPr/>
          </p:nvSpPr>
          <p:spPr>
            <a:xfrm>
              <a:off x="0" y="0"/>
              <a:ext cx="8382000" cy="266700"/>
            </a:xfrm>
            <a:prstGeom prst="roundRect">
              <a:avLst>
                <a:gd fmla="val 21428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 txBox="1"/>
            <p:nvPr/>
          </p:nvSpPr>
          <p:spPr>
            <a:xfrm>
              <a:off x="142875" y="0"/>
              <a:ext cx="1524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Benchmark Frontier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5" name="Google Shape;395;p22"/>
            <p:cNvSpPr txBox="1"/>
            <p:nvPr/>
          </p:nvSpPr>
          <p:spPr>
            <a:xfrm>
              <a:off x="1762125" y="0"/>
              <a:ext cx="1238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Published Paper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2"/>
            <p:cNvSpPr txBox="1"/>
            <p:nvPr/>
          </p:nvSpPr>
          <p:spPr>
            <a:xfrm>
              <a:off x="3095625" y="0"/>
              <a:ext cx="1095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Best Result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7" name="Google Shape;397;p22"/>
            <p:cNvSpPr txBox="1"/>
            <p:nvPr/>
          </p:nvSpPr>
          <p:spPr>
            <a:xfrm>
              <a:off x="4286250" y="0"/>
              <a:ext cx="1619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Defense Mechanism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8" name="Google Shape;398;p22"/>
            <p:cNvSpPr txBox="1"/>
            <p:nvPr/>
          </p:nvSpPr>
          <p:spPr>
            <a:xfrm>
              <a:off x="6000750" y="0"/>
              <a:ext cx="2238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9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9" name="Google Shape;399;p22"/>
          <p:cNvGrpSpPr/>
          <p:nvPr/>
        </p:nvGrpSpPr>
        <p:grpSpPr>
          <a:xfrm>
            <a:off x="381000" y="1247775"/>
            <a:ext cx="8382000" cy="495300"/>
            <a:chOff x="0" y="0"/>
            <a:chExt cx="8382000" cy="495300"/>
          </a:xfrm>
        </p:grpSpPr>
        <p:sp>
          <p:nvSpPr>
            <p:cNvPr id="400" name="Google Shape;400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Clean Accuracy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3" name="Google Shape;403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Roshan et al. (2023) /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Zeng et al. (2025)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98.2% 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Clean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Standard Deep MLP /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Graph Attention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Zero Defense: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Collapses to </a:t>
              </a:r>
              <a:r>
                <a:rPr b="1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&lt;32%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under white-box PGD attacks; or incurs 2.4 ms delay.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381000" y="1790700"/>
            <a:ext cx="8382000" cy="495300"/>
            <a:chOff x="0" y="0"/>
            <a:chExt cx="8382000" cy="495300"/>
          </a:xfrm>
        </p:grpSpPr>
        <p:sp>
          <p:nvSpPr>
            <p:cNvPr id="408" name="Google Shape;408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White-Box Robustness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Olukola &amp; Rahimi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TIFS 2026)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89.4%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PGD₂₀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3" name="Google Shape;413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Multi-Stage Dynamic PGD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4" name="Google Shape;414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Clean Drop &amp; Overhead: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2.1% clean penalty; keeps all 78 dimensions (+140% GPU).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5" name="Google Shape;415;p22"/>
          <p:cNvGrpSpPr/>
          <p:nvPr/>
        </p:nvGrpSpPr>
        <p:grpSpPr>
          <a:xfrm>
            <a:off x="381000" y="2333625"/>
            <a:ext cx="8382000" cy="495300"/>
            <a:chOff x="0" y="0"/>
            <a:chExt cx="8382000" cy="495300"/>
          </a:xfrm>
        </p:grpSpPr>
        <p:sp>
          <p:nvSpPr>
            <p:cNvPr id="416" name="Google Shape;416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Static Defense</a:t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9" name="Google Shape;419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Holla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Access 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    </a:t>
              </a: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88.0%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Static Triad Augmentation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Staleness &amp; Shortcuts: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Offline attacks go stale (16–20% evasion); retained ports.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22"/>
          <p:cNvGrpSpPr/>
          <p:nvPr/>
        </p:nvGrpSpPr>
        <p:grpSpPr>
          <a:xfrm>
            <a:off x="381000" y="2876550"/>
            <a:ext cx="8382000" cy="495300"/>
            <a:chOff x="0" y="0"/>
            <a:chExt cx="8382000" cy="495300"/>
          </a:xfrm>
        </p:grpSpPr>
        <p:sp>
          <p:nvSpPr>
            <p:cNvPr id="424" name="Google Shape;424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Black-Box Robustness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Ennaji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TIFS 2025)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88.6%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B-Box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9" name="Google Shape;429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Query Perturbation &amp;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Anomaly Tracking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High Complexity: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Stateful query tracking; vulnerable to adaptive white-box transfer.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1" name="Google Shape;431;p22"/>
          <p:cNvGrpSpPr/>
          <p:nvPr/>
        </p:nvGrpSpPr>
        <p:grpSpPr>
          <a:xfrm>
            <a:off x="381000" y="3419475"/>
            <a:ext cx="8382000" cy="495300"/>
            <a:chOff x="0" y="0"/>
            <a:chExt cx="8382000" cy="495300"/>
          </a:xfrm>
        </p:grpSpPr>
        <p:sp>
          <p:nvSpPr>
            <p:cNvPr id="432" name="Google Shape;432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Certified Defense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Zhou et al.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(IEEE TDSC 2023)</a:t>
              </a:r>
              <a:endParaRPr b="0" i="1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6" name="Google Shape;436;p22"/>
            <p:cNvSpPr txBox="1"/>
            <p:nvPr/>
          </p:nvSpPr>
          <p:spPr>
            <a:xfrm>
              <a:off x="3095625" y="0"/>
              <a:ext cx="10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Provable L₂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4286250" y="0"/>
              <a:ext cx="1619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Randomized Smoothing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Severe Accuracy Crash: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 dropped from </a:t>
              </a:r>
              <a:r>
                <a:rPr b="1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94.5% → 76.2%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(-18.3% penalty).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9" name="Google Shape;439;p22"/>
          <p:cNvGrpSpPr/>
          <p:nvPr/>
        </p:nvGrpSpPr>
        <p:grpSpPr>
          <a:xfrm>
            <a:off x="381000" y="4019550"/>
            <a:ext cx="8382000" cy="495300"/>
            <a:chOff x="0" y="0"/>
            <a:chExt cx="8382000" cy="495300"/>
          </a:xfrm>
        </p:grpSpPr>
        <p:sp>
          <p:nvSpPr>
            <p:cNvPr id="440" name="Google Shape;440;p22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0" y="0"/>
              <a:ext cx="57300" cy="495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190500" y="0"/>
              <a:ext cx="1571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Literature Dilemma</a:t>
              </a:r>
              <a:endParaRPr b="0" sz="1050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1857375" y="0"/>
              <a:ext cx="6334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Across 40 surveyed papers, no existing system achieves high robustness without suffering a severe penalty in clean accuracy, latency, or computational complexity.</a:t>
              </a:r>
              <a:endParaRPr b="0" sz="950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3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3"/>
          <p:cNvSpPr/>
          <p:nvPr/>
        </p:nvSpPr>
        <p:spPr>
          <a:xfrm>
            <a:off x="381000" y="10477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3"/>
          <p:cNvGrpSpPr/>
          <p:nvPr/>
        </p:nvGrpSpPr>
        <p:grpSpPr>
          <a:xfrm>
            <a:off x="339090" y="285750"/>
            <a:ext cx="8423835" cy="714300"/>
            <a:chOff x="-41910" y="0"/>
            <a:chExt cx="8423835" cy="714300"/>
          </a:xfrm>
        </p:grpSpPr>
        <p:sp>
          <p:nvSpPr>
            <p:cNvPr id="451" name="Google Shape;451;p23"/>
            <p:cNvSpPr/>
            <p:nvPr/>
          </p:nvSpPr>
          <p:spPr>
            <a:xfrm>
              <a:off x="-41910" y="9144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96215" y="9144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Data Sanitization and Screening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4" name="Google Shape;454;p23"/>
          <p:cNvGrpSpPr/>
          <p:nvPr/>
        </p:nvGrpSpPr>
        <p:grpSpPr>
          <a:xfrm>
            <a:off x="523875" y="1333500"/>
            <a:ext cx="1809600" cy="762000"/>
            <a:chOff x="0" y="0"/>
            <a:chExt cx="1809600" cy="762000"/>
          </a:xfrm>
        </p:grpSpPr>
        <p:sp>
          <p:nvSpPr>
            <p:cNvPr id="455" name="Google Shape;45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58" name="Google Shape;45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Sanitization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Feature Drop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59" name="Google Shape;4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23"/>
          <p:cNvGrpSpPr/>
          <p:nvPr/>
        </p:nvGrpSpPr>
        <p:grpSpPr>
          <a:xfrm>
            <a:off x="519113" y="2281238"/>
            <a:ext cx="1819200" cy="2057400"/>
            <a:chOff x="-4762" y="-4762"/>
            <a:chExt cx="1819200" cy="2057400"/>
          </a:xfrm>
        </p:grpSpPr>
        <p:pic>
          <p:nvPicPr>
            <p:cNvPr id="461" name="Google Shape;46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Data Sanitization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Permanently remove non-generalizable shortcuts: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Src/Dst IP, Ports, Timestamp, Flow ID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69 continuous features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remain.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4" name="Google Shape;464;p23"/>
          <p:cNvGrpSpPr/>
          <p:nvPr/>
        </p:nvGrpSpPr>
        <p:grpSpPr>
          <a:xfrm>
            <a:off x="2619375" y="1333500"/>
            <a:ext cx="1809600" cy="762000"/>
            <a:chOff x="0" y="0"/>
            <a:chExt cx="1809600" cy="762000"/>
          </a:xfrm>
        </p:grpSpPr>
        <p:sp>
          <p:nvSpPr>
            <p:cNvPr id="465" name="Google Shape;46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Train/Val/Test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69" name="Google Shape;4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23"/>
          <p:cNvGrpSpPr/>
          <p:nvPr/>
        </p:nvGrpSpPr>
        <p:grpSpPr>
          <a:xfrm>
            <a:off x="2614613" y="2281238"/>
            <a:ext cx="1819200" cy="2057400"/>
            <a:chOff x="-4762" y="-4762"/>
            <a:chExt cx="1819200" cy="2057400"/>
          </a:xfrm>
        </p:grpSpPr>
        <p:pic>
          <p:nvPicPr>
            <p:cNvPr id="471" name="Google Shape;47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 Partitioning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Dev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(5M flows) /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Test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(1.2M flows) locked Day 0.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Dev split: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72% Train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/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8% Val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Parameters fitted strictly on 72% Train.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4" name="Google Shape;474;p23"/>
          <p:cNvGrpSpPr/>
          <p:nvPr/>
        </p:nvGrpSpPr>
        <p:grpSpPr>
          <a:xfrm>
            <a:off x="4714875" y="1333500"/>
            <a:ext cx="1809600" cy="762000"/>
            <a:chOff x="0" y="0"/>
            <a:chExt cx="1809600" cy="762000"/>
          </a:xfrm>
        </p:grpSpPr>
        <p:sp>
          <p:nvSpPr>
            <p:cNvPr id="475" name="Google Shape;47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MI Screening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Shannon MI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79" name="Google Shape;4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3"/>
          <p:cNvGrpSpPr/>
          <p:nvPr/>
        </p:nvGrpSpPr>
        <p:grpSpPr>
          <a:xfrm>
            <a:off x="4710113" y="2281238"/>
            <a:ext cx="1819200" cy="2057400"/>
            <a:chOff x="-4762" y="-4762"/>
            <a:chExt cx="1819200" cy="2057400"/>
          </a:xfrm>
        </p:grpSpPr>
        <p:pic>
          <p:nvPicPr>
            <p:cNvPr id="481" name="Google Shape;48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Feature Selection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Mutual Information filters 69 down to </a:t>
              </a:r>
              <a:r>
                <a:rPr b="1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top 40 candidates</a:t>
              </a:r>
              <a:r>
                <a:rPr b="0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Preserves semantics (unlike PCA).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Accelerates Shapley computation by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&gt;60%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4" name="Google Shape;484;p23"/>
          <p:cNvGrpSpPr/>
          <p:nvPr/>
        </p:nvGrpSpPr>
        <p:grpSpPr>
          <a:xfrm>
            <a:off x="6810375" y="1333500"/>
            <a:ext cx="1809600" cy="762000"/>
            <a:chOff x="0" y="0"/>
            <a:chExt cx="1809600" cy="762000"/>
          </a:xfrm>
        </p:grpSpPr>
        <p:sp>
          <p:nvSpPr>
            <p:cNvPr id="485" name="Google Shape;485;p23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88" name="Google Shape;488;p23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SMOTE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Balancing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9" name="Google Shape;489;p23"/>
          <p:cNvGrpSpPr/>
          <p:nvPr/>
        </p:nvGrpSpPr>
        <p:grpSpPr>
          <a:xfrm>
            <a:off x="6805613" y="2281238"/>
            <a:ext cx="1819200" cy="2057400"/>
            <a:chOff x="-4762" y="-4762"/>
            <a:chExt cx="1819200" cy="2057400"/>
          </a:xfrm>
        </p:grpSpPr>
        <p:pic>
          <p:nvPicPr>
            <p:cNvPr id="490" name="Google Shape;49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23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Oversampling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Continuous-Only SMOTE applied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strictly within Dtrain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(72% Train).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Balances minority attacks without interpolating discrete flags.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93" name="Google Shape;493;p23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24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24"/>
          <p:cNvGrpSpPr/>
          <p:nvPr/>
        </p:nvGrpSpPr>
        <p:grpSpPr>
          <a:xfrm>
            <a:off x="381000" y="190500"/>
            <a:ext cx="8381925" cy="714300"/>
            <a:chOff x="0" y="-47625"/>
            <a:chExt cx="8381925" cy="714300"/>
          </a:xfrm>
        </p:grpSpPr>
        <p:sp>
          <p:nvSpPr>
            <p:cNvPr id="500" name="Google Shape;500;p24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428625" y="-47625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Methodology: SHAP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Approach: Measure feature stability under attack to keep only the 27 most reliable features.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3" name="Google Shape;503;p24"/>
          <p:cNvGrpSpPr/>
          <p:nvPr/>
        </p:nvGrpSpPr>
        <p:grpSpPr>
          <a:xfrm>
            <a:off x="381000" y="1095375"/>
            <a:ext cx="4048200" cy="1428900"/>
            <a:chOff x="0" y="0"/>
            <a:chExt cx="4048200" cy="1428900"/>
          </a:xfrm>
        </p:grpSpPr>
        <p:sp>
          <p:nvSpPr>
            <p:cNvPr id="504" name="Google Shape;504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150">
                  <a:solidFill>
                    <a:srgbClr val="2563EB"/>
                  </a:solidFill>
                </a:rPr>
                <a:t>01 </a:t>
              </a:r>
              <a:r>
                <a:rPr b="1" sz="1150">
                  <a:solidFill>
                    <a:srgbClr val="0A192F"/>
                  </a:solidFill>
                </a:rPr>
                <a:t>Clean-Only Vulnerability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Selecting features only on normal traffic is dangerous: features that look important on clean data are often the easiest for attackers to manipulate.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6" name="Google Shape;506;p24"/>
          <p:cNvGrpSpPr/>
          <p:nvPr/>
        </p:nvGrpSpPr>
        <p:grpSpPr>
          <a:xfrm>
            <a:off x="4714875" y="1095375"/>
            <a:ext cx="4048200" cy="1428900"/>
            <a:chOff x="0" y="0"/>
            <a:chExt cx="4048200" cy="1428900"/>
          </a:xfrm>
        </p:grpSpPr>
        <p:sp>
          <p:nvSpPr>
            <p:cNvPr id="507" name="Google Shape;507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150">
                  <a:solidFill>
                    <a:srgbClr val="2563EB"/>
                  </a:solidFill>
                </a:rPr>
                <a:t>02 </a:t>
              </a:r>
              <a:r>
                <a:rPr b="1" sz="1150">
                  <a:solidFill>
                    <a:srgbClr val="0A192F"/>
                  </a:solidFill>
                </a:rPr>
                <a:t>Dual-State Attribution Auditing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SzPts val="950"/>
                <a:buNone/>
              </a:pPr>
              <a:r>
                <a:rPr sz="950">
                  <a:solidFill>
                    <a:srgbClr val="475569"/>
                  </a:solidFill>
                </a:rPr>
                <a:t>Train a baseline model on 40 candidates. Attack it with 20-step PGD, then compare feature importance on normal vs. attacked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9" name="Google Shape;509;p24"/>
          <p:cNvGrpSpPr/>
          <p:nvPr/>
        </p:nvGrpSpPr>
        <p:grpSpPr>
          <a:xfrm>
            <a:off x="381000" y="2667000"/>
            <a:ext cx="4048200" cy="1381200"/>
            <a:chOff x="0" y="0"/>
            <a:chExt cx="4048200" cy="1381200"/>
          </a:xfrm>
        </p:grpSpPr>
        <p:sp>
          <p:nvSpPr>
            <p:cNvPr id="510" name="Google Shape;510;p2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Exact Mathematical Stability Score (S_j)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Quantifying individual feature robustness under perturbation: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12" name="Google Shape;512;p24"/>
            <p:cNvPicPr preferRelativeResize="0"/>
            <p:nvPr/>
          </p:nvPicPr>
          <p:blipFill rotWithShape="1">
            <a:blip r:embed="rId4">
              <a:alphaModFix/>
            </a:blip>
            <a:srcRect b="6210" l="0" r="0" t="6201"/>
            <a:stretch/>
          </p:blipFill>
          <p:spPr>
            <a:xfrm>
              <a:off x="366755" y="533688"/>
              <a:ext cx="3314700" cy="80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3" name="Google Shape;513;p24"/>
          <p:cNvGrpSpPr/>
          <p:nvPr/>
        </p:nvGrpSpPr>
        <p:grpSpPr>
          <a:xfrm>
            <a:off x="4714875" y="2667000"/>
            <a:ext cx="4048200" cy="1381200"/>
            <a:chOff x="0" y="0"/>
            <a:chExt cx="4048200" cy="1381200"/>
          </a:xfrm>
        </p:grpSpPr>
        <p:sp>
          <p:nvSpPr>
            <p:cNvPr id="514" name="Google Shape;514;p2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Cumulative Stability-Mass Selection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Rank features descending and select minimal subset </a:t>
              </a: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satisfying: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16" name="Google Shape;516;p24"/>
            <p:cNvPicPr preferRelativeResize="0"/>
            <p:nvPr/>
          </p:nvPicPr>
          <p:blipFill rotWithShape="1">
            <a:blip r:embed="rId5">
              <a:alphaModFix/>
            </a:blip>
            <a:srcRect b="12373" l="0" r="0" t="12365"/>
            <a:stretch/>
          </p:blipFill>
          <p:spPr>
            <a:xfrm>
              <a:off x="847725" y="609600"/>
              <a:ext cx="2880300" cy="62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24"/>
          <p:cNvGrpSpPr/>
          <p:nvPr/>
        </p:nvGrpSpPr>
        <p:grpSpPr>
          <a:xfrm>
            <a:off x="381000" y="4191000"/>
            <a:ext cx="4048200" cy="400200"/>
            <a:chOff x="0" y="0"/>
            <a:chExt cx="4048200" cy="400200"/>
          </a:xfrm>
        </p:grpSpPr>
        <p:sp>
          <p:nvSpPr>
            <p:cNvPr id="518" name="Google Shape;518;p24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6B6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STABLE FEATURES SELECTED</a:t>
              </a:r>
              <a:endParaRPr b="0" sz="1600">
                <a:solidFill>
                  <a:srgbClr val="06B6D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20" name="Google Shape;520;p24"/>
          <p:cNvGrpSpPr/>
          <p:nvPr/>
        </p:nvGrpSpPr>
        <p:grpSpPr>
          <a:xfrm>
            <a:off x="4714875" y="4191000"/>
            <a:ext cx="4048200" cy="400200"/>
            <a:chOff x="0" y="0"/>
            <a:chExt cx="4048200" cy="400200"/>
          </a:xfrm>
        </p:grpSpPr>
        <p:sp>
          <p:nvSpPr>
            <p:cNvPr id="521" name="Google Shape;521;p24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13 </a:t>
              </a:r>
              <a:r>
                <a:rPr b="1" lang="en"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VOLATILE FEATURES PRUNED</a:t>
              </a:r>
              <a:endParaRPr b="0" sz="160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25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5"/>
          <p:cNvSpPr/>
          <p:nvPr/>
        </p:nvSpPr>
        <p:spPr>
          <a:xfrm>
            <a:off x="381000" y="1000125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0" name="Google Shape;530;p25"/>
          <p:cNvGrpSpPr/>
          <p:nvPr/>
        </p:nvGrpSpPr>
        <p:grpSpPr>
          <a:xfrm>
            <a:off x="381000" y="228600"/>
            <a:ext cx="8381925" cy="714300"/>
            <a:chOff x="0" y="-57150"/>
            <a:chExt cx="8381925" cy="714300"/>
          </a:xfrm>
        </p:grpSpPr>
        <p:sp>
          <p:nvSpPr>
            <p:cNvPr id="531" name="Google Shape;531;p2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5"/>
            <p:cNvSpPr txBox="1"/>
            <p:nvPr/>
          </p:nvSpPr>
          <p:spPr>
            <a:xfrm>
              <a:off x="428625" y="-5715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00">
                  <a:solidFill>
                    <a:srgbClr val="0A192F"/>
                  </a:solidFill>
                </a:rPr>
                <a:t>Proposed Methodology: Two-Phase Dynamic Training</a:t>
              </a:r>
              <a:endParaRPr b="0" sz="19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Curriculum training to mitigate static attack staleness.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4" name="Google Shape;534;p25"/>
          <p:cNvGrpSpPr/>
          <p:nvPr/>
        </p:nvGrpSpPr>
        <p:grpSpPr>
          <a:xfrm>
            <a:off x="381000" y="1095375"/>
            <a:ext cx="8382000" cy="685800"/>
            <a:chOff x="0" y="0"/>
            <a:chExt cx="8382000" cy="685800"/>
          </a:xfrm>
        </p:grpSpPr>
        <p:sp>
          <p:nvSpPr>
            <p:cNvPr id="535" name="Google Shape;535;p25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fmla="val 11111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0" y="19050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5"/>
            <p:cNvSpPr txBox="1"/>
            <p:nvPr/>
          </p:nvSpPr>
          <p:spPr>
            <a:xfrm>
              <a:off x="190500" y="114300"/>
              <a:ext cx="8001000" cy="45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200">
                  <a:solidFill>
                    <a:srgbClr val="0A192F"/>
                  </a:solidFill>
                </a:rPr>
                <a:t>Why Two Phases?</a:t>
              </a:r>
              <a:endParaRPr b="1" sz="935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Attacking a brand-new model from day one ruins its learning. It must learn normal traffic patterns first before facing adversarial attacks.</a:t>
              </a:r>
              <a:endParaRPr b="0" sz="80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381000" y="1924050"/>
            <a:ext cx="4048200" cy="1619100"/>
            <a:chOff x="0" y="0"/>
            <a:chExt cx="4048200" cy="1619100"/>
          </a:xfrm>
        </p:grpSpPr>
        <p:sp>
          <p:nvSpPr>
            <p:cNvPr id="539" name="Google Shape;539;p25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5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100">
                  <a:solidFill>
                    <a:srgbClr val="0A192F"/>
                  </a:solidFill>
                </a:rPr>
                <a:t>PHASE 1: Representation Warmup (Epochs 1–10)</a:t>
              </a:r>
              <a:endParaRPr b="1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Train exclusively on clean data using standard cross-entropy loss so the model builds solid, accurate classification foundations.</a:t>
              </a:r>
              <a:endParaRPr b="1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25"/>
          <p:cNvGrpSpPr/>
          <p:nvPr/>
        </p:nvGrpSpPr>
        <p:grpSpPr>
          <a:xfrm>
            <a:off x="4714875" y="1924050"/>
            <a:ext cx="4048200" cy="1619100"/>
            <a:chOff x="0" y="0"/>
            <a:chExt cx="4048200" cy="1619100"/>
          </a:xfrm>
        </p:grpSpPr>
        <p:sp>
          <p:nvSpPr>
            <p:cNvPr id="543" name="Google Shape;543;p25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5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100">
                  <a:solidFill>
                    <a:srgbClr val="0A192F"/>
                  </a:solidFill>
                </a:rPr>
                <a:t>PHASE 2: Dynamic Online Training (Epochs 11–50)</a:t>
              </a:r>
              <a:endParaRPr b="1" sz="900">
                <a:solidFill>
                  <a:srgbClr val="0369A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475569"/>
                  </a:solidFill>
                </a:rPr>
                <a:t>Generate live, fresh PGD attacks for every training batch to defeat evolving attacks without hurting normal accuracy.</a:t>
              </a:r>
              <a:endParaRPr b="1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6" name="Google Shape;546;p25"/>
          <p:cNvGrpSpPr/>
          <p:nvPr/>
        </p:nvGrpSpPr>
        <p:grpSpPr>
          <a:xfrm>
            <a:off x="381000" y="3657600"/>
            <a:ext cx="8382000" cy="800100"/>
            <a:chOff x="0" y="0"/>
            <a:chExt cx="8382000" cy="800100"/>
          </a:xfrm>
        </p:grpSpPr>
        <p:sp>
          <p:nvSpPr>
            <p:cNvPr id="547" name="Google Shape;547;p25"/>
            <p:cNvSpPr/>
            <p:nvPr/>
          </p:nvSpPr>
          <p:spPr>
            <a:xfrm>
              <a:off x="0" y="0"/>
              <a:ext cx="8382000" cy="800100"/>
            </a:xfrm>
            <a:prstGeom prst="roundRect">
              <a:avLst>
                <a:gd fmla="val 9523" name="adj"/>
              </a:avLst>
            </a:prstGeom>
            <a:solidFill>
              <a:srgbClr val="112240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5"/>
            <p:cNvSpPr txBox="1"/>
            <p:nvPr/>
          </p:nvSpPr>
          <p:spPr>
            <a:xfrm>
              <a:off x="190500" y="1143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sz="1100">
                  <a:solidFill>
                    <a:srgbClr val="38BDF8"/>
                  </a:solidFill>
                </a:rPr>
                <a:t>Joint Objective: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sz="950">
                  <a:solidFill>
                    <a:srgbClr val="CBD5E1"/>
                  </a:solidFill>
                </a:rPr>
                <a:t>Defends against evolving attacks while keeping normal traffic accuracy high.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549" name="Google Shape;5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0150" y="3842050"/>
            <a:ext cx="3938226" cy="2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2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6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381000" y="342900"/>
            <a:ext cx="380925" cy="190500"/>
            <a:chOff x="0" y="0"/>
            <a:chExt cx="380925" cy="190500"/>
          </a:xfrm>
        </p:grpSpPr>
        <p:sp>
          <p:nvSpPr>
            <p:cNvPr id="558" name="Google Shape;558;p26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6"/>
          <p:cNvSpPr txBox="1"/>
          <p:nvPr/>
        </p:nvSpPr>
        <p:spPr>
          <a:xfrm>
            <a:off x="809625" y="228600"/>
            <a:ext cx="795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&amp; Environment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Experimental configuration and technical architecture parameters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61" name="Google Shape;561;p26"/>
          <p:cNvGrpSpPr/>
          <p:nvPr/>
        </p:nvGrpSpPr>
        <p:grpSpPr>
          <a:xfrm>
            <a:off x="381000" y="1095375"/>
            <a:ext cx="2600400" cy="3333900"/>
            <a:chOff x="0" y="0"/>
            <a:chExt cx="2600400" cy="3333900"/>
          </a:xfrm>
        </p:grpSpPr>
        <p:sp>
          <p:nvSpPr>
            <p:cNvPr id="562" name="Google Shape;562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 txBox="1"/>
            <p:nvPr/>
          </p:nvSpPr>
          <p:spPr>
            <a:xfrm>
              <a:off x="285750" y="142875"/>
              <a:ext cx="2171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Benchmark Dataset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sz="850">
                  <a:solidFill>
                    <a:srgbClr val="475569"/>
                  </a:solidFill>
                </a:rPr>
                <a:t>CSE-CIC-IDS 2018 (HuggingFace: dhoogla/csecicids2018): 14 attack classes across 7 profiles; curated Parquet flows replace raw 250 GB dataset.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Total Valid Flow Volume:</a:t>
              </a:r>
              <a:endParaRPr b="1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6,320,003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flows (post-sanitization).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 Breakdown: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72% Core Train: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4.55M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8% Validation: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505K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Frozen Test: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1.26M flows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5" name="Google Shape;565;p26"/>
          <p:cNvGrpSpPr/>
          <p:nvPr/>
        </p:nvGrpSpPr>
        <p:grpSpPr>
          <a:xfrm>
            <a:off x="3267075" y="1095375"/>
            <a:ext cx="2600400" cy="3333900"/>
            <a:chOff x="0" y="0"/>
            <a:chExt cx="2600400" cy="3333900"/>
          </a:xfrm>
        </p:grpSpPr>
        <p:sp>
          <p:nvSpPr>
            <p:cNvPr id="566" name="Google Shape;566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 txBox="1"/>
            <p:nvPr/>
          </p:nvSpPr>
          <p:spPr>
            <a:xfrm>
              <a:off x="285750" y="142875"/>
              <a:ext cx="2171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Platform &amp; Stack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GPU Platform: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AMD Radeon RX 7600 (8 GB VRAM, RDNA 3 architecture).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Software Stack: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Python 3.10, PyTorch, ROCm Windows, Adversarial Robustness Toolbox.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Batch Optimization:</a:t>
              </a:r>
              <a:b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Vectorized GPU tensor operations </a:t>
              </a:r>
              <a:r>
                <a:rPr b="0" lang="en" sz="92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(Batch Size = 2048)</a:t>
              </a: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mixed-precision (~70 min for 50 epochs).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9" name="Google Shape;569;p26"/>
          <p:cNvGrpSpPr/>
          <p:nvPr/>
        </p:nvGrpSpPr>
        <p:grpSpPr>
          <a:xfrm>
            <a:off x="6153150" y="1095375"/>
            <a:ext cx="2600400" cy="3333900"/>
            <a:chOff x="0" y="0"/>
            <a:chExt cx="2600400" cy="3333900"/>
          </a:xfrm>
        </p:grpSpPr>
        <p:sp>
          <p:nvSpPr>
            <p:cNvPr id="570" name="Google Shape;570;p26"/>
            <p:cNvSpPr/>
            <p:nvPr/>
          </p:nvSpPr>
          <p:spPr>
            <a:xfrm>
              <a:off x="0" y="0"/>
              <a:ext cx="2600400" cy="33339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14300">
              <a:solidFill>
                <a:srgbClr val="2A64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 txBox="1"/>
            <p:nvPr/>
          </p:nvSpPr>
          <p:spPr>
            <a:xfrm>
              <a:off x="285750" y="142875"/>
              <a:ext cx="2171700" cy="2571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3. Target Architecture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Topology: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4-Layer Multi-Layer Perceptron (MLP).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Layer Design: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Linear → Batch Normalization → ReLU Activation → Dropout (p = 0.30).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Complexity:</a:t>
              </a:r>
              <a:br>
                <a:rPr b="0" lang="en" sz="9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Compact feed-forward pass (~14,000 parameters) ensuring high GPU throughput.</a:t>
              </a:r>
              <a:endParaRPr b="0" sz="9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573" name="Google Shape;573;p26"/>
            <p:cNvGrpSpPr/>
            <p:nvPr/>
          </p:nvGrpSpPr>
          <p:grpSpPr>
            <a:xfrm>
              <a:off x="142875" y="1994540"/>
              <a:ext cx="2266950" cy="228610"/>
              <a:chOff x="0" y="-815335"/>
              <a:chExt cx="2266950" cy="228610"/>
            </a:xfrm>
          </p:grpSpPr>
          <p:sp>
            <p:nvSpPr>
              <p:cNvPr id="574" name="Google Shape;574;p26"/>
              <p:cNvSpPr/>
              <p:nvPr/>
            </p:nvSpPr>
            <p:spPr>
              <a:xfrm>
                <a:off x="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6"/>
              <p:cNvSpPr txBox="1"/>
              <p:nvPr/>
            </p:nvSpPr>
            <p:spPr>
              <a:xfrm>
                <a:off x="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3A8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27</a:t>
                </a:r>
                <a:endParaRPr b="1" sz="900">
                  <a:solidFill>
                    <a:srgbClr val="1E3A8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76" name="Google Shape;576;p26"/>
              <p:cNvSpPr txBox="1"/>
              <p:nvPr/>
            </p:nvSpPr>
            <p:spPr>
              <a:xfrm>
                <a:off x="32385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495300" y="-815325"/>
                <a:ext cx="3621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6"/>
              <p:cNvSpPr txBox="1"/>
              <p:nvPr/>
            </p:nvSpPr>
            <p:spPr>
              <a:xfrm>
                <a:off x="495300" y="-815335"/>
                <a:ext cx="3621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128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79" name="Google Shape;579;p26"/>
              <p:cNvSpPr txBox="1"/>
              <p:nvPr/>
            </p:nvSpPr>
            <p:spPr>
              <a:xfrm>
                <a:off x="8763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104775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6"/>
              <p:cNvSpPr txBox="1"/>
              <p:nvPr/>
            </p:nvSpPr>
            <p:spPr>
              <a:xfrm>
                <a:off x="104775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64</a:t>
                </a:r>
                <a:endParaRPr b="1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82" name="Google Shape;582;p26"/>
              <p:cNvSpPr txBox="1"/>
              <p:nvPr/>
            </p:nvSpPr>
            <p:spPr>
              <a:xfrm>
                <a:off x="13716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1543050" y="-815325"/>
                <a:ext cx="3048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6"/>
              <p:cNvSpPr txBox="1"/>
              <p:nvPr/>
            </p:nvSpPr>
            <p:spPr>
              <a:xfrm>
                <a:off x="1543050" y="-815335"/>
                <a:ext cx="3048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32</a:t>
                </a:r>
                <a:endParaRPr b="1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585" name="Google Shape;585;p26"/>
              <p:cNvSpPr txBox="1"/>
              <p:nvPr/>
            </p:nvSpPr>
            <p:spPr>
              <a:xfrm>
                <a:off x="1866900" y="-815335"/>
                <a:ext cx="1524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→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26"/>
              <p:cNvSpPr/>
              <p:nvPr/>
            </p:nvSpPr>
            <p:spPr>
              <a:xfrm>
                <a:off x="2038350" y="-815325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6"/>
              <p:cNvSpPr txBox="1"/>
              <p:nvPr/>
            </p:nvSpPr>
            <p:spPr>
              <a:xfrm>
                <a:off x="2038350" y="-815335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</a:t>
                </a:r>
                <a:endParaRPr b="1" sz="9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7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7"/>
          <p:cNvSpPr/>
          <p:nvPr/>
        </p:nvSpPr>
        <p:spPr>
          <a:xfrm>
            <a:off x="251450" y="676175"/>
            <a:ext cx="8600100" cy="4010100"/>
          </a:xfrm>
          <a:prstGeom prst="roundRect">
            <a:avLst>
              <a:gd fmla="val 5595" name="adj"/>
            </a:avLst>
          </a:prstGeom>
          <a:solidFill>
            <a:srgbClr val="FFFF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27"/>
          <p:cNvGrpSpPr/>
          <p:nvPr/>
        </p:nvGrpSpPr>
        <p:grpSpPr>
          <a:xfrm>
            <a:off x="285750" y="333375"/>
            <a:ext cx="8477400" cy="666900"/>
            <a:chOff x="-95250" y="0"/>
            <a:chExt cx="8477400" cy="666900"/>
          </a:xfrm>
        </p:grpSpPr>
        <p:grpSp>
          <p:nvGrpSpPr>
            <p:cNvPr id="595" name="Google Shape;595;p27"/>
            <p:cNvGrpSpPr/>
            <p:nvPr/>
          </p:nvGrpSpPr>
          <p:grpSpPr>
            <a:xfrm>
              <a:off x="-95250" y="57150"/>
              <a:ext cx="476325" cy="190500"/>
              <a:chOff x="-95250" y="0"/>
              <a:chExt cx="476325" cy="190500"/>
            </a:xfrm>
          </p:grpSpPr>
          <p:sp>
            <p:nvSpPr>
              <p:cNvPr id="596" name="Google Shape;596;p27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7"/>
              <p:cNvSpPr/>
              <p:nvPr/>
            </p:nvSpPr>
            <p:spPr>
              <a:xfrm>
                <a:off x="142875" y="0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120000" y="0"/>
                    </a:lnTo>
                    <a:lnTo>
                      <a:pt x="72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8" name="Google Shape;598;p27"/>
            <p:cNvSpPr txBox="1"/>
            <p:nvPr/>
          </p:nvSpPr>
          <p:spPr>
            <a:xfrm>
              <a:off x="476250" y="0"/>
              <a:ext cx="790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Weekly Research Timeline &amp; Gantt Chart</a:t>
              </a:r>
              <a:endParaRPr b="0" sz="2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Project Execution Timeline (Weeks 1-14)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99" name="Google Shape;599;p27"/>
          <p:cNvGrpSpPr/>
          <p:nvPr/>
        </p:nvGrpSpPr>
        <p:grpSpPr>
          <a:xfrm>
            <a:off x="381000" y="3762375"/>
            <a:ext cx="8382075" cy="809700"/>
            <a:chOff x="0" y="0"/>
            <a:chExt cx="8382075" cy="809700"/>
          </a:xfrm>
        </p:grpSpPr>
        <p:grpSp>
          <p:nvGrpSpPr>
            <p:cNvPr id="600" name="Google Shape;600;p27"/>
            <p:cNvGrpSpPr/>
            <p:nvPr/>
          </p:nvGrpSpPr>
          <p:grpSpPr>
            <a:xfrm>
              <a:off x="0" y="0"/>
              <a:ext cx="4048200" cy="809700"/>
              <a:chOff x="0" y="0"/>
              <a:chExt cx="4048200" cy="809700"/>
            </a:xfrm>
          </p:grpSpPr>
          <p:sp>
            <p:nvSpPr>
              <p:cNvPr id="601" name="Google Shape;601;p27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Current Status (September 10, 2026)</a:t>
                </a:r>
                <a:endParaRPr b="1" sz="925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Tasks 1 through 7 are complete (Theoretical formulation, literature audit, data ingestion pipeline, and GPU environment verified). The </a:t>
                </a:r>
                <a:r>
                  <a:rPr b="1" lang="en" sz="786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Pre-Defense Milestone</a:t>
                </a: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has been successfully achieved.</a:t>
                </a:r>
                <a:endParaRPr b="0" sz="78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4" name="Google Shape;604;p27"/>
            <p:cNvGrpSpPr/>
            <p:nvPr/>
          </p:nvGrpSpPr>
          <p:grpSpPr>
            <a:xfrm>
              <a:off x="4333875" y="0"/>
              <a:ext cx="4048200" cy="809700"/>
              <a:chOff x="0" y="0"/>
              <a:chExt cx="4048200" cy="809700"/>
            </a:xfrm>
          </p:grpSpPr>
          <p:sp>
            <p:nvSpPr>
              <p:cNvPr id="605" name="Google Shape;605;p27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7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 Transitions &amp; Next Steps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Immediately transitioning to </a:t>
                </a:r>
                <a:r>
                  <a:rPr b="1" lang="en" sz="8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multi-threat evaluation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11–12) and </a:t>
                </a:r>
                <a:r>
                  <a:rPr b="1" lang="en" sz="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final manuscript submission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13–14).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08" name="Google Shape;608;p27"/>
          <p:cNvGrpSpPr/>
          <p:nvPr/>
        </p:nvGrpSpPr>
        <p:grpSpPr>
          <a:xfrm>
            <a:off x="-397675" y="676170"/>
            <a:ext cx="9160817" cy="3038986"/>
            <a:chOff x="95250" y="876300"/>
            <a:chExt cx="8610600" cy="2453565"/>
          </a:xfrm>
        </p:grpSpPr>
        <p:cxnSp>
          <p:nvCxnSpPr>
            <p:cNvPr id="609" name="Google Shape;609;p27"/>
            <p:cNvCxnSpPr/>
            <p:nvPr/>
          </p:nvCxnSpPr>
          <p:spPr>
            <a:xfrm>
              <a:off x="247650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27"/>
            <p:cNvCxnSpPr/>
            <p:nvPr/>
          </p:nvCxnSpPr>
          <p:spPr>
            <a:xfrm>
              <a:off x="2918746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27"/>
            <p:cNvCxnSpPr/>
            <p:nvPr/>
          </p:nvCxnSpPr>
          <p:spPr>
            <a:xfrm>
              <a:off x="336099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27"/>
            <p:cNvCxnSpPr/>
            <p:nvPr/>
          </p:nvCxnSpPr>
          <p:spPr>
            <a:xfrm>
              <a:off x="380323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27"/>
            <p:cNvCxnSpPr/>
            <p:nvPr/>
          </p:nvCxnSpPr>
          <p:spPr>
            <a:xfrm>
              <a:off x="4245388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27"/>
            <p:cNvCxnSpPr/>
            <p:nvPr/>
          </p:nvCxnSpPr>
          <p:spPr>
            <a:xfrm>
              <a:off x="468763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27"/>
            <p:cNvCxnSpPr/>
            <p:nvPr/>
          </p:nvCxnSpPr>
          <p:spPr>
            <a:xfrm>
              <a:off x="512987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27"/>
            <p:cNvCxnSpPr/>
            <p:nvPr/>
          </p:nvCxnSpPr>
          <p:spPr>
            <a:xfrm>
              <a:off x="5572125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27"/>
            <p:cNvCxnSpPr/>
            <p:nvPr/>
          </p:nvCxnSpPr>
          <p:spPr>
            <a:xfrm>
              <a:off x="6014371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27"/>
            <p:cNvCxnSpPr/>
            <p:nvPr/>
          </p:nvCxnSpPr>
          <p:spPr>
            <a:xfrm>
              <a:off x="645661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9" name="Google Shape;619;p27"/>
            <p:cNvCxnSpPr/>
            <p:nvPr/>
          </p:nvCxnSpPr>
          <p:spPr>
            <a:xfrm>
              <a:off x="689886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0" name="Google Shape;620;p27"/>
            <p:cNvCxnSpPr/>
            <p:nvPr/>
          </p:nvCxnSpPr>
          <p:spPr>
            <a:xfrm>
              <a:off x="7341013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27"/>
            <p:cNvCxnSpPr/>
            <p:nvPr/>
          </p:nvCxnSpPr>
          <p:spPr>
            <a:xfrm>
              <a:off x="778325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27"/>
            <p:cNvCxnSpPr/>
            <p:nvPr/>
          </p:nvCxnSpPr>
          <p:spPr>
            <a:xfrm>
              <a:off x="822550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27"/>
            <p:cNvCxnSpPr/>
            <p:nvPr/>
          </p:nvCxnSpPr>
          <p:spPr>
            <a:xfrm>
              <a:off x="866775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4" name="Google Shape;624;p27"/>
            <p:cNvSpPr txBox="1"/>
            <p:nvPr/>
          </p:nvSpPr>
          <p:spPr>
            <a:xfrm>
              <a:off x="265333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5" name="Google Shape;625;p27"/>
            <p:cNvSpPr txBox="1"/>
            <p:nvPr/>
          </p:nvSpPr>
          <p:spPr>
            <a:xfrm>
              <a:off x="309529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353820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7" name="Google Shape;627;p27"/>
            <p:cNvSpPr txBox="1"/>
            <p:nvPr/>
          </p:nvSpPr>
          <p:spPr>
            <a:xfrm>
              <a:off x="398016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8" name="Google Shape;628;p27"/>
            <p:cNvSpPr txBox="1"/>
            <p:nvPr/>
          </p:nvSpPr>
          <p:spPr>
            <a:xfrm>
              <a:off x="442212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W5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9" name="Google Shape;629;p27"/>
            <p:cNvSpPr txBox="1"/>
            <p:nvPr/>
          </p:nvSpPr>
          <p:spPr>
            <a:xfrm>
              <a:off x="486408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W6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0" name="Google Shape;630;p27"/>
            <p:cNvSpPr txBox="1"/>
            <p:nvPr/>
          </p:nvSpPr>
          <p:spPr>
            <a:xfrm>
              <a:off x="530699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W7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1" name="Google Shape;631;p27"/>
            <p:cNvSpPr txBox="1"/>
            <p:nvPr/>
          </p:nvSpPr>
          <p:spPr>
            <a:xfrm>
              <a:off x="574895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W8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2" name="Google Shape;632;p27"/>
            <p:cNvSpPr txBox="1"/>
            <p:nvPr/>
          </p:nvSpPr>
          <p:spPr>
            <a:xfrm>
              <a:off x="619091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W9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3" name="Google Shape;633;p27"/>
            <p:cNvSpPr txBox="1"/>
            <p:nvPr/>
          </p:nvSpPr>
          <p:spPr>
            <a:xfrm>
              <a:off x="6610807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W10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4" name="Google Shape;634;p27"/>
            <p:cNvSpPr txBox="1"/>
            <p:nvPr/>
          </p:nvSpPr>
          <p:spPr>
            <a:xfrm>
              <a:off x="705372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749567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6" name="Google Shape;636;p27"/>
            <p:cNvSpPr txBox="1"/>
            <p:nvPr/>
          </p:nvSpPr>
          <p:spPr>
            <a:xfrm>
              <a:off x="793763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7" name="Google Shape;637;p27"/>
            <p:cNvSpPr txBox="1"/>
            <p:nvPr/>
          </p:nvSpPr>
          <p:spPr>
            <a:xfrm>
              <a:off x="837960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2476490" y="1285880"/>
              <a:ext cx="3980100" cy="2000100"/>
            </a:xfrm>
            <a:prstGeom prst="rect">
              <a:avLst/>
            </a:prstGeom>
            <a:solidFill>
              <a:srgbClr val="1E90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9" name="Google Shape;639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47013" y="1047108"/>
              <a:ext cx="19200" cy="22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27"/>
            <p:cNvSpPr txBox="1"/>
            <p:nvPr/>
          </p:nvSpPr>
          <p:spPr>
            <a:xfrm>
              <a:off x="5334000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1E90FF"/>
                  </a:solidFill>
                  <a:latin typeface="Inter"/>
                  <a:ea typeface="Inter"/>
                  <a:cs typeface="Inter"/>
                  <a:sym typeface="Inter"/>
                </a:rPr>
                <a:t>★ PRE-DEFENSE (SEP 10)</a:t>
              </a:r>
              <a:endParaRPr b="1" i="0" sz="800">
                <a:solidFill>
                  <a:srgbClr val="1E90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41" name="Google Shape;641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58225" y="1028700"/>
              <a:ext cx="19200" cy="22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27"/>
            <p:cNvSpPr txBox="1"/>
            <p:nvPr/>
          </p:nvSpPr>
          <p:spPr>
            <a:xfrm>
              <a:off x="7096125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0D2B5C"/>
                  </a:solidFill>
                  <a:latin typeface="Inter"/>
                  <a:ea typeface="Inter"/>
                  <a:cs typeface="Inter"/>
                  <a:sym typeface="Inter"/>
                </a:rPr>
                <a:t>★ FINAL DEFENSE (OCT 11)</a:t>
              </a:r>
              <a:endParaRPr b="1" i="0" sz="800">
                <a:solidFill>
                  <a:srgbClr val="0D2B5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3" name="Google Shape;643;p27"/>
            <p:cNvSpPr txBox="1"/>
            <p:nvPr/>
          </p:nvSpPr>
          <p:spPr>
            <a:xfrm>
              <a:off x="95250" y="1358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1. Topic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476500" y="1352550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 txBox="1"/>
            <p:nvPr/>
          </p:nvSpPr>
          <p:spPr>
            <a:xfrm>
              <a:off x="95250" y="1510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2. Literature Review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2918749" y="1504958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 txBox="1"/>
            <p:nvPr/>
          </p:nvSpPr>
          <p:spPr>
            <a:xfrm>
              <a:off x="95250" y="1663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3. Base Paper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3360973" y="1653475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7"/>
            <p:cNvSpPr txBox="1"/>
            <p:nvPr/>
          </p:nvSpPr>
          <p:spPr>
            <a:xfrm>
              <a:off x="95250" y="1815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4. Methodology Study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3803236" y="1815469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 txBox="1"/>
            <p:nvPr/>
          </p:nvSpPr>
          <p:spPr>
            <a:xfrm>
              <a:off x="95250" y="1967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50">
                  <a:solidFill>
                    <a:srgbClr val="0A192F"/>
                  </a:solidFill>
                  <a:latin typeface="Inter Medium"/>
                </a:rPr>
                <a:t>5. Limitation Identification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4687650" y="1967862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7"/>
            <p:cNvSpPr txBox="1"/>
            <p:nvPr/>
          </p:nvSpPr>
          <p:spPr>
            <a:xfrm>
              <a:off x="95250" y="2120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6. Environment Setup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5129896" y="2109746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7"/>
            <p:cNvSpPr txBox="1"/>
            <p:nvPr/>
          </p:nvSpPr>
          <p:spPr>
            <a:xfrm>
              <a:off x="95250" y="2272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7. Pre-Defense Prep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5572177" y="2272662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06B6D4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7"/>
            <p:cNvSpPr txBox="1"/>
            <p:nvPr/>
          </p:nvSpPr>
          <p:spPr>
            <a:xfrm>
              <a:off x="95250" y="2425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8. Implementation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58" name="Google Shape;658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56640" y="2406716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" name="Google Shape;659;p27"/>
            <p:cNvSpPr txBox="1"/>
            <p:nvPr/>
          </p:nvSpPr>
          <p:spPr>
            <a:xfrm>
              <a:off x="95250" y="2577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9. Empirical Evaluation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0" name="Google Shape;660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96145" y="259651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27"/>
            <p:cNvSpPr txBox="1"/>
            <p:nvPr/>
          </p:nvSpPr>
          <p:spPr>
            <a:xfrm>
              <a:off x="95250" y="2729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10. Result Analysis &amp; Comparison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2" name="Google Shape;662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38388" y="271164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3" name="Google Shape;663;p27"/>
            <p:cNvSpPr txBox="1"/>
            <p:nvPr/>
          </p:nvSpPr>
          <p:spPr>
            <a:xfrm>
              <a:off x="95250" y="2882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11. Thesis Manuscript Drafting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4" name="Google Shape;664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44725" y="2867928"/>
              <a:ext cx="8703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27"/>
            <p:cNvSpPr txBox="1"/>
            <p:nvPr/>
          </p:nvSpPr>
          <p:spPr>
            <a:xfrm>
              <a:off x="95250" y="3034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12. Supervisor Review &amp; Revisions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66" name="Google Shape;666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73428" y="3024208"/>
              <a:ext cx="4524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27"/>
            <p:cNvSpPr txBox="1"/>
            <p:nvPr/>
          </p:nvSpPr>
          <p:spPr>
            <a:xfrm>
              <a:off x="95250" y="3187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13. Final Thesis Defense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8629650" y="3181350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D2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9" name="Google Shape;669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30404" y="3511869"/>
            <a:ext cx="481200" cy="1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2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5" name="Google Shape;675;p28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676" name="Google Shape;676;p28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677" name="Google Shape;677;p28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8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9" name="Google Shape;679;p28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Expected Results &amp; Research Hypotheses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Comprehensive multi-threat evaluation protocol and performance targets.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0" name="Google Shape;680;p28"/>
          <p:cNvGrpSpPr/>
          <p:nvPr/>
        </p:nvGrpSpPr>
        <p:grpSpPr>
          <a:xfrm>
            <a:off x="381000" y="1333500"/>
            <a:ext cx="1952700" cy="1143000"/>
            <a:chOff x="0" y="0"/>
            <a:chExt cx="1952700" cy="1143000"/>
          </a:xfrm>
        </p:grpSpPr>
        <p:sp>
          <p:nvSpPr>
            <p:cNvPr id="681" name="Google Shape;681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Clean Accuracy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240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≥95%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Pruning 13 unstable features mitigates degradation.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3" name="Google Shape;683;p28"/>
          <p:cNvGrpSpPr/>
          <p:nvPr/>
        </p:nvGrpSpPr>
        <p:grpSpPr>
          <a:xfrm>
            <a:off x="2524125" y="1333500"/>
            <a:ext cx="1952700" cy="1143000"/>
            <a:chOff x="0" y="0"/>
            <a:chExt cx="1952700" cy="1143000"/>
          </a:xfrm>
        </p:grpSpPr>
        <p:sp>
          <p:nvSpPr>
            <p:cNvPr id="684" name="Google Shape;684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Robust Accuracy</a:t>
              </a:r>
              <a:endParaRPr b="0" sz="833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88.0% – 90%</a:t>
              </a:r>
              <a:endParaRPr b="1" sz="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PGD-100 (ε=0.05) vs. undefended baselines.</a:t>
              </a:r>
              <a:endParaRPr b="0" sz="78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6" name="Google Shape;686;p28"/>
          <p:cNvGrpSpPr/>
          <p:nvPr/>
        </p:nvGrpSpPr>
        <p:grpSpPr>
          <a:xfrm>
            <a:off x="381000" y="2667000"/>
            <a:ext cx="1952700" cy="1143000"/>
            <a:chOff x="0" y="0"/>
            <a:chExt cx="1952700" cy="1143000"/>
          </a:xfrm>
        </p:grpSpPr>
        <p:sp>
          <p:nvSpPr>
            <p:cNvPr id="687" name="Google Shape;687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Attack Success Rate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12.0%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 iterative white-box gradient attacks.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9" name="Google Shape;689;p28"/>
          <p:cNvGrpSpPr/>
          <p:nvPr/>
        </p:nvGrpSpPr>
        <p:grpSpPr>
          <a:xfrm>
            <a:off x="2524125" y="2667000"/>
            <a:ext cx="1952700" cy="1143000"/>
            <a:chOff x="0" y="0"/>
            <a:chExt cx="1952700" cy="1143000"/>
          </a:xfrm>
        </p:grpSpPr>
        <p:sp>
          <p:nvSpPr>
            <p:cNvPr id="690" name="Google Shape;690;p28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6B6D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Inference Speed</a:t>
              </a:r>
              <a:endParaRPr b="0" sz="90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0.05 ms</a:t>
              </a:r>
              <a:endParaRPr b="1" sz="10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Amortized per flow (preliminary: &lt;0.02 ms).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2" name="Google Shape;692;p28"/>
          <p:cNvGrpSpPr/>
          <p:nvPr/>
        </p:nvGrpSpPr>
        <p:grpSpPr>
          <a:xfrm>
            <a:off x="4667250" y="1333500"/>
            <a:ext cx="4095900" cy="2476500"/>
            <a:chOff x="0" y="0"/>
            <a:chExt cx="4095900" cy="2476500"/>
          </a:xfrm>
        </p:grpSpPr>
        <p:sp>
          <p:nvSpPr>
            <p:cNvPr id="693" name="Google Shape;693;p28"/>
            <p:cNvSpPr/>
            <p:nvPr/>
          </p:nvSpPr>
          <p:spPr>
            <a:xfrm>
              <a:off x="0" y="0"/>
              <a:ext cx="40959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19050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 txBox="1"/>
            <p:nvPr/>
          </p:nvSpPr>
          <p:spPr>
            <a:xfrm>
              <a:off x="333375" y="171450"/>
              <a:ext cx="3571800" cy="21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Multi-Threat Evaluation Suite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First-Order Gradient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FGSM, PGD20, PGD100, BIM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Parameter-Free &amp; Optimization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Auto-PGD (APGD-CE), Carlini-Wagner (l∞)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Decision-Based &amp; Black-Box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Square Attack (query-based), Surrogate Model Transferability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6" name="Google Shape;696;p28"/>
          <p:cNvGrpSpPr/>
          <p:nvPr/>
        </p:nvGrpSpPr>
        <p:grpSpPr>
          <a:xfrm>
            <a:off x="381000" y="3952875"/>
            <a:ext cx="8382000" cy="619200"/>
            <a:chOff x="0" y="0"/>
            <a:chExt cx="8382000" cy="619200"/>
          </a:xfrm>
        </p:grpSpPr>
        <p:sp>
          <p:nvSpPr>
            <p:cNvPr id="697" name="Google Shape;697;p28"/>
            <p:cNvSpPr/>
            <p:nvPr/>
          </p:nvSpPr>
          <p:spPr>
            <a:xfrm>
              <a:off x="0" y="0"/>
              <a:ext cx="8382000" cy="619200"/>
            </a:xfrm>
            <a:prstGeom prst="roundRect">
              <a:avLst>
                <a:gd fmla="val 12307" name="adj"/>
              </a:avLst>
            </a:prstGeom>
            <a:solidFill>
              <a:srgbClr val="112240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28"/>
            <p:cNvGrpSpPr/>
            <p:nvPr/>
          </p:nvGrpSpPr>
          <p:grpSpPr>
            <a:xfrm>
              <a:off x="190500" y="190500"/>
              <a:ext cx="1047900" cy="238200"/>
              <a:chOff x="0" y="0"/>
              <a:chExt cx="1047900" cy="238200"/>
            </a:xfrm>
          </p:grpSpPr>
          <p:sp>
            <p:nvSpPr>
              <p:cNvPr id="699" name="Google Shape;699;p28"/>
              <p:cNvSpPr/>
              <p:nvPr/>
            </p:nvSpPr>
            <p:spPr>
              <a:xfrm>
                <a:off x="0" y="0"/>
                <a:ext cx="10479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8"/>
              <p:cNvSpPr txBox="1"/>
              <p:nvPr/>
            </p:nvSpPr>
            <p:spPr>
              <a:xfrm>
                <a:off x="0" y="0"/>
                <a:ext cx="1047900" cy="238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112240"/>
                    </a:solidFill>
                    <a:latin typeface="Inter"/>
                    <a:ea typeface="Inter"/>
                    <a:cs typeface="Inter"/>
                    <a:sym typeface="Inter"/>
                  </a:rPr>
                  <a:t>VERIFICATION</a:t>
                </a:r>
                <a:endParaRPr b="1" sz="850">
                  <a:solidFill>
                    <a:srgbClr val="11224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701" name="Google Shape;701;p28"/>
            <p:cNvSpPr txBox="1"/>
            <p:nvPr/>
          </p:nvSpPr>
          <p:spPr>
            <a:xfrm>
              <a:off x="1428750" y="114300"/>
              <a:ext cx="67629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14">
                  <a:solidFill>
                    <a:srgbClr val="00F0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Gradient Obfuscation Safeguards</a:t>
              </a:r>
              <a:endParaRPr b="0" sz="814">
                <a:solidFill>
                  <a:srgbClr val="00F0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Validate that robustness is genuine and not caused by gradient masking (verifying non-zero input gradients and evaluating black-box transferability).</a:t>
              </a:r>
              <a:endParaRPr b="0" sz="73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2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sp>
        <p:nvSpPr>
          <p:cNvPr id="707" name="Google Shape;707;p29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9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9" name="Google Shape;709;p29"/>
          <p:cNvGrpSpPr/>
          <p:nvPr/>
        </p:nvGrpSpPr>
        <p:grpSpPr>
          <a:xfrm>
            <a:off x="381000" y="333375"/>
            <a:ext cx="285900" cy="190500"/>
            <a:chOff x="0" y="0"/>
            <a:chExt cx="285900" cy="190500"/>
          </a:xfrm>
        </p:grpSpPr>
        <p:sp>
          <p:nvSpPr>
            <p:cNvPr id="710" name="Google Shape;710;p29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14287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29"/>
          <p:cNvSpPr txBox="1"/>
          <p:nvPr/>
        </p:nvSpPr>
        <p:spPr>
          <a:xfrm>
            <a:off x="857250" y="228600"/>
            <a:ext cx="7905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 &amp; Immediate Next Steps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Summary of proposed contributions and immediate project execution roadmap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13" name="Google Shape;713;p29"/>
          <p:cNvGrpSpPr/>
          <p:nvPr/>
        </p:nvGrpSpPr>
        <p:grpSpPr>
          <a:xfrm>
            <a:off x="381000" y="1095375"/>
            <a:ext cx="4048200" cy="3381300"/>
            <a:chOff x="0" y="0"/>
            <a:chExt cx="4048200" cy="3381300"/>
          </a:xfrm>
        </p:grpSpPr>
        <p:sp>
          <p:nvSpPr>
            <p:cNvPr id="714" name="Google Shape;714;p29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142875" y="142875"/>
              <a:ext cx="1524000" cy="209700"/>
            </a:xfrm>
            <a:prstGeom prst="roundRect">
              <a:avLst>
                <a:gd fmla="val 18181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 txBox="1"/>
            <p:nvPr/>
          </p:nvSpPr>
          <p:spPr>
            <a:xfrm>
              <a:off x="142875" y="142875"/>
              <a:ext cx="1524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PROPOSED CONTRIBUTIONS</a:t>
              </a:r>
              <a:endParaRPr b="1" sz="7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17" name="Google Shape;717;p29"/>
            <p:cNvSpPr txBox="1"/>
            <p:nvPr/>
          </p:nvSpPr>
          <p:spPr>
            <a:xfrm>
              <a:off x="142875" y="428625"/>
              <a:ext cx="376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Summary of Key Innovations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718" name="Google Shape;718;p29"/>
            <p:cNvGrpSpPr/>
            <p:nvPr/>
          </p:nvGrpSpPr>
          <p:grpSpPr>
            <a:xfrm>
              <a:off x="142875" y="809625"/>
              <a:ext cx="3762300" cy="666900"/>
              <a:chOff x="0" y="0"/>
              <a:chExt cx="3762300" cy="666900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0" y="0"/>
                <a:ext cx="28500" cy="666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9"/>
              <p:cNvSpPr txBox="1"/>
              <p:nvPr/>
            </p:nvSpPr>
            <p:spPr>
              <a:xfrm>
                <a:off x="114300" y="0"/>
                <a:ext cx="3648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Theoretical Contribution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Identifies 27 stable, attack-resistant features using our Adversarial Stability SHAP method. 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>
              <a:off x="142875" y="1571625"/>
              <a:ext cx="3762300" cy="762000"/>
              <a:chOff x="0" y="0"/>
              <a:chExt cx="3762300" cy="762000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0" y="0"/>
                <a:ext cx="285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9"/>
              <p:cNvSpPr txBox="1"/>
              <p:nvPr/>
            </p:nvSpPr>
            <p:spPr>
              <a:xfrm>
                <a:off x="114300" y="0"/>
                <a:ext cx="3648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Architectural Contribution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Introduces two-phase dynamic training to stop attack staleness without sacrificing normal traffic accuracy. 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4" name="Google Shape;724;p29"/>
            <p:cNvGrpSpPr/>
            <p:nvPr/>
          </p:nvGrpSpPr>
          <p:grpSpPr>
            <a:xfrm>
              <a:off x="142875" y="2428875"/>
              <a:ext cx="3762300" cy="714300"/>
              <a:chOff x="0" y="0"/>
              <a:chExt cx="3762300" cy="714300"/>
            </a:xfrm>
          </p:grpSpPr>
          <p:sp>
            <p:nvSpPr>
              <p:cNvPr id="725" name="Google Shape;725;p29"/>
              <p:cNvSpPr/>
              <p:nvPr/>
            </p:nvSpPr>
            <p:spPr>
              <a:xfrm>
                <a:off x="0" y="0"/>
                <a:ext cx="285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9"/>
              <p:cNvSpPr txBox="1"/>
              <p:nvPr/>
            </p:nvSpPr>
            <p:spPr>
              <a:xfrm>
                <a:off x="114300" y="0"/>
                <a:ext cx="3648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Methodological Hygiene</a:t>
                </a:r>
                <a:endParaRPr b="1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Permanently removes socket shortcut leakage and enforces strict zero-leakage 72/8/20 partitioning on 6.32M valid flows.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7" name="Google Shape;727;p29"/>
          <p:cNvGrpSpPr/>
          <p:nvPr/>
        </p:nvGrpSpPr>
        <p:grpSpPr>
          <a:xfrm>
            <a:off x="4714875" y="1095375"/>
            <a:ext cx="4048200" cy="3381300"/>
            <a:chOff x="0" y="0"/>
            <a:chExt cx="4048200" cy="3381300"/>
          </a:xfrm>
        </p:grpSpPr>
        <p:sp>
          <p:nvSpPr>
            <p:cNvPr id="728" name="Google Shape;728;p29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142875" y="142875"/>
              <a:ext cx="1095300" cy="209700"/>
            </a:xfrm>
            <a:prstGeom prst="roundRect">
              <a:avLst>
                <a:gd fmla="val 1818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 txBox="1"/>
            <p:nvPr/>
          </p:nvSpPr>
          <p:spPr>
            <a:xfrm>
              <a:off x="142875" y="142875"/>
              <a:ext cx="109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SEPT 11 – OCT 11</a:t>
              </a:r>
              <a:endParaRPr b="1" sz="75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31" name="Google Shape;731;p29"/>
            <p:cNvSpPr txBox="1"/>
            <p:nvPr/>
          </p:nvSpPr>
          <p:spPr>
            <a:xfrm>
              <a:off x="142875" y="428625"/>
              <a:ext cx="376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Immediate Next Milestones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732" name="Google Shape;732;p29"/>
            <p:cNvGrpSpPr/>
            <p:nvPr/>
          </p:nvGrpSpPr>
          <p:grpSpPr>
            <a:xfrm>
              <a:off x="142875" y="702945"/>
              <a:ext cx="3762450" cy="619200"/>
              <a:chOff x="0" y="-106680"/>
              <a:chExt cx="3762450" cy="619200"/>
            </a:xfrm>
          </p:grpSpPr>
          <p:sp>
            <p:nvSpPr>
              <p:cNvPr id="733" name="Google Shape;733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35" name="Google Shape;735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3-seed experimental runs across all 9 adversarial threat models.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36" name="Google Shape;736;p29"/>
            <p:cNvGrpSpPr/>
            <p:nvPr/>
          </p:nvGrpSpPr>
          <p:grpSpPr>
            <a:xfrm>
              <a:off x="142875" y="1464945"/>
              <a:ext cx="3762450" cy="619200"/>
              <a:chOff x="0" y="-106680"/>
              <a:chExt cx="3762450" cy="619200"/>
            </a:xfrm>
          </p:grpSpPr>
          <p:sp>
            <p:nvSpPr>
              <p:cNvPr id="737" name="Google Shape;737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39" name="Google Shape;739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Conduct ablation studies: (1) Full 69D vs. 40D MI vs. 27D Stable; (2) Static Triad vs. Dynamic PGD.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40" name="Google Shape;740;p29"/>
            <p:cNvGrpSpPr/>
            <p:nvPr/>
          </p:nvGrpSpPr>
          <p:grpSpPr>
            <a:xfrm>
              <a:off x="142875" y="2226945"/>
              <a:ext cx="3762450" cy="619200"/>
              <a:chOff x="0" y="-106680"/>
              <a:chExt cx="3762450" cy="619200"/>
            </a:xfrm>
          </p:grpSpPr>
          <p:sp>
            <p:nvSpPr>
              <p:cNvPr id="741" name="Google Shape;741;p29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9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43" name="Google Shape;743;p29"/>
              <p:cNvSpPr txBox="1"/>
              <p:nvPr/>
            </p:nvSpPr>
            <p:spPr>
              <a:xfrm>
                <a:off x="400050" y="-106680"/>
                <a:ext cx="3362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Complete and submit the final B.Sc. thesis manuscript for October defense.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