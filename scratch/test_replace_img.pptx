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Roboto Mono Medium"/>
      <p:regular r:id="rId21"/>
      <p:bold r:id="rId22"/>
      <p:italic r:id="rId23"/>
      <p:boldItalic r:id="rId24"/>
    </p:embeddedFont>
    <p:embeddedFont>
      <p:font typeface="Inter SemiBold"/>
      <p:regular r:id="rId25"/>
      <p:bold r:id="rId26"/>
      <p:italic r:id="rId27"/>
      <p:boldItalic r:id="rId28"/>
    </p:embeddedFont>
    <p:embeddedFont>
      <p:font typeface="Inter"/>
      <p:bold r:id="rId29"/>
      <p:boldItalic r:id="rId30"/>
    </p:embeddedFont>
    <p:embeddedFont>
      <p:font typeface="Inter ExtraBold"/>
      <p:bold r:id="rId31"/>
      <p:boldItalic r:id="rId32"/>
    </p:embeddedFont>
    <p:embeddedFont>
      <p:font typeface="Roboto Mono"/>
      <p:bold r:id="rId33"/>
      <p:boldItalic r:id="rId34"/>
    </p:embeddedFont>
    <p:embeddedFont>
      <p:font typeface="Inter Medium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font" Target="fonts/RobotoMonoMedium-regular.fntdata"/><Relationship Id="rId22" Type="http://schemas.openxmlformats.org/officeDocument/2006/relationships/font" Target="fonts/RobotoMonoMedium-bold.fntdata"/><Relationship Id="rId23" Type="http://schemas.openxmlformats.org/officeDocument/2006/relationships/font" Target="fonts/RobotoMonoMedium-italic.fntdata"/><Relationship Id="rId24" Type="http://schemas.openxmlformats.org/officeDocument/2006/relationships/font" Target="fonts/RobotoMonoMedium-boldItalic.fntdata"/><Relationship Id="rId25" Type="http://schemas.openxmlformats.org/officeDocument/2006/relationships/font" Target="fonts/InterSemiBold-regular.fntdata"/><Relationship Id="rId26" Type="http://schemas.openxmlformats.org/officeDocument/2006/relationships/font" Target="fonts/InterSemiBold-bold.fntdata"/><Relationship Id="rId27" Type="http://schemas.openxmlformats.org/officeDocument/2006/relationships/font" Target="fonts/InterSemiBold-italic.fntdata"/><Relationship Id="rId28" Type="http://schemas.openxmlformats.org/officeDocument/2006/relationships/font" Target="fonts/InterSemiBold-boldItalic.fntdata"/><Relationship Id="rId29" Type="http://schemas.openxmlformats.org/officeDocument/2006/relationships/font" Target="fonts/Inter-bold.fntdata"/><Relationship Id="rId30" Type="http://schemas.openxmlformats.org/officeDocument/2006/relationships/font" Target="fonts/Inter-boldItalic.fntdata"/><Relationship Id="rId31" Type="http://schemas.openxmlformats.org/officeDocument/2006/relationships/font" Target="fonts/InterExtraBold-bold.fntdata"/><Relationship Id="rId32" Type="http://schemas.openxmlformats.org/officeDocument/2006/relationships/font" Target="fonts/InterExtraBold-boldItalic.fntdata"/><Relationship Id="rId33" Type="http://schemas.openxmlformats.org/officeDocument/2006/relationships/font" Target="fonts/RobotoMono-bold.fntdata"/><Relationship Id="rId34" Type="http://schemas.openxmlformats.org/officeDocument/2006/relationships/font" Target="fonts/RobotoMono-boldItalic.fntdata"/><Relationship Id="rId35" Type="http://schemas.openxmlformats.org/officeDocument/2006/relationships/font" Target="fonts/InterMedium-regular.fntdata"/><Relationship Id="rId36" Type="http://schemas.openxmlformats.org/officeDocument/2006/relationships/font" Target="fonts/InterMedium-bold.fntdata"/><Relationship Id="rId37" Type="http://schemas.openxmlformats.org/officeDocument/2006/relationships/font" Target="fonts/InterMedium-italic.fntdata"/><Relationship Id="rId38" Type="http://schemas.openxmlformats.org/officeDocument/2006/relationships/font" Target="fonts/InterMedium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409bf74f11f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409bf74f11f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fa3b4e7faa_26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fa3b4e7faa_2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409bf74f11f_0_25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409bf74f11f_0_25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fa3b4e7faa_2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fa3b4e7faa_2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fa3b73068e_22_10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fa3b73068e_22_10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409bf74f11f_0_10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409bf74f11f_0_10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409bf74f11f_0_35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409bf74f11f_0_35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fa3b73068e_22_18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3fa3b73068e_22_18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fa3b73068e_22_2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3fa3b73068e_22_2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3fa3b73068e_22_28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5" name="Google Shape;525;g3fa3b73068e_22_28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g3fa3b73068e_22_4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2" name="Google Shape;552;g3fa3b73068e_22_4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3fa3b73068e_22_36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0" name="Google Shape;590;g3fa3b73068e_22_36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3fa3b4e7faa_1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2" name="Google Shape;672;g3fa3b4e7faa_1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g3fa3b73068e_22_4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4" name="Google Shape;704;g3fa3b73068e_22_4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a3b4e7faa_13_0)">
  <p:cSld name="Generated (g3fa3b4e7faa_13_0)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409bcc69b39_9_0)">
  <p:cSld name="Generated (g409bcc69b39_9_0)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7.png"/><Relationship Id="rId6" Type="http://schemas.openxmlformats.org/officeDocument/2006/relationships/image" Target="../media/image13.png"/><Relationship Id="rId7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21.png"/><Relationship Id="rId5" Type="http://schemas.openxmlformats.org/officeDocument/2006/relationships/image" Target="../media/image15.png"/><Relationship Id="rId6" Type="http://schemas.openxmlformats.org/officeDocument/2006/relationships/image" Target="../media/image3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27.png"/><Relationship Id="rId5" Type="http://schemas.openxmlformats.org/officeDocument/2006/relationships/image" Target="../media/image4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4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image" Target="../media/image30.png"/><Relationship Id="rId6" Type="http://schemas.openxmlformats.org/officeDocument/2006/relationships/image" Target="../media/image24.png"/><Relationship Id="rId7" Type="http://schemas.openxmlformats.org/officeDocument/2006/relationships/image" Target="../media/image39.png"/><Relationship Id="rId8" Type="http://schemas.openxmlformats.org/officeDocument/2006/relationships/image" Target="../media/image32.png"/><Relationship Id="rId9" Type="http://schemas.openxmlformats.org/officeDocument/2006/relationships/image" Target="../media/image42.png"/><Relationship Id="rId10" Type="http://schemas.openxmlformats.org/officeDocument/2006/relationships/image" Target="../media/image35.png"/><Relationship Id="rId11" Type="http://schemas.openxmlformats.org/officeDocument/2006/relationships/image" Target="../media/image3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5"/>
          <p:cNvPicPr preferRelativeResize="0"/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>
            <a:off x="0" y="19936"/>
            <a:ext cx="9144002" cy="5103629"/>
          </a:xfrm>
          <a:prstGeom prst="rect">
            <a:avLst/>
          </a:prstGeom>
          <a:noFill/>
          <a:ln>
            <a:noFill/>
          </a:ln>
          <a:effectLst>
            <a:reflection blurRad="0" dir="5400000" dist="38100" endA="0" endPos="30000" fadeDir="5400012" kx="0" rotWithShape="0" algn="bl" stA="9000" stPos="0" sy="-100000" ky="0"/>
          </a:effectLst>
        </p:spPr>
      </p:pic>
      <p:grpSp>
        <p:nvGrpSpPr>
          <p:cNvPr id="57" name="Google Shape;57;p15"/>
          <p:cNvGrpSpPr/>
          <p:nvPr/>
        </p:nvGrpSpPr>
        <p:grpSpPr>
          <a:xfrm>
            <a:off x="762000" y="600075"/>
            <a:ext cx="380925" cy="190500"/>
            <a:chOff x="0" y="0"/>
            <a:chExt cx="380925" cy="190500"/>
          </a:xfrm>
        </p:grpSpPr>
        <p:sp>
          <p:nvSpPr>
            <p:cNvPr id="58" name="Google Shape;58;p15"/>
            <p:cNvSpPr/>
            <p:nvPr/>
          </p:nvSpPr>
          <p:spPr>
            <a:xfrm>
              <a:off x="0" y="0"/>
              <a:ext cx="285900" cy="190500"/>
            </a:xfrm>
            <a:custGeom>
              <a:rect b="b" l="l" r="r" t="t"/>
              <a:pathLst>
                <a:path extrusionOk="0" h="120000" w="120000">
                  <a:moveTo>
                    <a:pt x="40000" y="0"/>
                  </a:moveTo>
                  <a:lnTo>
                    <a:pt x="120000" y="0"/>
                  </a:lnTo>
                  <a:lnTo>
                    <a:pt x="8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6B6D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15"/>
            <p:cNvSpPr/>
            <p:nvPr/>
          </p:nvSpPr>
          <p:spPr>
            <a:xfrm>
              <a:off x="238125" y="0"/>
              <a:ext cx="142800" cy="190500"/>
            </a:xfrm>
            <a:custGeom>
              <a:rect b="b" l="l" r="r" t="t"/>
              <a:pathLst>
                <a:path extrusionOk="0" h="120000" w="120000">
                  <a:moveTo>
                    <a:pt x="80000" y="0"/>
                  </a:moveTo>
                  <a:lnTo>
                    <a:pt x="120000" y="0"/>
                  </a:lnTo>
                  <a:lnTo>
                    <a:pt x="4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15"/>
          <p:cNvSpPr txBox="1"/>
          <p:nvPr/>
        </p:nvSpPr>
        <p:spPr>
          <a:xfrm>
            <a:off x="762000" y="1000200"/>
            <a:ext cx="3905400" cy="3238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200">
                <a:solidFill>
                  <a:srgbClr val="0A192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Adversarial Robustness in Network Intrusion Detection Systems</a:t>
            </a:r>
            <a:endParaRPr b="0" sz="3200">
              <a:solidFill>
                <a:srgbClr val="0A192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0" lang="en" sz="1350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via Attribution-Guided Feature Selection and Dynamic Multi-Stage Adversarial Training</a:t>
            </a:r>
            <a:endParaRPr b="0" sz="1350">
              <a:solidFill>
                <a:srgbClr val="2563EB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61" name="Google Shape;61;p15"/>
          <p:cNvSpPr/>
          <p:nvPr/>
        </p:nvSpPr>
        <p:spPr>
          <a:xfrm>
            <a:off x="5143500" y="619125"/>
            <a:ext cx="3238500" cy="3905400"/>
          </a:xfrm>
          <a:prstGeom prst="roundRect">
            <a:avLst>
              <a:gd fmla="val 3529" name="adj"/>
            </a:avLst>
          </a:prstGeom>
          <a:solidFill>
            <a:srgbClr val="FFFFFF"/>
          </a:solidFill>
          <a:ln cap="flat" cmpd="sng" w="143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5"/>
          <p:cNvSpPr/>
          <p:nvPr/>
        </p:nvSpPr>
        <p:spPr>
          <a:xfrm>
            <a:off x="5143500" y="619125"/>
            <a:ext cx="3238500" cy="152400"/>
          </a:xfrm>
          <a:custGeom>
            <a:rect b="b" l="l" r="r" t="t"/>
            <a:pathLst>
              <a:path extrusionOk="0" h="120000" w="120000">
                <a:moveTo>
                  <a:pt x="4235" y="0"/>
                </a:moveTo>
                <a:lnTo>
                  <a:pt x="115765" y="0"/>
                </a:lnTo>
                <a:cubicBezTo>
                  <a:pt x="118094" y="0"/>
                  <a:pt x="120000" y="40500"/>
                  <a:pt x="120000" y="90000"/>
                </a:cubicBezTo>
                <a:lnTo>
                  <a:pt x="120000" y="120000"/>
                </a:lnTo>
                <a:lnTo>
                  <a:pt x="0" y="120000"/>
                </a:lnTo>
                <a:lnTo>
                  <a:pt x="0" y="90000"/>
                </a:lnTo>
                <a:cubicBezTo>
                  <a:pt x="0" y="40500"/>
                  <a:pt x="1906" y="0"/>
                  <a:pt x="4235" y="0"/>
                </a:cubicBezTo>
                <a:close/>
              </a:path>
            </a:pathLst>
          </a:custGeom>
          <a:solidFill>
            <a:srgbClr val="2563E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5"/>
          <p:cNvSpPr txBox="1"/>
          <p:nvPr/>
        </p:nvSpPr>
        <p:spPr>
          <a:xfrm>
            <a:off x="5381625" y="952500"/>
            <a:ext cx="2762400" cy="333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CANDIDATES</a:t>
            </a:r>
            <a:endParaRPr b="1" sz="1100">
              <a:solidFill>
                <a:srgbClr val="2563E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rPr>
              <a:t>Sadman Hossain Sajid</a:t>
            </a:r>
            <a:endParaRPr b="1" sz="1300">
              <a:solidFill>
                <a:srgbClr val="0A192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lang="en" sz="950">
                <a:solidFill>
                  <a:srgbClr val="64748B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ID: 2023200000062</a:t>
            </a:r>
            <a:endParaRPr b="0" sz="950">
              <a:solidFill>
                <a:srgbClr val="64748B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rPr>
              <a:t>Redoan Islam</a:t>
            </a:r>
            <a:endParaRPr b="1" sz="1300">
              <a:solidFill>
                <a:srgbClr val="0A192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lang="en" sz="950">
                <a:solidFill>
                  <a:srgbClr val="64748B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ID: 2023200000689</a:t>
            </a:r>
            <a:endParaRPr b="0" sz="950">
              <a:solidFill>
                <a:srgbClr val="64748B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rgbClr val="64748B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SUPERVISOR</a:t>
            </a:r>
            <a:endParaRPr b="1" sz="1100">
              <a:solidFill>
                <a:srgbClr val="2563E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rPr>
              <a:t>Mahjabin Sultana</a:t>
            </a:r>
            <a:endParaRPr b="1" sz="1350">
              <a:solidFill>
                <a:srgbClr val="0A192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lang="en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Lecturer, Department of CSE</a:t>
            </a:r>
            <a:endParaRPr b="0" sz="10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DATE</a:t>
            </a:r>
            <a:endParaRPr sz="10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64748B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September 10, 2026</a:t>
            </a:r>
            <a:endParaRPr b="0" sz="1000">
              <a:solidFill>
                <a:srgbClr val="64748B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6"/>
          <p:cNvPicPr preferRelativeResize="0"/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0" y="19936"/>
            <a:ext cx="9144002" cy="510362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9" name="Google Shape;69;p16"/>
          <p:cNvGrpSpPr/>
          <p:nvPr/>
        </p:nvGrpSpPr>
        <p:grpSpPr>
          <a:xfrm>
            <a:off x="285750" y="381000"/>
            <a:ext cx="8477175" cy="857400"/>
            <a:chOff x="-95250" y="0"/>
            <a:chExt cx="8477175" cy="857400"/>
          </a:xfrm>
        </p:grpSpPr>
        <p:grpSp>
          <p:nvGrpSpPr>
            <p:cNvPr id="70" name="Google Shape;70;p16"/>
            <p:cNvGrpSpPr/>
            <p:nvPr/>
          </p:nvGrpSpPr>
          <p:grpSpPr>
            <a:xfrm>
              <a:off x="-95250" y="57150"/>
              <a:ext cx="380925" cy="190500"/>
              <a:chOff x="-95250" y="0"/>
              <a:chExt cx="380925" cy="190500"/>
            </a:xfrm>
          </p:grpSpPr>
          <p:sp>
            <p:nvSpPr>
              <p:cNvPr id="71" name="Google Shape;71;p16"/>
              <p:cNvSpPr/>
              <p:nvPr/>
            </p:nvSpPr>
            <p:spPr>
              <a:xfrm>
                <a:off x="-95250" y="0"/>
                <a:ext cx="285900" cy="190500"/>
              </a:xfrm>
              <a:custGeom>
                <a:rect b="b" l="l" r="r" t="t"/>
                <a:pathLst>
                  <a:path extrusionOk="0" h="120000" w="120000">
                    <a:moveTo>
                      <a:pt x="40000" y="0"/>
                    </a:moveTo>
                    <a:lnTo>
                      <a:pt x="120000" y="0"/>
                    </a:lnTo>
                    <a:lnTo>
                      <a:pt x="8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06B6D4">
                  <a:alpha val="8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" name="Google Shape;72;p16"/>
              <p:cNvSpPr/>
              <p:nvPr/>
            </p:nvSpPr>
            <p:spPr>
              <a:xfrm>
                <a:off x="142875" y="0"/>
                <a:ext cx="142800" cy="190500"/>
              </a:xfrm>
              <a:custGeom>
                <a:rect b="b" l="l" r="r" t="t"/>
                <a:pathLst>
                  <a:path extrusionOk="0" h="120000" w="120000">
                    <a:moveTo>
                      <a:pt x="80000" y="0"/>
                    </a:moveTo>
                    <a:lnTo>
                      <a:pt x="120000" y="0"/>
                    </a:lnTo>
                    <a:lnTo>
                      <a:pt x="4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73" name="Google Shape;73;p16"/>
            <p:cNvSpPr txBox="1"/>
            <p:nvPr/>
          </p:nvSpPr>
          <p:spPr>
            <a:xfrm>
              <a:off x="428625" y="0"/>
              <a:ext cx="79533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400">
                  <a:solidFill>
                    <a:srgbClr val="0A192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Presentation Outline</a:t>
              </a:r>
              <a:endParaRPr b="0" sz="2400">
                <a:solidFill>
                  <a:srgbClr val="0A192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Overview of the research structure and milestones.</a:t>
              </a:r>
              <a:endParaRPr b="0" sz="14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74" name="Google Shape;74;p16"/>
          <p:cNvGrpSpPr/>
          <p:nvPr/>
        </p:nvGrpSpPr>
        <p:grpSpPr>
          <a:xfrm>
            <a:off x="476250" y="1333500"/>
            <a:ext cx="8191650" cy="3105300"/>
            <a:chOff x="476250" y="1333500"/>
            <a:chExt cx="8191650" cy="3105300"/>
          </a:xfrm>
        </p:grpSpPr>
        <p:grpSp>
          <p:nvGrpSpPr>
            <p:cNvPr id="75" name="Google Shape;75;p16"/>
            <p:cNvGrpSpPr/>
            <p:nvPr/>
          </p:nvGrpSpPr>
          <p:grpSpPr>
            <a:xfrm>
              <a:off x="476250" y="1333500"/>
              <a:ext cx="3905400" cy="514500"/>
              <a:chOff x="0" y="0"/>
              <a:chExt cx="3905400" cy="514500"/>
            </a:xfrm>
          </p:grpSpPr>
          <p:sp>
            <p:nvSpPr>
              <p:cNvPr id="76" name="Google Shape;76;p16"/>
              <p:cNvSpPr/>
              <p:nvPr/>
            </p:nvSpPr>
            <p:spPr>
              <a:xfrm>
                <a:off x="0" y="0"/>
                <a:ext cx="3905400" cy="514500"/>
              </a:xfrm>
              <a:prstGeom prst="roundRect">
                <a:avLst>
                  <a:gd fmla="val 14814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" name="Google Shape;77;p16"/>
              <p:cNvSpPr/>
              <p:nvPr/>
            </p:nvSpPr>
            <p:spPr>
              <a:xfrm>
                <a:off x="0" y="0"/>
                <a:ext cx="47700" cy="514500"/>
              </a:xfrm>
              <a:prstGeom prst="roundRect">
                <a:avLst>
                  <a:gd fmla="val 50000" name="adj"/>
                </a:avLst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16"/>
              <p:cNvSpPr/>
              <p:nvPr/>
            </p:nvSpPr>
            <p:spPr>
              <a:xfrm>
                <a:off x="152400" y="114300"/>
                <a:ext cx="342900" cy="285900"/>
              </a:xfrm>
              <a:prstGeom prst="roundRect">
                <a:avLst>
                  <a:gd fmla="val 20000" name="adj"/>
                </a:avLst>
              </a:prstGeom>
              <a:solidFill>
                <a:srgbClr val="EFF6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16"/>
              <p:cNvSpPr txBox="1"/>
              <p:nvPr/>
            </p:nvSpPr>
            <p:spPr>
              <a:xfrm>
                <a:off x="152400" y="114300"/>
                <a:ext cx="342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2563EB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01</a:t>
                </a:r>
                <a:endParaRPr b="1" sz="1100">
                  <a:solidFill>
                    <a:srgbClr val="2563EB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  <p:sp>
            <p:nvSpPr>
              <p:cNvPr id="80" name="Google Shape;80;p16"/>
              <p:cNvSpPr txBox="1"/>
              <p:nvPr/>
            </p:nvSpPr>
            <p:spPr>
              <a:xfrm>
                <a:off x="647700" y="114300"/>
                <a:ext cx="31053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0A192F"/>
                    </a:solidFill>
                    <a:latin typeface="Inter"/>
                    <a:ea typeface="Inter"/>
                    <a:cs typeface="Inter"/>
                    <a:sym typeface="Inter"/>
                  </a:rPr>
                  <a:t>Problem Statement</a:t>
                </a:r>
                <a:endParaRPr b="1" sz="130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81" name="Google Shape;81;p16"/>
            <p:cNvGrpSpPr/>
            <p:nvPr/>
          </p:nvGrpSpPr>
          <p:grpSpPr>
            <a:xfrm>
              <a:off x="476250" y="1981200"/>
              <a:ext cx="3905400" cy="514500"/>
              <a:chOff x="0" y="0"/>
              <a:chExt cx="3905400" cy="514500"/>
            </a:xfrm>
          </p:grpSpPr>
          <p:sp>
            <p:nvSpPr>
              <p:cNvPr id="82" name="Google Shape;82;p16"/>
              <p:cNvSpPr/>
              <p:nvPr/>
            </p:nvSpPr>
            <p:spPr>
              <a:xfrm>
                <a:off x="0" y="0"/>
                <a:ext cx="3905400" cy="514500"/>
              </a:xfrm>
              <a:prstGeom prst="roundRect">
                <a:avLst>
                  <a:gd fmla="val 14814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" name="Google Shape;83;p16"/>
              <p:cNvSpPr/>
              <p:nvPr/>
            </p:nvSpPr>
            <p:spPr>
              <a:xfrm>
                <a:off x="0" y="0"/>
                <a:ext cx="47700" cy="514500"/>
              </a:xfrm>
              <a:prstGeom prst="roundRect">
                <a:avLst>
                  <a:gd fmla="val 50000" name="adj"/>
                </a:avLst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" name="Google Shape;84;p16"/>
              <p:cNvSpPr/>
              <p:nvPr/>
            </p:nvSpPr>
            <p:spPr>
              <a:xfrm>
                <a:off x="152400" y="114300"/>
                <a:ext cx="342900" cy="285900"/>
              </a:xfrm>
              <a:prstGeom prst="roundRect">
                <a:avLst>
                  <a:gd fmla="val 20000" name="adj"/>
                </a:avLst>
              </a:prstGeom>
              <a:solidFill>
                <a:srgbClr val="EFF6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" name="Google Shape;85;p16"/>
              <p:cNvSpPr txBox="1"/>
              <p:nvPr/>
            </p:nvSpPr>
            <p:spPr>
              <a:xfrm>
                <a:off x="152400" y="114300"/>
                <a:ext cx="342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2563EB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02</a:t>
                </a:r>
                <a:endParaRPr b="1" sz="1100">
                  <a:solidFill>
                    <a:srgbClr val="2563EB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  <p:sp>
            <p:nvSpPr>
              <p:cNvPr id="86" name="Google Shape;86;p16"/>
              <p:cNvSpPr txBox="1"/>
              <p:nvPr/>
            </p:nvSpPr>
            <p:spPr>
              <a:xfrm>
                <a:off x="647700" y="114300"/>
                <a:ext cx="31053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0A192F"/>
                    </a:solidFill>
                    <a:latin typeface="Inter"/>
                    <a:ea typeface="Inter"/>
                    <a:cs typeface="Inter"/>
                    <a:sym typeface="Inter"/>
                  </a:rPr>
                  <a:t>Motivation &amp; Objectives</a:t>
                </a:r>
                <a:endParaRPr b="1" sz="130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87" name="Google Shape;87;p16"/>
            <p:cNvGrpSpPr/>
            <p:nvPr/>
          </p:nvGrpSpPr>
          <p:grpSpPr>
            <a:xfrm>
              <a:off x="476250" y="2628900"/>
              <a:ext cx="3905400" cy="514500"/>
              <a:chOff x="0" y="0"/>
              <a:chExt cx="3905400" cy="514500"/>
            </a:xfrm>
          </p:grpSpPr>
          <p:sp>
            <p:nvSpPr>
              <p:cNvPr id="88" name="Google Shape;88;p16"/>
              <p:cNvSpPr/>
              <p:nvPr/>
            </p:nvSpPr>
            <p:spPr>
              <a:xfrm>
                <a:off x="0" y="0"/>
                <a:ext cx="3905400" cy="514500"/>
              </a:xfrm>
              <a:prstGeom prst="roundRect">
                <a:avLst>
                  <a:gd fmla="val 14814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" name="Google Shape;89;p16"/>
              <p:cNvSpPr/>
              <p:nvPr/>
            </p:nvSpPr>
            <p:spPr>
              <a:xfrm>
                <a:off x="0" y="0"/>
                <a:ext cx="47700" cy="514500"/>
              </a:xfrm>
              <a:prstGeom prst="roundRect">
                <a:avLst>
                  <a:gd fmla="val 50000" name="adj"/>
                </a:avLst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" name="Google Shape;90;p16"/>
              <p:cNvSpPr/>
              <p:nvPr/>
            </p:nvSpPr>
            <p:spPr>
              <a:xfrm>
                <a:off x="152400" y="114300"/>
                <a:ext cx="342900" cy="285900"/>
              </a:xfrm>
              <a:prstGeom prst="roundRect">
                <a:avLst>
                  <a:gd fmla="val 20000" name="adj"/>
                </a:avLst>
              </a:prstGeom>
              <a:solidFill>
                <a:srgbClr val="EFF6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" name="Google Shape;91;p16"/>
              <p:cNvSpPr txBox="1"/>
              <p:nvPr/>
            </p:nvSpPr>
            <p:spPr>
              <a:xfrm>
                <a:off x="152400" y="114300"/>
                <a:ext cx="342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2563EB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03</a:t>
                </a:r>
                <a:endParaRPr b="1" sz="1100">
                  <a:solidFill>
                    <a:srgbClr val="2563EB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  <p:sp>
            <p:nvSpPr>
              <p:cNvPr id="92" name="Google Shape;92;p16"/>
              <p:cNvSpPr txBox="1"/>
              <p:nvPr/>
            </p:nvSpPr>
            <p:spPr>
              <a:xfrm>
                <a:off x="647700" y="114300"/>
                <a:ext cx="31053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0A192F"/>
                    </a:solidFill>
                    <a:latin typeface="Inter"/>
                    <a:ea typeface="Inter"/>
                    <a:cs typeface="Inter"/>
                    <a:sym typeface="Inter"/>
                  </a:rPr>
                  <a:t>Literature Review</a:t>
                </a:r>
                <a:endParaRPr b="1" sz="130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93" name="Google Shape;93;p16"/>
            <p:cNvGrpSpPr/>
            <p:nvPr/>
          </p:nvGrpSpPr>
          <p:grpSpPr>
            <a:xfrm>
              <a:off x="476250" y="3276600"/>
              <a:ext cx="3905400" cy="514500"/>
              <a:chOff x="0" y="0"/>
              <a:chExt cx="3905400" cy="514500"/>
            </a:xfrm>
          </p:grpSpPr>
          <p:sp>
            <p:nvSpPr>
              <p:cNvPr id="94" name="Google Shape;94;p16"/>
              <p:cNvSpPr/>
              <p:nvPr/>
            </p:nvSpPr>
            <p:spPr>
              <a:xfrm>
                <a:off x="0" y="0"/>
                <a:ext cx="3905400" cy="514500"/>
              </a:xfrm>
              <a:prstGeom prst="roundRect">
                <a:avLst>
                  <a:gd fmla="val 14814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" name="Google Shape;95;p16"/>
              <p:cNvSpPr/>
              <p:nvPr/>
            </p:nvSpPr>
            <p:spPr>
              <a:xfrm>
                <a:off x="0" y="0"/>
                <a:ext cx="47700" cy="514500"/>
              </a:xfrm>
              <a:prstGeom prst="roundRect">
                <a:avLst>
                  <a:gd fmla="val 50000" name="adj"/>
                </a:avLst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" name="Google Shape;96;p16"/>
              <p:cNvSpPr/>
              <p:nvPr/>
            </p:nvSpPr>
            <p:spPr>
              <a:xfrm>
                <a:off x="152400" y="114300"/>
                <a:ext cx="342900" cy="285900"/>
              </a:xfrm>
              <a:prstGeom prst="roundRect">
                <a:avLst>
                  <a:gd fmla="val 20000" name="adj"/>
                </a:avLst>
              </a:prstGeom>
              <a:solidFill>
                <a:srgbClr val="EFF6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" name="Google Shape;97;p16"/>
              <p:cNvSpPr txBox="1"/>
              <p:nvPr/>
            </p:nvSpPr>
            <p:spPr>
              <a:xfrm>
                <a:off x="152400" y="114300"/>
                <a:ext cx="342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2563EB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04</a:t>
                </a:r>
                <a:endParaRPr b="1" sz="1100">
                  <a:solidFill>
                    <a:srgbClr val="2563EB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  <p:sp>
            <p:nvSpPr>
              <p:cNvPr id="98" name="Google Shape;98;p16"/>
              <p:cNvSpPr txBox="1"/>
              <p:nvPr/>
            </p:nvSpPr>
            <p:spPr>
              <a:xfrm>
                <a:off x="647700" y="114300"/>
                <a:ext cx="31053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0A192F"/>
                    </a:solidFill>
                    <a:latin typeface="Inter"/>
                    <a:ea typeface="Inter"/>
                    <a:cs typeface="Inter"/>
                    <a:sym typeface="Inter"/>
                  </a:rPr>
                  <a:t>Comparative Analysis</a:t>
                </a:r>
                <a:endParaRPr b="1" sz="130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99" name="Google Shape;99;p16"/>
            <p:cNvGrpSpPr/>
            <p:nvPr/>
          </p:nvGrpSpPr>
          <p:grpSpPr>
            <a:xfrm>
              <a:off x="476250" y="3924300"/>
              <a:ext cx="3905400" cy="514500"/>
              <a:chOff x="0" y="0"/>
              <a:chExt cx="3905400" cy="514500"/>
            </a:xfrm>
          </p:grpSpPr>
          <p:sp>
            <p:nvSpPr>
              <p:cNvPr id="100" name="Google Shape;100;p16"/>
              <p:cNvSpPr/>
              <p:nvPr/>
            </p:nvSpPr>
            <p:spPr>
              <a:xfrm>
                <a:off x="0" y="0"/>
                <a:ext cx="3905400" cy="514500"/>
              </a:xfrm>
              <a:prstGeom prst="roundRect">
                <a:avLst>
                  <a:gd fmla="val 14814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" name="Google Shape;101;p16"/>
              <p:cNvSpPr/>
              <p:nvPr/>
            </p:nvSpPr>
            <p:spPr>
              <a:xfrm>
                <a:off x="0" y="0"/>
                <a:ext cx="47700" cy="514500"/>
              </a:xfrm>
              <a:prstGeom prst="roundRect">
                <a:avLst>
                  <a:gd fmla="val 50000" name="adj"/>
                </a:avLst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" name="Google Shape;102;p16"/>
              <p:cNvSpPr/>
              <p:nvPr/>
            </p:nvSpPr>
            <p:spPr>
              <a:xfrm>
                <a:off x="152400" y="114300"/>
                <a:ext cx="342900" cy="285900"/>
              </a:xfrm>
              <a:prstGeom prst="roundRect">
                <a:avLst>
                  <a:gd fmla="val 20000" name="adj"/>
                </a:avLst>
              </a:prstGeom>
              <a:solidFill>
                <a:srgbClr val="EFF6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" name="Google Shape;103;p16"/>
              <p:cNvSpPr txBox="1"/>
              <p:nvPr/>
            </p:nvSpPr>
            <p:spPr>
              <a:xfrm>
                <a:off x="152400" y="114300"/>
                <a:ext cx="342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2563EB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05</a:t>
                </a:r>
                <a:endParaRPr b="1" sz="1100">
                  <a:solidFill>
                    <a:srgbClr val="2563EB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  <p:sp>
            <p:nvSpPr>
              <p:cNvPr id="104" name="Google Shape;104;p16"/>
              <p:cNvSpPr txBox="1"/>
              <p:nvPr/>
            </p:nvSpPr>
            <p:spPr>
              <a:xfrm>
                <a:off x="647700" y="114300"/>
                <a:ext cx="31053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0A192F"/>
                    </a:solidFill>
                    <a:latin typeface="Inter"/>
                    <a:ea typeface="Inter"/>
                    <a:cs typeface="Inter"/>
                    <a:sym typeface="Inter"/>
                  </a:rPr>
                  <a:t>Proposed Methodology</a:t>
                </a:r>
                <a:endParaRPr b="1" sz="130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05" name="Google Shape;105;p16"/>
            <p:cNvGrpSpPr/>
            <p:nvPr/>
          </p:nvGrpSpPr>
          <p:grpSpPr>
            <a:xfrm>
              <a:off x="4762500" y="1333500"/>
              <a:ext cx="3905400" cy="514500"/>
              <a:chOff x="0" y="0"/>
              <a:chExt cx="3905400" cy="514500"/>
            </a:xfrm>
          </p:grpSpPr>
          <p:sp>
            <p:nvSpPr>
              <p:cNvPr id="106" name="Google Shape;106;p16"/>
              <p:cNvSpPr/>
              <p:nvPr/>
            </p:nvSpPr>
            <p:spPr>
              <a:xfrm>
                <a:off x="0" y="0"/>
                <a:ext cx="3905400" cy="514500"/>
              </a:xfrm>
              <a:prstGeom prst="roundRect">
                <a:avLst>
                  <a:gd fmla="val 14814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" name="Google Shape;107;p16"/>
              <p:cNvSpPr/>
              <p:nvPr/>
            </p:nvSpPr>
            <p:spPr>
              <a:xfrm>
                <a:off x="0" y="0"/>
                <a:ext cx="47700" cy="514500"/>
              </a:xfrm>
              <a:prstGeom prst="roundRect">
                <a:avLst>
                  <a:gd fmla="val 50000" name="adj"/>
                </a:avLst>
              </a:prstGeom>
              <a:solidFill>
                <a:srgbClr val="06B6D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" name="Google Shape;108;p16"/>
              <p:cNvSpPr/>
              <p:nvPr/>
            </p:nvSpPr>
            <p:spPr>
              <a:xfrm>
                <a:off x="152400" y="114300"/>
                <a:ext cx="342900" cy="285900"/>
              </a:xfrm>
              <a:prstGeom prst="roundRect">
                <a:avLst>
                  <a:gd fmla="val 20000" name="adj"/>
                </a:avLst>
              </a:prstGeom>
              <a:solidFill>
                <a:srgbClr val="E0F2F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" name="Google Shape;109;p16"/>
              <p:cNvSpPr txBox="1"/>
              <p:nvPr/>
            </p:nvSpPr>
            <p:spPr>
              <a:xfrm>
                <a:off x="152400" y="114300"/>
                <a:ext cx="342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06B6D4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06</a:t>
                </a:r>
                <a:endParaRPr b="1" sz="1100">
                  <a:solidFill>
                    <a:srgbClr val="06B6D4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  <p:sp>
            <p:nvSpPr>
              <p:cNvPr id="110" name="Google Shape;110;p16"/>
              <p:cNvSpPr txBox="1"/>
              <p:nvPr/>
            </p:nvSpPr>
            <p:spPr>
              <a:xfrm>
                <a:off x="647700" y="114300"/>
                <a:ext cx="31053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0A192F"/>
                    </a:solidFill>
                    <a:latin typeface="Inter"/>
                    <a:ea typeface="Inter"/>
                    <a:cs typeface="Inter"/>
                    <a:sym typeface="Inter"/>
                  </a:rPr>
                  <a:t>Dataset &amp; Environment</a:t>
                </a:r>
                <a:endParaRPr b="1" sz="130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11" name="Google Shape;111;p16"/>
            <p:cNvGrpSpPr/>
            <p:nvPr/>
          </p:nvGrpSpPr>
          <p:grpSpPr>
            <a:xfrm>
              <a:off x="4762500" y="1981200"/>
              <a:ext cx="3905400" cy="514500"/>
              <a:chOff x="0" y="0"/>
              <a:chExt cx="3905400" cy="514500"/>
            </a:xfrm>
          </p:grpSpPr>
          <p:sp>
            <p:nvSpPr>
              <p:cNvPr id="112" name="Google Shape;112;p16"/>
              <p:cNvSpPr/>
              <p:nvPr/>
            </p:nvSpPr>
            <p:spPr>
              <a:xfrm>
                <a:off x="0" y="0"/>
                <a:ext cx="3905400" cy="514500"/>
              </a:xfrm>
              <a:prstGeom prst="roundRect">
                <a:avLst>
                  <a:gd fmla="val 14814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" name="Google Shape;113;p16"/>
              <p:cNvSpPr/>
              <p:nvPr/>
            </p:nvSpPr>
            <p:spPr>
              <a:xfrm>
                <a:off x="0" y="0"/>
                <a:ext cx="47700" cy="514500"/>
              </a:xfrm>
              <a:prstGeom prst="roundRect">
                <a:avLst>
                  <a:gd fmla="val 50000" name="adj"/>
                </a:avLst>
              </a:prstGeom>
              <a:solidFill>
                <a:srgbClr val="06B6D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" name="Google Shape;114;p16"/>
              <p:cNvSpPr/>
              <p:nvPr/>
            </p:nvSpPr>
            <p:spPr>
              <a:xfrm>
                <a:off x="152400" y="114300"/>
                <a:ext cx="342900" cy="285900"/>
              </a:xfrm>
              <a:prstGeom prst="roundRect">
                <a:avLst>
                  <a:gd fmla="val 20000" name="adj"/>
                </a:avLst>
              </a:prstGeom>
              <a:solidFill>
                <a:srgbClr val="E0F2F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" name="Google Shape;115;p16"/>
              <p:cNvSpPr txBox="1"/>
              <p:nvPr/>
            </p:nvSpPr>
            <p:spPr>
              <a:xfrm>
                <a:off x="152400" y="114300"/>
                <a:ext cx="342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06B6D4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07</a:t>
                </a:r>
                <a:endParaRPr b="1" sz="1100">
                  <a:solidFill>
                    <a:srgbClr val="06B6D4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  <p:sp>
            <p:nvSpPr>
              <p:cNvPr id="116" name="Google Shape;116;p16"/>
              <p:cNvSpPr txBox="1"/>
              <p:nvPr/>
            </p:nvSpPr>
            <p:spPr>
              <a:xfrm>
                <a:off x="647700" y="114300"/>
                <a:ext cx="31053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0A192F"/>
                    </a:solidFill>
                    <a:latin typeface="Inter"/>
                    <a:ea typeface="Inter"/>
                    <a:cs typeface="Inter"/>
                    <a:sym typeface="Inter"/>
                  </a:rPr>
                  <a:t>Target Architecture</a:t>
                </a:r>
                <a:endParaRPr b="1" sz="130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17" name="Google Shape;117;p16"/>
            <p:cNvGrpSpPr/>
            <p:nvPr/>
          </p:nvGrpSpPr>
          <p:grpSpPr>
            <a:xfrm>
              <a:off x="4762500" y="2628900"/>
              <a:ext cx="3905400" cy="514500"/>
              <a:chOff x="0" y="0"/>
              <a:chExt cx="3905400" cy="514500"/>
            </a:xfrm>
          </p:grpSpPr>
          <p:sp>
            <p:nvSpPr>
              <p:cNvPr id="118" name="Google Shape;118;p16"/>
              <p:cNvSpPr/>
              <p:nvPr/>
            </p:nvSpPr>
            <p:spPr>
              <a:xfrm>
                <a:off x="0" y="0"/>
                <a:ext cx="3905400" cy="514500"/>
              </a:xfrm>
              <a:prstGeom prst="roundRect">
                <a:avLst>
                  <a:gd fmla="val 14814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" name="Google Shape;119;p16"/>
              <p:cNvSpPr/>
              <p:nvPr/>
            </p:nvSpPr>
            <p:spPr>
              <a:xfrm>
                <a:off x="0" y="0"/>
                <a:ext cx="47700" cy="514500"/>
              </a:xfrm>
              <a:prstGeom prst="roundRect">
                <a:avLst>
                  <a:gd fmla="val 50000" name="adj"/>
                </a:avLst>
              </a:prstGeom>
              <a:solidFill>
                <a:srgbClr val="06B6D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16"/>
              <p:cNvSpPr/>
              <p:nvPr/>
            </p:nvSpPr>
            <p:spPr>
              <a:xfrm>
                <a:off x="152400" y="114300"/>
                <a:ext cx="342900" cy="285900"/>
              </a:xfrm>
              <a:prstGeom prst="roundRect">
                <a:avLst>
                  <a:gd fmla="val 20000" name="adj"/>
                </a:avLst>
              </a:prstGeom>
              <a:solidFill>
                <a:srgbClr val="E0F2F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16"/>
              <p:cNvSpPr txBox="1"/>
              <p:nvPr/>
            </p:nvSpPr>
            <p:spPr>
              <a:xfrm>
                <a:off x="152400" y="114300"/>
                <a:ext cx="342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06B6D4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08</a:t>
                </a:r>
                <a:endParaRPr b="1" sz="1100">
                  <a:solidFill>
                    <a:srgbClr val="06B6D4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  <p:sp>
            <p:nvSpPr>
              <p:cNvPr id="122" name="Google Shape;122;p16"/>
              <p:cNvSpPr txBox="1"/>
              <p:nvPr/>
            </p:nvSpPr>
            <p:spPr>
              <a:xfrm>
                <a:off x="647700" y="114300"/>
                <a:ext cx="31053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0A192F"/>
                    </a:solidFill>
                    <a:latin typeface="Inter"/>
                    <a:ea typeface="Inter"/>
                    <a:cs typeface="Inter"/>
                    <a:sym typeface="Inter"/>
                  </a:rPr>
                  <a:t>Research Timeline</a:t>
                </a:r>
                <a:endParaRPr b="1" sz="130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23" name="Google Shape;123;p16"/>
            <p:cNvGrpSpPr/>
            <p:nvPr/>
          </p:nvGrpSpPr>
          <p:grpSpPr>
            <a:xfrm>
              <a:off x="4762500" y="3276600"/>
              <a:ext cx="3905400" cy="514500"/>
              <a:chOff x="0" y="0"/>
              <a:chExt cx="3905400" cy="514500"/>
            </a:xfrm>
          </p:grpSpPr>
          <p:sp>
            <p:nvSpPr>
              <p:cNvPr id="124" name="Google Shape;124;p16"/>
              <p:cNvSpPr/>
              <p:nvPr/>
            </p:nvSpPr>
            <p:spPr>
              <a:xfrm>
                <a:off x="0" y="0"/>
                <a:ext cx="3905400" cy="514500"/>
              </a:xfrm>
              <a:prstGeom prst="roundRect">
                <a:avLst>
                  <a:gd fmla="val 14814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" name="Google Shape;125;p16"/>
              <p:cNvSpPr/>
              <p:nvPr/>
            </p:nvSpPr>
            <p:spPr>
              <a:xfrm>
                <a:off x="0" y="0"/>
                <a:ext cx="47700" cy="514500"/>
              </a:xfrm>
              <a:prstGeom prst="roundRect">
                <a:avLst>
                  <a:gd fmla="val 50000" name="adj"/>
                </a:avLst>
              </a:prstGeom>
              <a:solidFill>
                <a:srgbClr val="06B6D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" name="Google Shape;126;p16"/>
              <p:cNvSpPr/>
              <p:nvPr/>
            </p:nvSpPr>
            <p:spPr>
              <a:xfrm>
                <a:off x="152400" y="114300"/>
                <a:ext cx="342900" cy="285900"/>
              </a:xfrm>
              <a:prstGeom prst="roundRect">
                <a:avLst>
                  <a:gd fmla="val 20000" name="adj"/>
                </a:avLst>
              </a:prstGeom>
              <a:solidFill>
                <a:srgbClr val="E0F2F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" name="Google Shape;127;p16"/>
              <p:cNvSpPr txBox="1"/>
              <p:nvPr/>
            </p:nvSpPr>
            <p:spPr>
              <a:xfrm>
                <a:off x="152400" y="114300"/>
                <a:ext cx="342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06B6D4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09</a:t>
                </a:r>
                <a:endParaRPr b="1" sz="1100">
                  <a:solidFill>
                    <a:srgbClr val="06B6D4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  <p:sp>
            <p:nvSpPr>
              <p:cNvPr id="128" name="Google Shape;128;p16"/>
              <p:cNvSpPr txBox="1"/>
              <p:nvPr/>
            </p:nvSpPr>
            <p:spPr>
              <a:xfrm>
                <a:off x="647700" y="114300"/>
                <a:ext cx="31053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0A192F"/>
                    </a:solidFill>
                    <a:latin typeface="Inter"/>
                    <a:ea typeface="Inter"/>
                    <a:cs typeface="Inter"/>
                    <a:sym typeface="Inter"/>
                  </a:rPr>
                  <a:t>Expected Results</a:t>
                </a:r>
                <a:endParaRPr b="1" sz="130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29" name="Google Shape;129;p16"/>
            <p:cNvGrpSpPr/>
            <p:nvPr/>
          </p:nvGrpSpPr>
          <p:grpSpPr>
            <a:xfrm>
              <a:off x="4762500" y="3924300"/>
              <a:ext cx="3905400" cy="514500"/>
              <a:chOff x="0" y="0"/>
              <a:chExt cx="3905400" cy="514500"/>
            </a:xfrm>
          </p:grpSpPr>
          <p:sp>
            <p:nvSpPr>
              <p:cNvPr id="130" name="Google Shape;130;p16"/>
              <p:cNvSpPr/>
              <p:nvPr/>
            </p:nvSpPr>
            <p:spPr>
              <a:xfrm>
                <a:off x="0" y="0"/>
                <a:ext cx="3905400" cy="514500"/>
              </a:xfrm>
              <a:prstGeom prst="roundRect">
                <a:avLst>
                  <a:gd fmla="val 14814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" name="Google Shape;131;p16"/>
              <p:cNvSpPr/>
              <p:nvPr/>
            </p:nvSpPr>
            <p:spPr>
              <a:xfrm>
                <a:off x="0" y="0"/>
                <a:ext cx="47700" cy="514500"/>
              </a:xfrm>
              <a:prstGeom prst="roundRect">
                <a:avLst>
                  <a:gd fmla="val 50000" name="adj"/>
                </a:avLst>
              </a:prstGeom>
              <a:solidFill>
                <a:srgbClr val="06B6D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" name="Google Shape;132;p16"/>
              <p:cNvSpPr/>
              <p:nvPr/>
            </p:nvSpPr>
            <p:spPr>
              <a:xfrm>
                <a:off x="152400" y="114300"/>
                <a:ext cx="342900" cy="285900"/>
              </a:xfrm>
              <a:prstGeom prst="roundRect">
                <a:avLst>
                  <a:gd fmla="val 20000" name="adj"/>
                </a:avLst>
              </a:prstGeom>
              <a:solidFill>
                <a:srgbClr val="E0F2F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" name="Google Shape;133;p16"/>
              <p:cNvSpPr txBox="1"/>
              <p:nvPr/>
            </p:nvSpPr>
            <p:spPr>
              <a:xfrm>
                <a:off x="152400" y="114300"/>
                <a:ext cx="342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06B6D4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10</a:t>
                </a:r>
                <a:endParaRPr b="1" sz="1100">
                  <a:solidFill>
                    <a:srgbClr val="06B6D4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  <p:sp>
            <p:nvSpPr>
              <p:cNvPr id="134" name="Google Shape;134;p16"/>
              <p:cNvSpPr txBox="1"/>
              <p:nvPr/>
            </p:nvSpPr>
            <p:spPr>
              <a:xfrm>
                <a:off x="647700" y="114300"/>
                <a:ext cx="31053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0A192F"/>
                    </a:solidFill>
                    <a:latin typeface="Inter"/>
                    <a:ea typeface="Inter"/>
                    <a:cs typeface="Inter"/>
                    <a:sym typeface="Inter"/>
                  </a:rPr>
                  <a:t>Conclusion</a:t>
                </a:r>
                <a:endParaRPr b="1" sz="130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17"/>
          <p:cNvPicPr preferRelativeResize="0"/>
          <p:nvPr/>
        </p:nvPicPr>
        <p:blipFill rotWithShape="1">
          <a:blip r:embed="rId3">
            <a:alphaModFix amt="40000"/>
          </a:blip>
          <a:srcRect b="0" l="387" r="387" t="0"/>
          <a:stretch/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/>
          <p:nvPr/>
        </p:nvSpPr>
        <p:spPr>
          <a:xfrm>
            <a:off x="381000" y="1143000"/>
            <a:ext cx="8382000" cy="96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1" name="Google Shape;141;p17"/>
          <p:cNvGrpSpPr/>
          <p:nvPr/>
        </p:nvGrpSpPr>
        <p:grpSpPr>
          <a:xfrm>
            <a:off x="285750" y="381000"/>
            <a:ext cx="8477175" cy="714300"/>
            <a:chOff x="-95250" y="0"/>
            <a:chExt cx="8477175" cy="714300"/>
          </a:xfrm>
        </p:grpSpPr>
        <p:sp>
          <p:nvSpPr>
            <p:cNvPr id="142" name="Google Shape;142;p17"/>
            <p:cNvSpPr/>
            <p:nvPr/>
          </p:nvSpPr>
          <p:spPr>
            <a:xfrm>
              <a:off x="-95250" y="57150"/>
              <a:ext cx="285900" cy="190500"/>
            </a:xfrm>
            <a:custGeom>
              <a:rect b="b" l="l" r="r" t="t"/>
              <a:pathLst>
                <a:path extrusionOk="0" h="120000" w="120000">
                  <a:moveTo>
                    <a:pt x="40000" y="0"/>
                  </a:moveTo>
                  <a:lnTo>
                    <a:pt x="120000" y="0"/>
                  </a:lnTo>
                  <a:lnTo>
                    <a:pt x="8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6B6D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7"/>
            <p:cNvSpPr/>
            <p:nvPr/>
          </p:nvSpPr>
          <p:spPr>
            <a:xfrm>
              <a:off x="142875" y="57150"/>
              <a:ext cx="142800" cy="190500"/>
            </a:xfrm>
            <a:custGeom>
              <a:rect b="b" l="l" r="r" t="t"/>
              <a:pathLst>
                <a:path extrusionOk="0" h="120000" w="120000">
                  <a:moveTo>
                    <a:pt x="80000" y="0"/>
                  </a:moveTo>
                  <a:lnTo>
                    <a:pt x="120000" y="0"/>
                  </a:lnTo>
                  <a:lnTo>
                    <a:pt x="4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4285F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7"/>
            <p:cNvSpPr txBox="1"/>
            <p:nvPr/>
          </p:nvSpPr>
          <p:spPr>
            <a:xfrm>
              <a:off x="428625" y="0"/>
              <a:ext cx="79533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220">
                  <a:solidFill>
                    <a:srgbClr val="0A192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Problem Statement</a:t>
              </a:r>
              <a:endParaRPr b="0" sz="2220">
                <a:solidFill>
                  <a:srgbClr val="0A192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03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Modern Deep NIDS achieve </a:t>
              </a:r>
              <a:r>
                <a:rPr b="1" lang="en" sz="1035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&gt;95% accuracy</a:t>
              </a:r>
              <a:r>
                <a:rPr lang="en" sz="103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on normal traffic, but collapse to</a:t>
              </a:r>
              <a:r>
                <a:rPr lang="en" sz="1035">
                  <a:solidFill>
                    <a:srgbClr val="DC2626"/>
                  </a:solidFill>
                  <a:latin typeface="Inter"/>
                  <a:ea typeface="Inter"/>
                  <a:cs typeface="Inter"/>
                  <a:sym typeface="Inter"/>
                </a:rPr>
                <a:t> ~30%</a:t>
              </a:r>
              <a:r>
                <a:rPr lang="en" sz="103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under tiny, undetectable packet tweaks.</a:t>
              </a:r>
              <a:endParaRPr b="0" sz="1035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45" name="Google Shape;145;p17"/>
          <p:cNvGrpSpPr/>
          <p:nvPr/>
        </p:nvGrpSpPr>
        <p:grpSpPr>
          <a:xfrm>
            <a:off x="381000" y="1238250"/>
            <a:ext cx="3143400" cy="3524400"/>
            <a:chOff x="0" y="0"/>
            <a:chExt cx="3143400" cy="3524400"/>
          </a:xfrm>
        </p:grpSpPr>
        <p:sp>
          <p:nvSpPr>
            <p:cNvPr id="146" name="Google Shape;146;p17"/>
            <p:cNvSpPr/>
            <p:nvPr/>
          </p:nvSpPr>
          <p:spPr>
            <a:xfrm>
              <a:off x="0" y="0"/>
              <a:ext cx="3143400" cy="3524400"/>
            </a:xfrm>
            <a:prstGeom prst="roundRect">
              <a:avLst>
                <a:gd fmla="val 3636" name="adj"/>
              </a:avLst>
            </a:prstGeom>
            <a:solidFill>
              <a:srgbClr val="FFFFFF"/>
            </a:solidFill>
            <a:ln cap="flat" cmpd="sng" w="14300">
              <a:solidFill>
                <a:srgbClr val="DBEA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17"/>
            <p:cNvSpPr/>
            <p:nvPr/>
          </p:nvSpPr>
          <p:spPr>
            <a:xfrm>
              <a:off x="0" y="0"/>
              <a:ext cx="3143400" cy="573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7"/>
            <p:cNvSpPr txBox="1"/>
            <p:nvPr/>
          </p:nvSpPr>
          <p:spPr>
            <a:xfrm>
              <a:off x="228600" y="228600"/>
              <a:ext cx="26862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64748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System Performance</a:t>
              </a:r>
              <a:endParaRPr b="0" sz="950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800">
                  <a:solidFill>
                    <a:srgbClr val="0A192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Clean vs. Robust</a:t>
              </a:r>
              <a:endParaRPr b="0" sz="1800">
                <a:solidFill>
                  <a:srgbClr val="0A192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grpSp>
          <p:nvGrpSpPr>
            <p:cNvPr id="149" name="Google Shape;149;p17"/>
            <p:cNvGrpSpPr/>
            <p:nvPr/>
          </p:nvGrpSpPr>
          <p:grpSpPr>
            <a:xfrm>
              <a:off x="228600" y="857250"/>
              <a:ext cx="2476650" cy="666900"/>
              <a:chOff x="0" y="0"/>
              <a:chExt cx="2476650" cy="666900"/>
            </a:xfrm>
          </p:grpSpPr>
          <p:sp>
            <p:nvSpPr>
              <p:cNvPr id="150" name="Google Shape;150;p17"/>
              <p:cNvSpPr txBox="1"/>
              <p:nvPr/>
            </p:nvSpPr>
            <p:spPr>
              <a:xfrm>
                <a:off x="0" y="0"/>
                <a:ext cx="857400" cy="6669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2600">
                    <a:solidFill>
                      <a:srgbClr val="334155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95%</a:t>
                </a:r>
                <a:endParaRPr b="1" sz="2600">
                  <a:solidFill>
                    <a:srgbClr val="334155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  <a:p>
                <a:pPr indent="0" lvl="0" marL="0" rtl="0" algn="l">
                  <a:spcBef>
                    <a:spcPts val="225"/>
                  </a:spcBef>
                  <a:spcAft>
                    <a:spcPts val="0"/>
                  </a:spcAft>
                  <a:buNone/>
                </a:pPr>
                <a:r>
                  <a:rPr b="1" lang="en" sz="800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CLEAN ACC</a:t>
                </a:r>
                <a:endParaRPr b="1" sz="8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1" name="Google Shape;151;p17"/>
              <p:cNvSpPr/>
              <p:nvPr/>
            </p:nvSpPr>
            <p:spPr>
              <a:xfrm>
                <a:off x="952500" y="133350"/>
                <a:ext cx="228600" cy="133500"/>
              </a:xfrm>
              <a:custGeom>
                <a:rect b="b" l="l" r="r" t="t"/>
                <a:pathLst>
                  <a:path extrusionOk="0" h="120000" w="120000">
                    <a:moveTo>
                      <a:pt x="0" y="60000"/>
                    </a:moveTo>
                    <a:lnTo>
                      <a:pt x="120000" y="60000"/>
                    </a:lnTo>
                    <a:moveTo>
                      <a:pt x="85000" y="0"/>
                    </a:moveTo>
                    <a:lnTo>
                      <a:pt x="120000" y="60000"/>
                    </a:lnTo>
                    <a:lnTo>
                      <a:pt x="85000" y="12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23825">
                <a:solidFill>
                  <a:srgbClr val="2563E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7"/>
              <p:cNvSpPr txBox="1"/>
              <p:nvPr/>
            </p:nvSpPr>
            <p:spPr>
              <a:xfrm>
                <a:off x="1428750" y="0"/>
                <a:ext cx="1047900" cy="6669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2600">
                    <a:solidFill>
                      <a:srgbClr val="2563EB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~30%</a:t>
                </a:r>
                <a:endParaRPr b="1" sz="2600">
                  <a:solidFill>
                    <a:srgbClr val="2563EB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  <a:p>
                <a:pPr indent="0" lvl="0" marL="0" rtl="0" algn="l">
                  <a:spcBef>
                    <a:spcPts val="225"/>
                  </a:spcBef>
                  <a:spcAft>
                    <a:spcPts val="0"/>
                  </a:spcAft>
                  <a:buNone/>
                </a:pPr>
                <a:r>
                  <a:rPr b="1" lang="en" sz="800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ROBUST ACC</a:t>
                </a:r>
                <a:endParaRPr b="1" sz="8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cxnSp>
          <p:nvCxnSpPr>
            <p:cNvPr id="153" name="Google Shape;153;p17"/>
            <p:cNvCxnSpPr/>
            <p:nvPr/>
          </p:nvCxnSpPr>
          <p:spPr>
            <a:xfrm>
              <a:off x="228600" y="1666875"/>
              <a:ext cx="26862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54" name="Google Shape;154;p17"/>
            <p:cNvSpPr txBox="1"/>
            <p:nvPr/>
          </p:nvSpPr>
          <p:spPr>
            <a:xfrm>
              <a:off x="228600" y="1857375"/>
              <a:ext cx="2686200" cy="1428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E3A8A"/>
                  </a:solidFill>
                  <a:latin typeface="Inter"/>
                  <a:ea typeface="Inter"/>
                  <a:cs typeface="Inter"/>
                  <a:sym typeface="Inter"/>
                </a:rPr>
                <a:t>The Adversarial Evasion Mechanism</a:t>
              </a:r>
              <a:endParaRPr b="1" sz="1100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Attackers slightly alter flow timing and packet sizes.</a:t>
              </a:r>
              <a:endParaRPr b="0"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Consequence:</a:t>
              </a:r>
              <a:r>
                <a:rPr b="0" lang="en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The AI is tricked into classifying dangerous attacks as normal benign traffic.</a:t>
              </a:r>
              <a:endParaRPr b="0"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55" name="Google Shape;155;p17"/>
          <p:cNvGrpSpPr/>
          <p:nvPr/>
        </p:nvGrpSpPr>
        <p:grpSpPr>
          <a:xfrm>
            <a:off x="3714750" y="1238250"/>
            <a:ext cx="5048400" cy="1047900"/>
            <a:chOff x="0" y="0"/>
            <a:chExt cx="5048400" cy="1047900"/>
          </a:xfrm>
        </p:grpSpPr>
        <p:sp>
          <p:nvSpPr>
            <p:cNvPr id="156" name="Google Shape;156;p17"/>
            <p:cNvSpPr/>
            <p:nvPr/>
          </p:nvSpPr>
          <p:spPr>
            <a:xfrm>
              <a:off x="0" y="0"/>
              <a:ext cx="5048400" cy="1047900"/>
            </a:xfrm>
            <a:prstGeom prst="roundRect">
              <a:avLst>
                <a:gd fmla="val 10909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7"/>
            <p:cNvSpPr/>
            <p:nvPr/>
          </p:nvSpPr>
          <p:spPr>
            <a:xfrm>
              <a:off x="0" y="0"/>
              <a:ext cx="57300" cy="10479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58" name="Google Shape;158;p17"/>
            <p:cNvGrpSpPr/>
            <p:nvPr/>
          </p:nvGrpSpPr>
          <p:grpSpPr>
            <a:xfrm>
              <a:off x="209550" y="381000"/>
              <a:ext cx="247800" cy="247800"/>
              <a:chOff x="19050" y="19050"/>
              <a:chExt cx="247800" cy="247800"/>
            </a:xfrm>
          </p:grpSpPr>
          <p:sp>
            <p:nvSpPr>
              <p:cNvPr id="159" name="Google Shape;159;p17"/>
              <p:cNvSpPr/>
              <p:nvPr/>
            </p:nvSpPr>
            <p:spPr>
              <a:xfrm>
                <a:off x="47625" y="47625"/>
                <a:ext cx="190500" cy="190500"/>
              </a:xfrm>
              <a:custGeom>
                <a:rect b="b" l="l" r="r" t="t"/>
                <a:pathLst>
                  <a:path extrusionOk="0" h="120000" w="120000">
                    <a:moveTo>
                      <a:pt x="0" y="60000"/>
                    </a:moveTo>
                    <a:lnTo>
                      <a:pt x="60000" y="0"/>
                    </a:lnTo>
                    <a:lnTo>
                      <a:pt x="120000" y="60000"/>
                    </a:lnTo>
                    <a:lnTo>
                      <a:pt x="60000" y="1200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19050">
                <a:solidFill>
                  <a:srgbClr val="2563E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" name="Google Shape;160;p17"/>
              <p:cNvSpPr/>
              <p:nvPr/>
            </p:nvSpPr>
            <p:spPr>
              <a:xfrm>
                <a:off x="114300" y="19050"/>
                <a:ext cx="57300" cy="57300"/>
              </a:xfrm>
              <a:prstGeom prst="ellipse">
                <a:avLst/>
              </a:prstGeom>
              <a:solidFill>
                <a:srgbClr val="06B6D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7"/>
              <p:cNvSpPr/>
              <p:nvPr/>
            </p:nvSpPr>
            <p:spPr>
              <a:xfrm>
                <a:off x="19050" y="114300"/>
                <a:ext cx="57300" cy="573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7"/>
              <p:cNvSpPr/>
              <p:nvPr/>
            </p:nvSpPr>
            <p:spPr>
              <a:xfrm>
                <a:off x="209550" y="114300"/>
                <a:ext cx="57300" cy="573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" name="Google Shape;163;p17"/>
              <p:cNvSpPr/>
              <p:nvPr/>
            </p:nvSpPr>
            <p:spPr>
              <a:xfrm>
                <a:off x="114300" y="209550"/>
                <a:ext cx="57300" cy="573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164" name="Google Shape;164;p17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0013" y="104775"/>
                <a:ext cx="85800" cy="762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65" name="Google Shape;165;p17"/>
            <p:cNvSpPr txBox="1"/>
            <p:nvPr/>
          </p:nvSpPr>
          <p:spPr>
            <a:xfrm>
              <a:off x="619125" y="190500"/>
              <a:ext cx="4238700" cy="6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E3A8A"/>
                  </a:solidFill>
                  <a:latin typeface="Inter"/>
                  <a:ea typeface="Inter"/>
                  <a:cs typeface="Inter"/>
                  <a:sym typeface="Inter"/>
                </a:rPr>
                <a:t>Gradient-Volatile Features</a:t>
              </a:r>
              <a:endParaRPr b="1" sz="1200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Fragile Features:</a:t>
              </a:r>
              <a:r>
                <a:rPr b="0" lang="en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Classifiers rely on weak traffic clues that attackers can easily disguise.</a:t>
              </a:r>
              <a:endParaRPr b="0"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66" name="Google Shape;166;p17"/>
          <p:cNvGrpSpPr/>
          <p:nvPr/>
        </p:nvGrpSpPr>
        <p:grpSpPr>
          <a:xfrm>
            <a:off x="3714750" y="2476500"/>
            <a:ext cx="5048400" cy="1047900"/>
            <a:chOff x="0" y="0"/>
            <a:chExt cx="5048400" cy="1047900"/>
          </a:xfrm>
        </p:grpSpPr>
        <p:sp>
          <p:nvSpPr>
            <p:cNvPr id="167" name="Google Shape;167;p17"/>
            <p:cNvSpPr/>
            <p:nvPr/>
          </p:nvSpPr>
          <p:spPr>
            <a:xfrm>
              <a:off x="0" y="0"/>
              <a:ext cx="5048400" cy="1047900"/>
            </a:xfrm>
            <a:prstGeom prst="roundRect">
              <a:avLst>
                <a:gd fmla="val 10909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17"/>
            <p:cNvSpPr/>
            <p:nvPr/>
          </p:nvSpPr>
          <p:spPr>
            <a:xfrm>
              <a:off x="0" y="0"/>
              <a:ext cx="57300" cy="1047900"/>
            </a:xfrm>
            <a:prstGeom prst="roundRect">
              <a:avLst>
                <a:gd fmla="val 50000" name="adj"/>
              </a:avLst>
            </a:prstGeom>
            <a:solidFill>
              <a:srgbClr val="06B6D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69" name="Google Shape;169;p17"/>
            <p:cNvGrpSpPr/>
            <p:nvPr/>
          </p:nvGrpSpPr>
          <p:grpSpPr>
            <a:xfrm>
              <a:off x="200025" y="381000"/>
              <a:ext cx="304950" cy="257175"/>
              <a:chOff x="9525" y="19050"/>
              <a:chExt cx="304950" cy="257175"/>
            </a:xfrm>
          </p:grpSpPr>
          <p:sp>
            <p:nvSpPr>
              <p:cNvPr id="170" name="Google Shape;170;p17"/>
              <p:cNvSpPr/>
              <p:nvPr/>
            </p:nvSpPr>
            <p:spPr>
              <a:xfrm>
                <a:off x="47625" y="47625"/>
                <a:ext cx="238200" cy="190500"/>
              </a:xfrm>
              <a:custGeom>
                <a:rect b="b" l="l" r="r" t="t"/>
                <a:pathLst>
                  <a:path extrusionOk="0" h="120000" w="120000">
                    <a:moveTo>
                      <a:pt x="0" y="120000"/>
                    </a:moveTo>
                    <a:lnTo>
                      <a:pt x="48000" y="0"/>
                    </a:lnTo>
                    <a:lnTo>
                      <a:pt x="72000" y="6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2563E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7"/>
              <p:cNvSpPr/>
              <p:nvPr/>
            </p:nvSpPr>
            <p:spPr>
              <a:xfrm>
                <a:off x="114300" y="19050"/>
                <a:ext cx="57300" cy="573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7"/>
              <p:cNvSpPr/>
              <p:nvPr/>
            </p:nvSpPr>
            <p:spPr>
              <a:xfrm>
                <a:off x="257175" y="19050"/>
                <a:ext cx="57300" cy="57300"/>
              </a:xfrm>
              <a:prstGeom prst="ellipse">
                <a:avLst/>
              </a:prstGeom>
              <a:solidFill>
                <a:srgbClr val="06B6D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7"/>
              <p:cNvSpPr/>
              <p:nvPr/>
            </p:nvSpPr>
            <p:spPr>
              <a:xfrm>
                <a:off x="9525" y="200025"/>
                <a:ext cx="76200" cy="76200"/>
              </a:xfrm>
              <a:prstGeom prst="roundRect">
                <a:avLst>
                  <a:gd fmla="val 12500" name="adj"/>
                </a:avLst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74" name="Google Shape;174;p17"/>
            <p:cNvSpPr txBox="1"/>
            <p:nvPr/>
          </p:nvSpPr>
          <p:spPr>
            <a:xfrm>
              <a:off x="619125" y="190500"/>
              <a:ext cx="4238700" cy="6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891B2"/>
                  </a:solidFill>
                  <a:latin typeface="Inter"/>
                  <a:ea typeface="Inter"/>
                  <a:cs typeface="Inter"/>
                  <a:sym typeface="Inter"/>
                </a:rPr>
                <a:t>Transient Socket Shortcuts</a:t>
              </a:r>
              <a:endParaRPr b="1" sz="1200">
                <a:solidFill>
                  <a:srgbClr val="0891B2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Shortcut Cheating:</a:t>
              </a:r>
              <a:r>
                <a:rPr b="0" lang="en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Models memorize port numbers and IP addresses instead of learning real attack behavior.</a:t>
              </a:r>
              <a:endParaRPr b="0"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75" name="Google Shape;175;p17"/>
          <p:cNvGrpSpPr/>
          <p:nvPr/>
        </p:nvGrpSpPr>
        <p:grpSpPr>
          <a:xfrm>
            <a:off x="3714750" y="3714750"/>
            <a:ext cx="5048400" cy="1047900"/>
            <a:chOff x="0" y="0"/>
            <a:chExt cx="5048400" cy="1047900"/>
          </a:xfrm>
        </p:grpSpPr>
        <p:sp>
          <p:nvSpPr>
            <p:cNvPr id="176" name="Google Shape;176;p17"/>
            <p:cNvSpPr/>
            <p:nvPr/>
          </p:nvSpPr>
          <p:spPr>
            <a:xfrm>
              <a:off x="0" y="0"/>
              <a:ext cx="5048400" cy="1047900"/>
            </a:xfrm>
            <a:prstGeom prst="roundRect">
              <a:avLst>
                <a:gd fmla="val 10909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17"/>
            <p:cNvSpPr/>
            <p:nvPr/>
          </p:nvSpPr>
          <p:spPr>
            <a:xfrm>
              <a:off x="0" y="0"/>
              <a:ext cx="57300" cy="1047900"/>
            </a:xfrm>
            <a:prstGeom prst="roundRect">
              <a:avLst>
                <a:gd fmla="val 50000" name="adj"/>
              </a:avLst>
            </a:prstGeom>
            <a:solidFill>
              <a:srgbClr val="11224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78" name="Google Shape;178;p17"/>
            <p:cNvGrpSpPr/>
            <p:nvPr/>
          </p:nvGrpSpPr>
          <p:grpSpPr>
            <a:xfrm>
              <a:off x="238125" y="409575"/>
              <a:ext cx="190500" cy="219000"/>
              <a:chOff x="47625" y="47625"/>
              <a:chExt cx="190500" cy="219000"/>
            </a:xfrm>
          </p:grpSpPr>
          <p:sp>
            <p:nvSpPr>
              <p:cNvPr id="179" name="Google Shape;179;p17"/>
              <p:cNvSpPr/>
              <p:nvPr/>
            </p:nvSpPr>
            <p:spPr>
              <a:xfrm>
                <a:off x="47625" y="47625"/>
                <a:ext cx="190500" cy="2190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120000" y="0"/>
                    </a:lnTo>
                    <a:lnTo>
                      <a:pt x="120000" y="52174"/>
                    </a:lnTo>
                    <a:cubicBezTo>
                      <a:pt x="120000" y="88696"/>
                      <a:pt x="60000" y="120000"/>
                      <a:pt x="60000" y="120000"/>
                    </a:cubicBezTo>
                    <a:cubicBezTo>
                      <a:pt x="60000" y="120000"/>
                      <a:pt x="0" y="88696"/>
                      <a:pt x="0" y="52174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19050">
                <a:solidFill>
                  <a:srgbClr val="2563E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7"/>
              <p:cNvSpPr/>
              <p:nvPr/>
            </p:nvSpPr>
            <p:spPr>
              <a:xfrm>
                <a:off x="142875" y="85725"/>
                <a:ext cx="38100" cy="762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0" y="90000"/>
                    </a:lnTo>
                    <a:lnTo>
                      <a:pt x="120000" y="12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06B6D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81" name="Google Shape;181;p17"/>
            <p:cNvSpPr txBox="1"/>
            <p:nvPr/>
          </p:nvSpPr>
          <p:spPr>
            <a:xfrm>
              <a:off x="619125" y="190500"/>
              <a:ext cx="4238700" cy="6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Defensive Hardening Trade-Offs</a:t>
              </a:r>
              <a:endParaRPr b="1" sz="12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Stale Defenses:</a:t>
              </a:r>
              <a:r>
                <a:rPr b="0" lang="en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Existing defenses train once on old attacks, making them helpless against adaptive, modern attackers.</a:t>
              </a:r>
              <a:endParaRPr b="0"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18"/>
          <p:cNvPicPr preferRelativeResize="0"/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0" y="19936"/>
            <a:ext cx="9144002" cy="510362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7" name="Google Shape;187;p18"/>
          <p:cNvGrpSpPr/>
          <p:nvPr/>
        </p:nvGrpSpPr>
        <p:grpSpPr>
          <a:xfrm>
            <a:off x="-57150" y="4617720"/>
            <a:ext cx="1268730" cy="1040310"/>
            <a:chOff x="142875" y="228600"/>
            <a:chExt cx="1057275" cy="866925"/>
          </a:xfrm>
        </p:grpSpPr>
        <p:sp>
          <p:nvSpPr>
            <p:cNvPr id="188" name="Google Shape;188;p18"/>
            <p:cNvSpPr/>
            <p:nvPr/>
          </p:nvSpPr>
          <p:spPr>
            <a:xfrm>
              <a:off x="438150" y="438150"/>
              <a:ext cx="76200" cy="76200"/>
            </a:xfrm>
            <a:prstGeom prst="ellipse">
              <a:avLst/>
            </a:prstGeom>
            <a:solidFill>
              <a:srgbClr val="2563EB">
                <a:alpha val="12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18"/>
            <p:cNvSpPr/>
            <p:nvPr/>
          </p:nvSpPr>
          <p:spPr>
            <a:xfrm>
              <a:off x="1085850" y="228600"/>
              <a:ext cx="114300" cy="114300"/>
            </a:xfrm>
            <a:prstGeom prst="ellipse">
              <a:avLst/>
            </a:prstGeom>
            <a:solidFill>
              <a:srgbClr val="0A192F">
                <a:alpha val="12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18"/>
            <p:cNvSpPr/>
            <p:nvPr/>
          </p:nvSpPr>
          <p:spPr>
            <a:xfrm>
              <a:off x="828675" y="923925"/>
              <a:ext cx="57300" cy="57300"/>
            </a:xfrm>
            <a:prstGeom prst="ellipse">
              <a:avLst/>
            </a:prstGeom>
            <a:solidFill>
              <a:srgbClr val="06B6D4">
                <a:alpha val="12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18"/>
            <p:cNvSpPr/>
            <p:nvPr/>
          </p:nvSpPr>
          <p:spPr>
            <a:xfrm>
              <a:off x="142875" y="1000125"/>
              <a:ext cx="95400" cy="95400"/>
            </a:xfrm>
            <a:prstGeom prst="ellipse">
              <a:avLst/>
            </a:prstGeom>
            <a:solidFill>
              <a:srgbClr val="2563EB">
                <a:alpha val="12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92" name="Google Shape;192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66438" y="277702"/>
              <a:ext cx="683400" cy="683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3" name="Google Shape;193;p1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82563" y="473384"/>
              <a:ext cx="675300" cy="5814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4" name="Google Shape;194;p18"/>
          <p:cNvGrpSpPr/>
          <p:nvPr/>
        </p:nvGrpSpPr>
        <p:grpSpPr>
          <a:xfrm>
            <a:off x="9844088" y="4507230"/>
            <a:ext cx="1374457" cy="1127002"/>
            <a:chOff x="142875" y="228600"/>
            <a:chExt cx="1057275" cy="866925"/>
          </a:xfrm>
        </p:grpSpPr>
        <p:sp>
          <p:nvSpPr>
            <p:cNvPr id="195" name="Google Shape;195;p18"/>
            <p:cNvSpPr/>
            <p:nvPr/>
          </p:nvSpPr>
          <p:spPr>
            <a:xfrm>
              <a:off x="438150" y="438150"/>
              <a:ext cx="76200" cy="76200"/>
            </a:xfrm>
            <a:prstGeom prst="ellipse">
              <a:avLst/>
            </a:prstGeom>
            <a:solidFill>
              <a:srgbClr val="2563EB">
                <a:alpha val="12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18"/>
            <p:cNvSpPr/>
            <p:nvPr/>
          </p:nvSpPr>
          <p:spPr>
            <a:xfrm>
              <a:off x="1085850" y="228600"/>
              <a:ext cx="114300" cy="114300"/>
            </a:xfrm>
            <a:prstGeom prst="ellipse">
              <a:avLst/>
            </a:prstGeom>
            <a:solidFill>
              <a:srgbClr val="0A192F">
                <a:alpha val="12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18"/>
            <p:cNvSpPr/>
            <p:nvPr/>
          </p:nvSpPr>
          <p:spPr>
            <a:xfrm>
              <a:off x="828675" y="923925"/>
              <a:ext cx="57300" cy="57300"/>
            </a:xfrm>
            <a:prstGeom prst="ellipse">
              <a:avLst/>
            </a:prstGeom>
            <a:solidFill>
              <a:srgbClr val="06B6D4">
                <a:alpha val="12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18"/>
            <p:cNvSpPr/>
            <p:nvPr/>
          </p:nvSpPr>
          <p:spPr>
            <a:xfrm>
              <a:off x="142875" y="1000125"/>
              <a:ext cx="95400" cy="95400"/>
            </a:xfrm>
            <a:prstGeom prst="ellipse">
              <a:avLst/>
            </a:prstGeom>
            <a:solidFill>
              <a:srgbClr val="2563EB">
                <a:alpha val="12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99" name="Google Shape;199;p1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68809" y="279053"/>
              <a:ext cx="683100" cy="683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0" name="Google Shape;200;p18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83059" y="473273"/>
              <a:ext cx="676500" cy="580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1" name="Google Shape;201;p18"/>
          <p:cNvGrpSpPr/>
          <p:nvPr/>
        </p:nvGrpSpPr>
        <p:grpSpPr>
          <a:xfrm>
            <a:off x="285750" y="381000"/>
            <a:ext cx="8477175" cy="857400"/>
            <a:chOff x="-95250" y="0"/>
            <a:chExt cx="8477175" cy="857400"/>
          </a:xfrm>
        </p:grpSpPr>
        <p:grpSp>
          <p:nvGrpSpPr>
            <p:cNvPr id="202" name="Google Shape;202;p18"/>
            <p:cNvGrpSpPr/>
            <p:nvPr/>
          </p:nvGrpSpPr>
          <p:grpSpPr>
            <a:xfrm>
              <a:off x="-95250" y="57150"/>
              <a:ext cx="380925" cy="190500"/>
              <a:chOff x="-95250" y="0"/>
              <a:chExt cx="380925" cy="190500"/>
            </a:xfrm>
          </p:grpSpPr>
          <p:sp>
            <p:nvSpPr>
              <p:cNvPr id="203" name="Google Shape;203;p18"/>
              <p:cNvSpPr/>
              <p:nvPr/>
            </p:nvSpPr>
            <p:spPr>
              <a:xfrm>
                <a:off x="-95250" y="0"/>
                <a:ext cx="285900" cy="190500"/>
              </a:xfrm>
              <a:custGeom>
                <a:rect b="b" l="l" r="r" t="t"/>
                <a:pathLst>
                  <a:path extrusionOk="0" h="120000" w="120000">
                    <a:moveTo>
                      <a:pt x="40000" y="0"/>
                    </a:moveTo>
                    <a:lnTo>
                      <a:pt x="120000" y="0"/>
                    </a:lnTo>
                    <a:lnTo>
                      <a:pt x="8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06B6D4">
                  <a:alpha val="8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" name="Google Shape;204;p18"/>
              <p:cNvSpPr/>
              <p:nvPr/>
            </p:nvSpPr>
            <p:spPr>
              <a:xfrm>
                <a:off x="142875" y="0"/>
                <a:ext cx="142800" cy="190500"/>
              </a:xfrm>
              <a:custGeom>
                <a:rect b="b" l="l" r="r" t="t"/>
                <a:pathLst>
                  <a:path extrusionOk="0" h="120000" w="120000">
                    <a:moveTo>
                      <a:pt x="80000" y="0"/>
                    </a:moveTo>
                    <a:lnTo>
                      <a:pt x="120000" y="0"/>
                    </a:lnTo>
                    <a:lnTo>
                      <a:pt x="4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2563EB">
                  <a:alpha val="6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05" name="Google Shape;205;p18"/>
            <p:cNvSpPr txBox="1"/>
            <p:nvPr/>
          </p:nvSpPr>
          <p:spPr>
            <a:xfrm>
              <a:off x="428625" y="0"/>
              <a:ext cx="7953300" cy="857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400">
                  <a:solidFill>
                    <a:srgbClr val="0A192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Motivation &amp; Objectives</a:t>
              </a:r>
              <a:endParaRPr b="0" sz="2400">
                <a:solidFill>
                  <a:srgbClr val="0A192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300"/>
                </a:spcAft>
                <a:buNone/>
              </a:pP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Building fast, accurate, and honest AI defense for live enterprise networks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06" name="Google Shape;206;p18"/>
          <p:cNvGrpSpPr/>
          <p:nvPr/>
        </p:nvGrpSpPr>
        <p:grpSpPr>
          <a:xfrm>
            <a:off x="381000" y="1524000"/>
            <a:ext cx="2628900" cy="3048000"/>
            <a:chOff x="0" y="0"/>
            <a:chExt cx="2628900" cy="3048000"/>
          </a:xfrm>
        </p:grpSpPr>
        <p:sp>
          <p:nvSpPr>
            <p:cNvPr id="207" name="Google Shape;207;p18"/>
            <p:cNvSpPr/>
            <p:nvPr/>
          </p:nvSpPr>
          <p:spPr>
            <a:xfrm>
              <a:off x="0" y="0"/>
              <a:ext cx="2628900" cy="3048000"/>
            </a:xfrm>
            <a:prstGeom prst="roundRect">
              <a:avLst>
                <a:gd fmla="val 4347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18"/>
            <p:cNvSpPr/>
            <p:nvPr/>
          </p:nvSpPr>
          <p:spPr>
            <a:xfrm>
              <a:off x="0" y="0"/>
              <a:ext cx="2628900" cy="573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09" name="Google Shape;209;p18"/>
            <p:cNvGrpSpPr/>
            <p:nvPr/>
          </p:nvGrpSpPr>
          <p:grpSpPr>
            <a:xfrm>
              <a:off x="190500" y="228600"/>
              <a:ext cx="342900" cy="228600"/>
              <a:chOff x="0" y="0"/>
              <a:chExt cx="342900" cy="228600"/>
            </a:xfrm>
          </p:grpSpPr>
          <p:sp>
            <p:nvSpPr>
              <p:cNvPr id="210" name="Google Shape;210;p18"/>
              <p:cNvSpPr/>
              <p:nvPr/>
            </p:nvSpPr>
            <p:spPr>
              <a:xfrm>
                <a:off x="0" y="0"/>
                <a:ext cx="342900" cy="228600"/>
              </a:xfrm>
              <a:prstGeom prst="roundRect">
                <a:avLst>
                  <a:gd fmla="val 25000" name="adj"/>
                </a:avLst>
              </a:prstGeom>
              <a:solidFill>
                <a:srgbClr val="EFF6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8"/>
              <p:cNvSpPr txBox="1"/>
              <p:nvPr/>
            </p:nvSpPr>
            <p:spPr>
              <a:xfrm>
                <a:off x="0" y="0"/>
                <a:ext cx="3429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2563EB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01</a:t>
                </a:r>
                <a:endParaRPr b="1" sz="1000">
                  <a:solidFill>
                    <a:srgbClr val="2563EB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</p:grpSp>
        <p:sp>
          <p:nvSpPr>
            <p:cNvPr id="212" name="Google Shape;212;p18"/>
            <p:cNvSpPr txBox="1"/>
            <p:nvPr/>
          </p:nvSpPr>
          <p:spPr>
            <a:xfrm>
              <a:off x="190500" y="609600"/>
              <a:ext cx="2247900" cy="22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0A192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Real-Time Speed</a:t>
              </a:r>
              <a:endParaRPr b="0" sz="1500">
                <a:solidFill>
                  <a:srgbClr val="0A192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High-speed networks cannot wait: slow detection drops valid packets.</a:t>
              </a:r>
              <a:endParaRPr b="0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Goal:</a:t>
              </a:r>
              <a:r>
                <a:rPr b="0" lang="en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Keep inference under </a:t>
              </a:r>
              <a:r>
                <a:rPr b="1" lang="en" sz="105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0.05 ms</a:t>
              </a:r>
              <a:r>
                <a:rPr b="0" lang="en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per flow for line-rate speed.</a:t>
              </a:r>
              <a:endParaRPr b="0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13" name="Google Shape;213;p18"/>
          <p:cNvGrpSpPr/>
          <p:nvPr/>
        </p:nvGrpSpPr>
        <p:grpSpPr>
          <a:xfrm>
            <a:off x="3257550" y="1524000"/>
            <a:ext cx="2628900" cy="3048000"/>
            <a:chOff x="0" y="0"/>
            <a:chExt cx="2628900" cy="3048000"/>
          </a:xfrm>
        </p:grpSpPr>
        <p:sp>
          <p:nvSpPr>
            <p:cNvPr id="214" name="Google Shape;214;p18"/>
            <p:cNvSpPr/>
            <p:nvPr/>
          </p:nvSpPr>
          <p:spPr>
            <a:xfrm>
              <a:off x="0" y="0"/>
              <a:ext cx="2628900" cy="3048000"/>
            </a:xfrm>
            <a:prstGeom prst="roundRect">
              <a:avLst>
                <a:gd fmla="val 4347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18"/>
            <p:cNvSpPr/>
            <p:nvPr/>
          </p:nvSpPr>
          <p:spPr>
            <a:xfrm>
              <a:off x="0" y="0"/>
              <a:ext cx="2628900" cy="57300"/>
            </a:xfrm>
            <a:prstGeom prst="roundRect">
              <a:avLst>
                <a:gd fmla="val 50000" name="adj"/>
              </a:avLst>
            </a:prstGeom>
            <a:solidFill>
              <a:srgbClr val="06B6D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16" name="Google Shape;216;p18"/>
            <p:cNvGrpSpPr/>
            <p:nvPr/>
          </p:nvGrpSpPr>
          <p:grpSpPr>
            <a:xfrm>
              <a:off x="190500" y="228600"/>
              <a:ext cx="342900" cy="228600"/>
              <a:chOff x="0" y="0"/>
              <a:chExt cx="342900" cy="228600"/>
            </a:xfrm>
          </p:grpSpPr>
          <p:sp>
            <p:nvSpPr>
              <p:cNvPr id="217" name="Google Shape;217;p18"/>
              <p:cNvSpPr/>
              <p:nvPr/>
            </p:nvSpPr>
            <p:spPr>
              <a:xfrm>
                <a:off x="0" y="0"/>
                <a:ext cx="342900" cy="228600"/>
              </a:xfrm>
              <a:prstGeom prst="roundRect">
                <a:avLst>
                  <a:gd fmla="val 25000" name="adj"/>
                </a:avLst>
              </a:prstGeom>
              <a:solidFill>
                <a:srgbClr val="E0F2F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8"/>
              <p:cNvSpPr txBox="1"/>
              <p:nvPr/>
            </p:nvSpPr>
            <p:spPr>
              <a:xfrm>
                <a:off x="0" y="0"/>
                <a:ext cx="3429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06B6D4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02</a:t>
                </a:r>
                <a:endParaRPr b="1" sz="1000">
                  <a:solidFill>
                    <a:srgbClr val="06B6D4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</p:grpSp>
        <p:sp>
          <p:nvSpPr>
            <p:cNvPr id="219" name="Google Shape;219;p18"/>
            <p:cNvSpPr txBox="1"/>
            <p:nvPr/>
          </p:nvSpPr>
          <p:spPr>
            <a:xfrm>
              <a:off x="190500" y="609600"/>
              <a:ext cx="2247900" cy="22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0A192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Acc vs Robustness</a:t>
              </a:r>
              <a:endParaRPr b="0" sz="1500">
                <a:solidFill>
                  <a:srgbClr val="0A192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Defending models usually causes a 2% to 6% drop in normal accuracy.</a:t>
              </a:r>
              <a:endParaRPr b="0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06B6D4"/>
                  </a:solidFill>
                  <a:latin typeface="Inter"/>
                  <a:ea typeface="Inter"/>
                  <a:cs typeface="Inter"/>
                  <a:sym typeface="Inter"/>
                </a:rPr>
                <a:t>Goal:</a:t>
              </a:r>
              <a:r>
                <a:rPr b="0" lang="en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Stop attacks without hurting normal accuracy by removing noisy features.</a:t>
              </a:r>
              <a:endParaRPr b="0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20" name="Google Shape;220;p18"/>
          <p:cNvGrpSpPr/>
          <p:nvPr/>
        </p:nvGrpSpPr>
        <p:grpSpPr>
          <a:xfrm>
            <a:off x="6134100" y="1524000"/>
            <a:ext cx="2628900" cy="3048000"/>
            <a:chOff x="0" y="0"/>
            <a:chExt cx="2628900" cy="3048000"/>
          </a:xfrm>
        </p:grpSpPr>
        <p:sp>
          <p:nvSpPr>
            <p:cNvPr id="221" name="Google Shape;221;p18"/>
            <p:cNvSpPr/>
            <p:nvPr/>
          </p:nvSpPr>
          <p:spPr>
            <a:xfrm>
              <a:off x="0" y="0"/>
              <a:ext cx="2628900" cy="3048000"/>
            </a:xfrm>
            <a:prstGeom prst="roundRect">
              <a:avLst>
                <a:gd fmla="val 4347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18"/>
            <p:cNvSpPr/>
            <p:nvPr/>
          </p:nvSpPr>
          <p:spPr>
            <a:xfrm>
              <a:off x="0" y="0"/>
              <a:ext cx="2628900" cy="57300"/>
            </a:xfrm>
            <a:prstGeom prst="roundRect">
              <a:avLst>
                <a:gd fmla="val 50000" name="adj"/>
              </a:avLst>
            </a:prstGeom>
            <a:solidFill>
              <a:srgbClr val="4F46E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23" name="Google Shape;223;p18"/>
            <p:cNvGrpSpPr/>
            <p:nvPr/>
          </p:nvGrpSpPr>
          <p:grpSpPr>
            <a:xfrm>
              <a:off x="190500" y="228600"/>
              <a:ext cx="342900" cy="228600"/>
              <a:chOff x="0" y="0"/>
              <a:chExt cx="342900" cy="228600"/>
            </a:xfrm>
          </p:grpSpPr>
          <p:sp>
            <p:nvSpPr>
              <p:cNvPr id="224" name="Google Shape;224;p18"/>
              <p:cNvSpPr/>
              <p:nvPr/>
            </p:nvSpPr>
            <p:spPr>
              <a:xfrm>
                <a:off x="0" y="0"/>
                <a:ext cx="342900" cy="228600"/>
              </a:xfrm>
              <a:prstGeom prst="roundRect">
                <a:avLst>
                  <a:gd fmla="val 25000" name="adj"/>
                </a:avLst>
              </a:prstGeom>
              <a:solidFill>
                <a:srgbClr val="E0E7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8"/>
              <p:cNvSpPr txBox="1"/>
              <p:nvPr/>
            </p:nvSpPr>
            <p:spPr>
              <a:xfrm>
                <a:off x="0" y="0"/>
                <a:ext cx="3429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4F46E5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03</a:t>
                </a:r>
                <a:endParaRPr b="1" sz="1000">
                  <a:solidFill>
                    <a:srgbClr val="4F46E5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</p:grpSp>
        <p:sp>
          <p:nvSpPr>
            <p:cNvPr id="226" name="Google Shape;226;p18"/>
            <p:cNvSpPr txBox="1"/>
            <p:nvPr/>
          </p:nvSpPr>
          <p:spPr>
            <a:xfrm>
              <a:off x="190500" y="609600"/>
              <a:ext cx="2247900" cy="22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0A192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Benchmark Hygiene</a:t>
              </a:r>
              <a:endParaRPr b="0" sz="1500">
                <a:solidFill>
                  <a:srgbClr val="0A192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4F46E5"/>
                  </a:solidFill>
                  <a:latin typeface="Inter"/>
                  <a:ea typeface="Inter"/>
                  <a:cs typeface="Inter"/>
                  <a:sym typeface="Inter"/>
                </a:rPr>
                <a:t>Goal:</a:t>
              </a:r>
              <a:r>
                <a:rPr b="0" lang="en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Completely remove all port and IP shortcuts so the AI learns real attack behavior.</a:t>
              </a:r>
              <a:endParaRPr b="0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Enforce strict partitioning and class balancing.</a:t>
              </a:r>
              <a:endParaRPr b="0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19"/>
          <p:cNvPicPr preferRelativeResize="0"/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 flipH="1">
            <a:off x="0" y="19936"/>
            <a:ext cx="9144002" cy="510362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2" name="Google Shape;232;p19"/>
          <p:cNvGrpSpPr/>
          <p:nvPr/>
        </p:nvGrpSpPr>
        <p:grpSpPr>
          <a:xfrm>
            <a:off x="381000" y="1238250"/>
            <a:ext cx="2381400" cy="3238500"/>
            <a:chOff x="0" y="0"/>
            <a:chExt cx="2381400" cy="3238500"/>
          </a:xfrm>
        </p:grpSpPr>
        <p:sp>
          <p:nvSpPr>
            <p:cNvPr id="233" name="Google Shape;233;p19"/>
            <p:cNvSpPr/>
            <p:nvPr/>
          </p:nvSpPr>
          <p:spPr>
            <a:xfrm>
              <a:off x="0" y="0"/>
              <a:ext cx="2381400" cy="3238500"/>
            </a:xfrm>
            <a:prstGeom prst="roundRect">
              <a:avLst>
                <a:gd fmla="val 4800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19"/>
            <p:cNvSpPr/>
            <p:nvPr/>
          </p:nvSpPr>
          <p:spPr>
            <a:xfrm>
              <a:off x="0" y="0"/>
              <a:ext cx="57300" cy="32385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19"/>
            <p:cNvSpPr txBox="1"/>
            <p:nvPr/>
          </p:nvSpPr>
          <p:spPr>
            <a:xfrm>
              <a:off x="190500" y="190500"/>
              <a:ext cx="20001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0A192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Scope of Survey</a:t>
              </a:r>
              <a:endParaRPr b="0" sz="1300">
                <a:solidFill>
                  <a:srgbClr val="0A192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5400">
                  <a:solidFill>
                    <a:srgbClr val="2563E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40</a:t>
              </a:r>
              <a:endParaRPr b="1" sz="5400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Peer-Reviewed Publications</a:t>
              </a:r>
              <a:endParaRPr b="1" sz="1100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E90FF"/>
                  </a:solidFill>
                  <a:latin typeface="Inter"/>
                  <a:ea typeface="Inter"/>
                  <a:cs typeface="Inter"/>
                  <a:sym typeface="Inter"/>
                </a:rPr>
                <a:t>(2021–2026)</a:t>
              </a:r>
              <a:endParaRPr b="1" sz="1100">
                <a:solidFill>
                  <a:srgbClr val="1E90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Comprehensive analysis spanning deep learning NIDS, adversarial hardening, and Explainable AI (SHAP).</a:t>
              </a:r>
              <a:endParaRPr b="0"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236" name="Google Shape;236;p19"/>
          <p:cNvSpPr txBox="1"/>
          <p:nvPr/>
        </p:nvSpPr>
        <p:spPr>
          <a:xfrm>
            <a:off x="3000375" y="1238250"/>
            <a:ext cx="57627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350">
                <a:solidFill>
                  <a:srgbClr val="0A192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Macro Empirical Findings Across the Literature</a:t>
            </a:r>
            <a:endParaRPr b="0" sz="1350">
              <a:solidFill>
                <a:srgbClr val="0A192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237" name="Google Shape;237;p19"/>
          <p:cNvGrpSpPr/>
          <p:nvPr/>
        </p:nvGrpSpPr>
        <p:grpSpPr>
          <a:xfrm>
            <a:off x="3000375" y="1619250"/>
            <a:ext cx="2809800" cy="904800"/>
            <a:chOff x="0" y="0"/>
            <a:chExt cx="2809800" cy="904800"/>
          </a:xfrm>
        </p:grpSpPr>
        <p:sp>
          <p:nvSpPr>
            <p:cNvPr id="238" name="Google Shape;238;p19"/>
            <p:cNvSpPr/>
            <p:nvPr/>
          </p:nvSpPr>
          <p:spPr>
            <a:xfrm>
              <a:off x="0" y="0"/>
              <a:ext cx="2809800" cy="904800"/>
            </a:xfrm>
            <a:prstGeom prst="roundRect">
              <a:avLst>
                <a:gd fmla="val 8421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19"/>
            <p:cNvSpPr/>
            <p:nvPr/>
          </p:nvSpPr>
          <p:spPr>
            <a:xfrm>
              <a:off x="114300" y="114300"/>
              <a:ext cx="266700" cy="171600"/>
            </a:xfrm>
            <a:prstGeom prst="roundRect">
              <a:avLst>
                <a:gd fmla="val 22222" name="adj"/>
              </a:avLst>
            </a:prstGeom>
            <a:solidFill>
              <a:srgbClr val="EFF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19"/>
            <p:cNvSpPr txBox="1"/>
            <p:nvPr/>
          </p:nvSpPr>
          <p:spPr>
            <a:xfrm>
              <a:off x="114300" y="114300"/>
              <a:ext cx="266700" cy="1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2563E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01</a:t>
              </a:r>
              <a:endParaRPr b="1" sz="850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241" name="Google Shape;241;p19"/>
            <p:cNvSpPr txBox="1"/>
            <p:nvPr/>
          </p:nvSpPr>
          <p:spPr>
            <a:xfrm>
              <a:off x="457200" y="114300"/>
              <a:ext cx="22383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Clean Accuracy Trade-Off</a:t>
              </a:r>
              <a:endParaRPr b="1" sz="950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Adversarial training on unpruned feature spaces leads to a clean accuracy drop of 2% to 6%, reflecting Tsipras' trade-off.</a:t>
              </a:r>
              <a:endParaRPr b="0" sz="8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42" name="Google Shape;242;p19"/>
          <p:cNvGrpSpPr/>
          <p:nvPr/>
        </p:nvGrpSpPr>
        <p:grpSpPr>
          <a:xfrm>
            <a:off x="5953125" y="1619250"/>
            <a:ext cx="2809800" cy="904800"/>
            <a:chOff x="0" y="0"/>
            <a:chExt cx="2809800" cy="904800"/>
          </a:xfrm>
        </p:grpSpPr>
        <p:sp>
          <p:nvSpPr>
            <p:cNvPr id="243" name="Google Shape;243;p19"/>
            <p:cNvSpPr/>
            <p:nvPr/>
          </p:nvSpPr>
          <p:spPr>
            <a:xfrm>
              <a:off x="0" y="0"/>
              <a:ext cx="2809800" cy="904800"/>
            </a:xfrm>
            <a:prstGeom prst="roundRect">
              <a:avLst>
                <a:gd fmla="val 8421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19"/>
            <p:cNvSpPr/>
            <p:nvPr/>
          </p:nvSpPr>
          <p:spPr>
            <a:xfrm>
              <a:off x="114300" y="114300"/>
              <a:ext cx="266700" cy="171600"/>
            </a:xfrm>
            <a:prstGeom prst="roundRect">
              <a:avLst>
                <a:gd fmla="val 22222" name="adj"/>
              </a:avLst>
            </a:prstGeom>
            <a:solidFill>
              <a:srgbClr val="EFF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19"/>
            <p:cNvSpPr txBox="1"/>
            <p:nvPr/>
          </p:nvSpPr>
          <p:spPr>
            <a:xfrm>
              <a:off x="114300" y="114300"/>
              <a:ext cx="266700" cy="1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2563E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02</a:t>
              </a:r>
              <a:endParaRPr b="1" sz="850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246" name="Google Shape;246;p19"/>
            <p:cNvSpPr txBox="1"/>
            <p:nvPr/>
          </p:nvSpPr>
          <p:spPr>
            <a:xfrm>
              <a:off x="457200" y="114300"/>
              <a:ext cx="22383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Vulnerability of Tree Ensembles</a:t>
              </a:r>
              <a:endParaRPr b="1" sz="950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Tree-based ensembles suffer severe degradation under iterative gradient perturbations (&gt;80% Attack Success Rate).</a:t>
              </a:r>
              <a:endParaRPr b="0" sz="8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47" name="Google Shape;247;p19"/>
          <p:cNvGrpSpPr/>
          <p:nvPr/>
        </p:nvGrpSpPr>
        <p:grpSpPr>
          <a:xfrm>
            <a:off x="3000375" y="2667000"/>
            <a:ext cx="2809800" cy="904800"/>
            <a:chOff x="0" y="0"/>
            <a:chExt cx="2809800" cy="904800"/>
          </a:xfrm>
        </p:grpSpPr>
        <p:sp>
          <p:nvSpPr>
            <p:cNvPr id="248" name="Google Shape;248;p19"/>
            <p:cNvSpPr/>
            <p:nvPr/>
          </p:nvSpPr>
          <p:spPr>
            <a:xfrm>
              <a:off x="0" y="0"/>
              <a:ext cx="2809800" cy="904800"/>
            </a:xfrm>
            <a:prstGeom prst="roundRect">
              <a:avLst>
                <a:gd fmla="val 8421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19"/>
            <p:cNvSpPr/>
            <p:nvPr/>
          </p:nvSpPr>
          <p:spPr>
            <a:xfrm>
              <a:off x="114300" y="114300"/>
              <a:ext cx="266700" cy="171600"/>
            </a:xfrm>
            <a:prstGeom prst="roundRect">
              <a:avLst>
                <a:gd fmla="val 22222" name="adj"/>
              </a:avLst>
            </a:prstGeom>
            <a:solidFill>
              <a:srgbClr val="EFF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19"/>
            <p:cNvSpPr txBox="1"/>
            <p:nvPr/>
          </p:nvSpPr>
          <p:spPr>
            <a:xfrm>
              <a:off x="114300" y="114300"/>
              <a:ext cx="266700" cy="1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2563E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03</a:t>
              </a:r>
              <a:endParaRPr b="1" sz="850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251" name="Google Shape;251;p19"/>
            <p:cNvSpPr txBox="1"/>
            <p:nvPr/>
          </p:nvSpPr>
          <p:spPr>
            <a:xfrm>
              <a:off x="457200" y="114300"/>
              <a:ext cx="22383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Static Perturbation Staleness</a:t>
              </a:r>
              <a:endParaRPr b="1" sz="950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Offline data augmentation exhibits reduced effectiveness against adaptive attacks (16% to 20% evasion reported).</a:t>
              </a:r>
              <a:endParaRPr b="0" sz="8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52" name="Google Shape;252;p19"/>
          <p:cNvGrpSpPr/>
          <p:nvPr/>
        </p:nvGrpSpPr>
        <p:grpSpPr>
          <a:xfrm>
            <a:off x="5953125" y="2667000"/>
            <a:ext cx="2809800" cy="904800"/>
            <a:chOff x="0" y="0"/>
            <a:chExt cx="2809800" cy="904800"/>
          </a:xfrm>
        </p:grpSpPr>
        <p:sp>
          <p:nvSpPr>
            <p:cNvPr id="253" name="Google Shape;253;p19"/>
            <p:cNvSpPr/>
            <p:nvPr/>
          </p:nvSpPr>
          <p:spPr>
            <a:xfrm>
              <a:off x="0" y="0"/>
              <a:ext cx="2809800" cy="904800"/>
            </a:xfrm>
            <a:prstGeom prst="roundRect">
              <a:avLst>
                <a:gd fmla="val 8421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19"/>
            <p:cNvSpPr/>
            <p:nvPr/>
          </p:nvSpPr>
          <p:spPr>
            <a:xfrm>
              <a:off x="114300" y="114300"/>
              <a:ext cx="266700" cy="171600"/>
            </a:xfrm>
            <a:prstGeom prst="roundRect">
              <a:avLst>
                <a:gd fmla="val 22222" name="adj"/>
              </a:avLst>
            </a:prstGeom>
            <a:solidFill>
              <a:srgbClr val="EFF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19"/>
            <p:cNvSpPr txBox="1"/>
            <p:nvPr/>
          </p:nvSpPr>
          <p:spPr>
            <a:xfrm>
              <a:off x="114300" y="114300"/>
              <a:ext cx="266700" cy="1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2563E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04</a:t>
              </a:r>
              <a:endParaRPr b="1" sz="850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256" name="Google Shape;256;p19"/>
            <p:cNvSpPr txBox="1"/>
            <p:nvPr/>
          </p:nvSpPr>
          <p:spPr>
            <a:xfrm>
              <a:off x="457200" y="114300"/>
              <a:ext cx="22383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Inference Latency Overhead</a:t>
              </a:r>
              <a:endParaRPr b="1" sz="950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Runtime XAI verification (85–220 ms/flow) introduces substantial latency overhead relative to real-time line-rate constraints.</a:t>
              </a:r>
              <a:endParaRPr b="0" sz="8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57" name="Google Shape;257;p19"/>
          <p:cNvGrpSpPr/>
          <p:nvPr/>
        </p:nvGrpSpPr>
        <p:grpSpPr>
          <a:xfrm>
            <a:off x="3000375" y="3714750"/>
            <a:ext cx="5762700" cy="762000"/>
            <a:chOff x="0" y="0"/>
            <a:chExt cx="5762700" cy="762000"/>
          </a:xfrm>
        </p:grpSpPr>
        <p:sp>
          <p:nvSpPr>
            <p:cNvPr id="258" name="Google Shape;258;p19"/>
            <p:cNvSpPr/>
            <p:nvPr/>
          </p:nvSpPr>
          <p:spPr>
            <a:xfrm>
              <a:off x="0" y="0"/>
              <a:ext cx="5762700" cy="762000"/>
            </a:xfrm>
            <a:prstGeom prst="roundRect">
              <a:avLst>
                <a:gd fmla="val 10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19"/>
            <p:cNvSpPr/>
            <p:nvPr/>
          </p:nvSpPr>
          <p:spPr>
            <a:xfrm>
              <a:off x="114300" y="114300"/>
              <a:ext cx="266700" cy="171600"/>
            </a:xfrm>
            <a:prstGeom prst="roundRect">
              <a:avLst>
                <a:gd fmla="val 22222" name="adj"/>
              </a:avLst>
            </a:prstGeom>
            <a:solidFill>
              <a:srgbClr val="EFF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19"/>
            <p:cNvSpPr txBox="1"/>
            <p:nvPr/>
          </p:nvSpPr>
          <p:spPr>
            <a:xfrm>
              <a:off x="114300" y="114300"/>
              <a:ext cx="266700" cy="1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2563E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05</a:t>
              </a:r>
              <a:endParaRPr b="1" sz="850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261" name="Google Shape;261;p19"/>
            <p:cNvSpPr txBox="1"/>
            <p:nvPr/>
          </p:nvSpPr>
          <p:spPr>
            <a:xfrm>
              <a:off x="457200" y="114300"/>
              <a:ext cx="51912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Shortcut Memorization &amp; Clean-Only Bias</a:t>
              </a:r>
              <a:endParaRPr b="1" sz="950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Conventional feature selection methods evaluate features solely on nominal traffic, frequently retaining port numbers that act as fragile back doors under perturbation.</a:t>
              </a:r>
              <a:endParaRPr b="0" sz="8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262" name="Google Shape;262;p19"/>
          <p:cNvSpPr txBox="1"/>
          <p:nvPr/>
        </p:nvSpPr>
        <p:spPr>
          <a:xfrm>
            <a:off x="809625" y="381000"/>
            <a:ext cx="79533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0A192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Literature Review</a:t>
            </a:r>
            <a:endParaRPr b="0" sz="2400">
              <a:solidFill>
                <a:srgbClr val="0A192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Survey of 40 peer-reviewed defenses spanning 2021–2026.</a:t>
            </a:r>
            <a:endParaRPr b="0" sz="14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63" name="Google Shape;263;p19"/>
          <p:cNvGrpSpPr/>
          <p:nvPr/>
        </p:nvGrpSpPr>
        <p:grpSpPr>
          <a:xfrm>
            <a:off x="342900" y="461010"/>
            <a:ext cx="380925" cy="190500"/>
            <a:chOff x="-190500" y="57150"/>
            <a:chExt cx="380925" cy="190500"/>
          </a:xfrm>
        </p:grpSpPr>
        <p:sp>
          <p:nvSpPr>
            <p:cNvPr id="264" name="Google Shape;264;p19"/>
            <p:cNvSpPr/>
            <p:nvPr/>
          </p:nvSpPr>
          <p:spPr>
            <a:xfrm>
              <a:off x="-190500" y="57150"/>
              <a:ext cx="285900" cy="190500"/>
            </a:xfrm>
            <a:custGeom>
              <a:rect b="b" l="l" r="r" t="t"/>
              <a:pathLst>
                <a:path extrusionOk="0" h="120000" w="120000">
                  <a:moveTo>
                    <a:pt x="40000" y="0"/>
                  </a:moveTo>
                  <a:lnTo>
                    <a:pt x="120000" y="0"/>
                  </a:lnTo>
                  <a:lnTo>
                    <a:pt x="8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6B6D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19"/>
            <p:cNvSpPr/>
            <p:nvPr/>
          </p:nvSpPr>
          <p:spPr>
            <a:xfrm>
              <a:off x="47625" y="57150"/>
              <a:ext cx="142800" cy="190500"/>
            </a:xfrm>
            <a:custGeom>
              <a:rect b="b" l="l" r="r" t="t"/>
              <a:pathLst>
                <a:path extrusionOk="0" h="120000" w="120000">
                  <a:moveTo>
                    <a:pt x="80000" y="0"/>
                  </a:moveTo>
                  <a:lnTo>
                    <a:pt x="120000" y="0"/>
                  </a:lnTo>
                  <a:lnTo>
                    <a:pt x="4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Google Shape;270;p20"/>
          <p:cNvPicPr preferRelativeResize="0"/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 flipH="1">
            <a:off x="0" y="19936"/>
            <a:ext cx="9144002" cy="510362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1" name="Google Shape;271;p20"/>
          <p:cNvGrpSpPr/>
          <p:nvPr/>
        </p:nvGrpSpPr>
        <p:grpSpPr>
          <a:xfrm>
            <a:off x="8210550" y="400050"/>
            <a:ext cx="495300" cy="495300"/>
            <a:chOff x="19050" y="19050"/>
            <a:chExt cx="495300" cy="495300"/>
          </a:xfrm>
        </p:grpSpPr>
        <p:sp>
          <p:nvSpPr>
            <p:cNvPr id="272" name="Google Shape;272;p20"/>
            <p:cNvSpPr/>
            <p:nvPr/>
          </p:nvSpPr>
          <p:spPr>
            <a:xfrm>
              <a:off x="19050" y="19050"/>
              <a:ext cx="38100" cy="38100"/>
            </a:xfrm>
            <a:prstGeom prst="ellipse">
              <a:avLst/>
            </a:prstGeom>
            <a:solidFill>
              <a:srgbClr val="E6F0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20"/>
            <p:cNvSpPr/>
            <p:nvPr/>
          </p:nvSpPr>
          <p:spPr>
            <a:xfrm>
              <a:off x="133350" y="19050"/>
              <a:ext cx="38100" cy="38100"/>
            </a:xfrm>
            <a:prstGeom prst="ellipse">
              <a:avLst/>
            </a:prstGeom>
            <a:solidFill>
              <a:srgbClr val="E6F0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20"/>
            <p:cNvSpPr/>
            <p:nvPr/>
          </p:nvSpPr>
          <p:spPr>
            <a:xfrm>
              <a:off x="247650" y="19050"/>
              <a:ext cx="38100" cy="38100"/>
            </a:xfrm>
            <a:prstGeom prst="ellipse">
              <a:avLst/>
            </a:prstGeom>
            <a:solidFill>
              <a:srgbClr val="E6F0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20"/>
            <p:cNvSpPr/>
            <p:nvPr/>
          </p:nvSpPr>
          <p:spPr>
            <a:xfrm>
              <a:off x="361950" y="19050"/>
              <a:ext cx="38100" cy="38100"/>
            </a:xfrm>
            <a:prstGeom prst="ellipse">
              <a:avLst/>
            </a:prstGeom>
            <a:solidFill>
              <a:srgbClr val="E6F0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20"/>
            <p:cNvSpPr/>
            <p:nvPr/>
          </p:nvSpPr>
          <p:spPr>
            <a:xfrm>
              <a:off x="476250" y="19050"/>
              <a:ext cx="38100" cy="38100"/>
            </a:xfrm>
            <a:prstGeom prst="ellipse">
              <a:avLst/>
            </a:prstGeom>
            <a:solidFill>
              <a:srgbClr val="E6F0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20"/>
            <p:cNvSpPr/>
            <p:nvPr/>
          </p:nvSpPr>
          <p:spPr>
            <a:xfrm>
              <a:off x="19050" y="133350"/>
              <a:ext cx="38100" cy="38100"/>
            </a:xfrm>
            <a:prstGeom prst="ellipse">
              <a:avLst/>
            </a:prstGeom>
            <a:solidFill>
              <a:srgbClr val="E6F0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20"/>
            <p:cNvSpPr/>
            <p:nvPr/>
          </p:nvSpPr>
          <p:spPr>
            <a:xfrm>
              <a:off x="133350" y="133350"/>
              <a:ext cx="38100" cy="38100"/>
            </a:xfrm>
            <a:prstGeom prst="ellipse">
              <a:avLst/>
            </a:prstGeom>
            <a:solidFill>
              <a:srgbClr val="E6F0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20"/>
            <p:cNvSpPr/>
            <p:nvPr/>
          </p:nvSpPr>
          <p:spPr>
            <a:xfrm>
              <a:off x="247650" y="133350"/>
              <a:ext cx="38100" cy="38100"/>
            </a:xfrm>
            <a:prstGeom prst="ellipse">
              <a:avLst/>
            </a:prstGeom>
            <a:solidFill>
              <a:srgbClr val="E6F0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20"/>
            <p:cNvSpPr/>
            <p:nvPr/>
          </p:nvSpPr>
          <p:spPr>
            <a:xfrm>
              <a:off x="361950" y="133350"/>
              <a:ext cx="38100" cy="38100"/>
            </a:xfrm>
            <a:prstGeom prst="ellipse">
              <a:avLst/>
            </a:prstGeom>
            <a:solidFill>
              <a:srgbClr val="E6F0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20"/>
            <p:cNvSpPr/>
            <p:nvPr/>
          </p:nvSpPr>
          <p:spPr>
            <a:xfrm>
              <a:off x="476250" y="133350"/>
              <a:ext cx="38100" cy="38100"/>
            </a:xfrm>
            <a:prstGeom prst="ellipse">
              <a:avLst/>
            </a:prstGeom>
            <a:solidFill>
              <a:srgbClr val="E6F0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20"/>
            <p:cNvSpPr/>
            <p:nvPr/>
          </p:nvSpPr>
          <p:spPr>
            <a:xfrm>
              <a:off x="19050" y="247650"/>
              <a:ext cx="38100" cy="38100"/>
            </a:xfrm>
            <a:prstGeom prst="ellipse">
              <a:avLst/>
            </a:prstGeom>
            <a:solidFill>
              <a:srgbClr val="E6F0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20"/>
            <p:cNvSpPr/>
            <p:nvPr/>
          </p:nvSpPr>
          <p:spPr>
            <a:xfrm>
              <a:off x="133350" y="247650"/>
              <a:ext cx="38100" cy="38100"/>
            </a:xfrm>
            <a:prstGeom prst="ellipse">
              <a:avLst/>
            </a:prstGeom>
            <a:solidFill>
              <a:srgbClr val="E6F0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20"/>
            <p:cNvSpPr/>
            <p:nvPr/>
          </p:nvSpPr>
          <p:spPr>
            <a:xfrm>
              <a:off x="247650" y="247650"/>
              <a:ext cx="38100" cy="38100"/>
            </a:xfrm>
            <a:prstGeom prst="ellipse">
              <a:avLst/>
            </a:prstGeom>
            <a:solidFill>
              <a:srgbClr val="E6F0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20"/>
            <p:cNvSpPr/>
            <p:nvPr/>
          </p:nvSpPr>
          <p:spPr>
            <a:xfrm>
              <a:off x="361950" y="247650"/>
              <a:ext cx="38100" cy="38100"/>
            </a:xfrm>
            <a:prstGeom prst="ellipse">
              <a:avLst/>
            </a:prstGeom>
            <a:solidFill>
              <a:srgbClr val="E6F0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20"/>
            <p:cNvSpPr/>
            <p:nvPr/>
          </p:nvSpPr>
          <p:spPr>
            <a:xfrm>
              <a:off x="476250" y="247650"/>
              <a:ext cx="38100" cy="38100"/>
            </a:xfrm>
            <a:prstGeom prst="ellipse">
              <a:avLst/>
            </a:prstGeom>
            <a:solidFill>
              <a:srgbClr val="E6F0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20"/>
            <p:cNvSpPr/>
            <p:nvPr/>
          </p:nvSpPr>
          <p:spPr>
            <a:xfrm>
              <a:off x="19050" y="361950"/>
              <a:ext cx="38100" cy="38100"/>
            </a:xfrm>
            <a:prstGeom prst="ellipse">
              <a:avLst/>
            </a:prstGeom>
            <a:solidFill>
              <a:srgbClr val="E6F0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20"/>
            <p:cNvSpPr/>
            <p:nvPr/>
          </p:nvSpPr>
          <p:spPr>
            <a:xfrm>
              <a:off x="133350" y="361950"/>
              <a:ext cx="38100" cy="38100"/>
            </a:xfrm>
            <a:prstGeom prst="ellipse">
              <a:avLst/>
            </a:prstGeom>
            <a:solidFill>
              <a:srgbClr val="E6F0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20"/>
            <p:cNvSpPr/>
            <p:nvPr/>
          </p:nvSpPr>
          <p:spPr>
            <a:xfrm>
              <a:off x="247650" y="361950"/>
              <a:ext cx="38100" cy="38100"/>
            </a:xfrm>
            <a:prstGeom prst="ellipse">
              <a:avLst/>
            </a:prstGeom>
            <a:solidFill>
              <a:srgbClr val="E6F0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20"/>
            <p:cNvSpPr/>
            <p:nvPr/>
          </p:nvSpPr>
          <p:spPr>
            <a:xfrm>
              <a:off x="361950" y="361950"/>
              <a:ext cx="38100" cy="38100"/>
            </a:xfrm>
            <a:prstGeom prst="ellipse">
              <a:avLst/>
            </a:prstGeom>
            <a:solidFill>
              <a:srgbClr val="E6F0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20"/>
            <p:cNvSpPr/>
            <p:nvPr/>
          </p:nvSpPr>
          <p:spPr>
            <a:xfrm>
              <a:off x="476250" y="361950"/>
              <a:ext cx="38100" cy="38100"/>
            </a:xfrm>
            <a:prstGeom prst="ellipse">
              <a:avLst/>
            </a:prstGeom>
            <a:solidFill>
              <a:srgbClr val="E6F0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20"/>
            <p:cNvSpPr/>
            <p:nvPr/>
          </p:nvSpPr>
          <p:spPr>
            <a:xfrm>
              <a:off x="19050" y="476250"/>
              <a:ext cx="38100" cy="38100"/>
            </a:xfrm>
            <a:prstGeom prst="ellipse">
              <a:avLst/>
            </a:prstGeom>
            <a:solidFill>
              <a:srgbClr val="E6F0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20"/>
            <p:cNvSpPr/>
            <p:nvPr/>
          </p:nvSpPr>
          <p:spPr>
            <a:xfrm>
              <a:off x="133350" y="476250"/>
              <a:ext cx="38100" cy="38100"/>
            </a:xfrm>
            <a:prstGeom prst="ellipse">
              <a:avLst/>
            </a:prstGeom>
            <a:solidFill>
              <a:srgbClr val="E6F0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20"/>
            <p:cNvSpPr/>
            <p:nvPr/>
          </p:nvSpPr>
          <p:spPr>
            <a:xfrm>
              <a:off x="247650" y="476250"/>
              <a:ext cx="38100" cy="38100"/>
            </a:xfrm>
            <a:prstGeom prst="ellipse">
              <a:avLst/>
            </a:prstGeom>
            <a:solidFill>
              <a:srgbClr val="E6F0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20"/>
            <p:cNvSpPr/>
            <p:nvPr/>
          </p:nvSpPr>
          <p:spPr>
            <a:xfrm>
              <a:off x="361950" y="476250"/>
              <a:ext cx="38100" cy="38100"/>
            </a:xfrm>
            <a:prstGeom prst="ellipse">
              <a:avLst/>
            </a:prstGeom>
            <a:solidFill>
              <a:srgbClr val="E6F0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20"/>
            <p:cNvSpPr/>
            <p:nvPr/>
          </p:nvSpPr>
          <p:spPr>
            <a:xfrm>
              <a:off x="476250" y="476250"/>
              <a:ext cx="38100" cy="38100"/>
            </a:xfrm>
            <a:prstGeom prst="ellipse">
              <a:avLst/>
            </a:prstGeom>
            <a:solidFill>
              <a:srgbClr val="E6F0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7" name="Google Shape;297;p20"/>
          <p:cNvSpPr txBox="1"/>
          <p:nvPr/>
        </p:nvSpPr>
        <p:spPr>
          <a:xfrm>
            <a:off x="1000125" y="381000"/>
            <a:ext cx="6667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0A192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Literature Review (Part 2)</a:t>
            </a:r>
            <a:endParaRPr b="0" sz="2400">
              <a:solidFill>
                <a:srgbClr val="0A192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225"/>
              </a:spcBef>
              <a:spcAft>
                <a:spcPts val="0"/>
              </a:spcAft>
              <a:buNone/>
            </a:pPr>
            <a:r>
              <a:rPr b="0" lang="en" sz="13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Landmark Peer Benchmarks &amp; Defense Paradigms</a:t>
            </a:r>
            <a:endParaRPr b="0" sz="13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98" name="Google Shape;298;p20"/>
          <p:cNvGrpSpPr/>
          <p:nvPr/>
        </p:nvGrpSpPr>
        <p:grpSpPr>
          <a:xfrm>
            <a:off x="381000" y="1333500"/>
            <a:ext cx="1952700" cy="3286200"/>
            <a:chOff x="0" y="0"/>
            <a:chExt cx="1952700" cy="3286200"/>
          </a:xfrm>
        </p:grpSpPr>
        <p:sp>
          <p:nvSpPr>
            <p:cNvPr id="299" name="Google Shape;299;p20"/>
            <p:cNvSpPr/>
            <p:nvPr/>
          </p:nvSpPr>
          <p:spPr>
            <a:xfrm>
              <a:off x="0" y="0"/>
              <a:ext cx="1952700" cy="3286200"/>
            </a:xfrm>
            <a:prstGeom prst="roundRect">
              <a:avLst>
                <a:gd fmla="val 5853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20"/>
            <p:cNvSpPr/>
            <p:nvPr/>
          </p:nvSpPr>
          <p:spPr>
            <a:xfrm>
              <a:off x="0" y="0"/>
              <a:ext cx="1952700" cy="573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20"/>
            <p:cNvSpPr txBox="1"/>
            <p:nvPr/>
          </p:nvSpPr>
          <p:spPr>
            <a:xfrm>
              <a:off x="142875" y="171450"/>
              <a:ext cx="1666800" cy="30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rgbClr val="0A192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1. Static Adversarial</a:t>
              </a:r>
              <a:endParaRPr b="0" sz="1150">
                <a:solidFill>
                  <a:srgbClr val="0A192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64748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Holla et al., IEEE Access 2025</a:t>
              </a:r>
              <a:endParaRPr b="0" sz="800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METHOD</a:t>
              </a:r>
              <a:endParaRPr b="1" sz="8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3-layer MLP; clean SHAP top 8; static triad augmentation.</a:t>
              </a:r>
              <a:endParaRPr b="0" sz="8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RESULTS</a:t>
              </a:r>
              <a:endParaRPr b="1" sz="8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Clean 85% drops to 55% under PGD; defense restores to </a:t>
              </a:r>
              <a:r>
                <a:rPr b="1" lang="en" sz="80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88% / 84%</a:t>
              </a:r>
              <a:r>
                <a:rPr b="0" lang="en" sz="8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Square.</a:t>
              </a:r>
              <a:endParaRPr b="0" sz="8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DC2626"/>
                  </a:solidFill>
                  <a:latin typeface="Inter"/>
                  <a:ea typeface="Inter"/>
                  <a:cs typeface="Inter"/>
                  <a:sym typeface="Inter"/>
                </a:rPr>
                <a:t>LIMITATION</a:t>
              </a:r>
              <a:endParaRPr b="1" sz="800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Static attack staleness &amp; explicit port retention issues.</a:t>
              </a:r>
              <a:endParaRPr b="0" sz="8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02" name="Google Shape;302;p20"/>
          <p:cNvGrpSpPr/>
          <p:nvPr/>
        </p:nvGrpSpPr>
        <p:grpSpPr>
          <a:xfrm>
            <a:off x="2476500" y="1333500"/>
            <a:ext cx="1952700" cy="3286200"/>
            <a:chOff x="0" y="0"/>
            <a:chExt cx="1952700" cy="3286200"/>
          </a:xfrm>
        </p:grpSpPr>
        <p:sp>
          <p:nvSpPr>
            <p:cNvPr id="303" name="Google Shape;303;p20"/>
            <p:cNvSpPr/>
            <p:nvPr/>
          </p:nvSpPr>
          <p:spPr>
            <a:xfrm>
              <a:off x="0" y="0"/>
              <a:ext cx="1952700" cy="3286200"/>
            </a:xfrm>
            <a:prstGeom prst="roundRect">
              <a:avLst>
                <a:gd fmla="val 5853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20"/>
            <p:cNvSpPr/>
            <p:nvPr/>
          </p:nvSpPr>
          <p:spPr>
            <a:xfrm>
              <a:off x="0" y="0"/>
              <a:ext cx="1952700" cy="57300"/>
            </a:xfrm>
            <a:prstGeom prst="roundRect">
              <a:avLst>
                <a:gd fmla="val 50000" name="adj"/>
              </a:avLst>
            </a:prstGeom>
            <a:solidFill>
              <a:srgbClr val="06B6D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20"/>
            <p:cNvSpPr txBox="1"/>
            <p:nvPr/>
          </p:nvSpPr>
          <p:spPr>
            <a:xfrm>
              <a:off x="142875" y="171450"/>
              <a:ext cx="1666800" cy="30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rgbClr val="0A192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2. Dynamic Hardening</a:t>
              </a:r>
              <a:endParaRPr b="0" sz="1150">
                <a:solidFill>
                  <a:srgbClr val="0A192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64748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Olukola &amp; Rahimi, TIFS 2026</a:t>
              </a:r>
              <a:endParaRPr b="0" sz="800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06B6D4"/>
                  </a:solidFill>
                  <a:latin typeface="Inter"/>
                  <a:ea typeface="Inter"/>
                  <a:cs typeface="Inter"/>
                  <a:sym typeface="Inter"/>
                </a:rPr>
                <a:t>METHOD</a:t>
              </a:r>
              <a:endParaRPr b="1" sz="800">
                <a:solidFill>
                  <a:srgbClr val="06B6D4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4-layer MLP; clean </a:t>
              </a:r>
              <a:r>
                <a:rPr lang="en" sz="8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warm up</a:t>
              </a:r>
              <a:r>
                <a:rPr b="0" lang="en" sz="8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+ dynamic PGD with adaptive loss scheduling.</a:t>
              </a:r>
              <a:endParaRPr b="0" sz="8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06B6D4"/>
                  </a:solidFill>
                  <a:latin typeface="Inter"/>
                  <a:ea typeface="Inter"/>
                  <a:cs typeface="Inter"/>
                  <a:sym typeface="Inter"/>
                </a:rPr>
                <a:t>RESULTS</a:t>
              </a:r>
              <a:endParaRPr b="1" sz="800">
                <a:solidFill>
                  <a:srgbClr val="06B6D4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94.8%</a:t>
              </a:r>
              <a:r>
                <a:rPr b="0" lang="en" sz="8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clean accuracy and </a:t>
              </a:r>
              <a:r>
                <a:rPr b="1" lang="en" sz="80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89.4%</a:t>
              </a:r>
              <a:r>
                <a:rPr b="0" lang="en" sz="8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robust accuracy (0.08 ms latency).</a:t>
              </a:r>
              <a:endParaRPr b="0" sz="8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DC2626"/>
                  </a:solidFill>
                  <a:latin typeface="Inter"/>
                  <a:ea typeface="Inter"/>
                  <a:cs typeface="Inter"/>
                  <a:sym typeface="Inter"/>
                </a:rPr>
                <a:t>LIMITATION</a:t>
              </a:r>
              <a:endParaRPr b="1" sz="800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Operates across all 78 dimensions (+140% overhead); limited explainability.</a:t>
              </a:r>
              <a:endParaRPr b="0" sz="8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06" name="Google Shape;306;p20"/>
          <p:cNvGrpSpPr/>
          <p:nvPr/>
        </p:nvGrpSpPr>
        <p:grpSpPr>
          <a:xfrm>
            <a:off x="4572000" y="1333500"/>
            <a:ext cx="1952700" cy="3286200"/>
            <a:chOff x="0" y="0"/>
            <a:chExt cx="1952700" cy="3286200"/>
          </a:xfrm>
        </p:grpSpPr>
        <p:sp>
          <p:nvSpPr>
            <p:cNvPr id="307" name="Google Shape;307;p20"/>
            <p:cNvSpPr/>
            <p:nvPr/>
          </p:nvSpPr>
          <p:spPr>
            <a:xfrm>
              <a:off x="0" y="0"/>
              <a:ext cx="1952700" cy="3286200"/>
            </a:xfrm>
            <a:prstGeom prst="roundRect">
              <a:avLst>
                <a:gd fmla="val 5853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20"/>
            <p:cNvSpPr/>
            <p:nvPr/>
          </p:nvSpPr>
          <p:spPr>
            <a:xfrm>
              <a:off x="0" y="0"/>
              <a:ext cx="1952700" cy="57300"/>
            </a:xfrm>
            <a:prstGeom prst="roundRect">
              <a:avLst>
                <a:gd fmla="val 50000" name="adj"/>
              </a:avLst>
            </a:prstGeom>
            <a:solidFill>
              <a:srgbClr val="4F46E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20"/>
            <p:cNvSpPr txBox="1"/>
            <p:nvPr/>
          </p:nvSpPr>
          <p:spPr>
            <a:xfrm>
              <a:off x="142875" y="171450"/>
              <a:ext cx="1666800" cy="30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rgbClr val="0A192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3. Explainable AI Gate</a:t>
              </a:r>
              <a:endParaRPr b="0" sz="1150">
                <a:solidFill>
                  <a:srgbClr val="0A192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64748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Güvenç Paltun et al., 2025</a:t>
              </a:r>
              <a:endParaRPr b="0" sz="800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4F46E5"/>
                  </a:solidFill>
                  <a:latin typeface="Inter"/>
                  <a:ea typeface="Inter"/>
                  <a:cs typeface="Inter"/>
                  <a:sym typeface="Inter"/>
                </a:rPr>
                <a:t>METHOD</a:t>
              </a:r>
              <a:endParaRPr b="1" sz="800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DNN with runtime SHAP cosine similarity vs. clean centroids.</a:t>
              </a:r>
              <a:endParaRPr b="0" sz="8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4F46E5"/>
                  </a:solidFill>
                  <a:latin typeface="Inter"/>
                  <a:ea typeface="Inter"/>
                  <a:cs typeface="Inter"/>
                  <a:sym typeface="Inter"/>
                </a:rPr>
                <a:t>RESULTS</a:t>
              </a:r>
              <a:endParaRPr b="1" sz="800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95.1%</a:t>
              </a:r>
              <a:r>
                <a:rPr b="0" lang="en" sz="8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clean accuracy; detects </a:t>
              </a:r>
              <a:r>
                <a:rPr b="1" lang="en" sz="80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88.5%</a:t>
              </a:r>
              <a:r>
                <a:rPr b="0" lang="en" sz="8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of FGSM/PGD perturbations.</a:t>
              </a:r>
              <a:endParaRPr b="0" sz="8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DC2626"/>
                  </a:solidFill>
                  <a:latin typeface="Inter"/>
                  <a:ea typeface="Inter"/>
                  <a:cs typeface="Inter"/>
                  <a:sym typeface="Inter"/>
                </a:rPr>
                <a:t>LIMITATION</a:t>
              </a:r>
              <a:endParaRPr b="1" sz="800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High runtime latency (85–220 ms per flow); susceptible to scaffolding.</a:t>
              </a:r>
              <a:endParaRPr b="0" sz="8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10" name="Google Shape;310;p20"/>
          <p:cNvGrpSpPr/>
          <p:nvPr/>
        </p:nvGrpSpPr>
        <p:grpSpPr>
          <a:xfrm>
            <a:off x="6667500" y="1333500"/>
            <a:ext cx="1952700" cy="3286200"/>
            <a:chOff x="0" y="0"/>
            <a:chExt cx="1952700" cy="3286200"/>
          </a:xfrm>
        </p:grpSpPr>
        <p:sp>
          <p:nvSpPr>
            <p:cNvPr id="311" name="Google Shape;311;p20"/>
            <p:cNvSpPr/>
            <p:nvPr/>
          </p:nvSpPr>
          <p:spPr>
            <a:xfrm>
              <a:off x="0" y="0"/>
              <a:ext cx="1952700" cy="3286200"/>
            </a:xfrm>
            <a:prstGeom prst="roundRect">
              <a:avLst>
                <a:gd fmla="val 5853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20"/>
            <p:cNvSpPr/>
            <p:nvPr/>
          </p:nvSpPr>
          <p:spPr>
            <a:xfrm>
              <a:off x="0" y="0"/>
              <a:ext cx="1952700" cy="57300"/>
            </a:xfrm>
            <a:prstGeom prst="roundRect">
              <a:avLst>
                <a:gd fmla="val 50000" name="adj"/>
              </a:avLst>
            </a:prstGeom>
            <a:solidFill>
              <a:srgbClr val="0A192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20"/>
            <p:cNvSpPr txBox="1"/>
            <p:nvPr/>
          </p:nvSpPr>
          <p:spPr>
            <a:xfrm>
              <a:off x="142875" y="171450"/>
              <a:ext cx="1666800" cy="30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rgbClr val="0A192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4. Graph Attention IDS</a:t>
              </a:r>
              <a:endParaRPr b="0" sz="1150">
                <a:solidFill>
                  <a:srgbClr val="0A192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64748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Zeng et al., IEEE IoTJ 2025</a:t>
              </a:r>
              <a:endParaRPr b="0" sz="800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METHOD</a:t>
              </a:r>
              <a:endParaRPr b="1" sz="800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Dual-module channel-spatial attention over dynamic host communication graphs.</a:t>
              </a:r>
              <a:endParaRPr b="0" sz="8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RESULTS</a:t>
              </a:r>
              <a:endParaRPr b="1" sz="800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97.4%</a:t>
              </a:r>
              <a:r>
                <a:rPr b="0" lang="en" sz="8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clean accuracy; </a:t>
              </a:r>
              <a:r>
                <a:rPr b="1" lang="en" sz="80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76.2%</a:t>
              </a:r>
              <a:r>
                <a:rPr b="0" lang="en" sz="8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robust accuracy under topology evasion.</a:t>
              </a:r>
              <a:endParaRPr b="0" sz="8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DC2626"/>
                  </a:solidFill>
                  <a:latin typeface="Inter"/>
                  <a:ea typeface="Inter"/>
                  <a:cs typeface="Inter"/>
                  <a:sym typeface="Inter"/>
                </a:rPr>
                <a:t>LIMITATION</a:t>
              </a:r>
              <a:endParaRPr b="1" sz="800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Window batch delay (&gt;2.4 ms/flow); vulnerable to dummy-edge spoofing.</a:t>
              </a:r>
              <a:endParaRPr b="0" sz="8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14" name="Google Shape;314;p20"/>
          <p:cNvGrpSpPr/>
          <p:nvPr/>
        </p:nvGrpSpPr>
        <p:grpSpPr>
          <a:xfrm>
            <a:off x="480060" y="468630"/>
            <a:ext cx="380925" cy="190500"/>
            <a:chOff x="-190500" y="57150"/>
            <a:chExt cx="380925" cy="190500"/>
          </a:xfrm>
        </p:grpSpPr>
        <p:sp>
          <p:nvSpPr>
            <p:cNvPr id="315" name="Google Shape;315;p20"/>
            <p:cNvSpPr/>
            <p:nvPr/>
          </p:nvSpPr>
          <p:spPr>
            <a:xfrm>
              <a:off x="-190500" y="57150"/>
              <a:ext cx="285900" cy="190500"/>
            </a:xfrm>
            <a:custGeom>
              <a:rect b="b" l="l" r="r" t="t"/>
              <a:pathLst>
                <a:path extrusionOk="0" h="120000" w="120000">
                  <a:moveTo>
                    <a:pt x="40000" y="0"/>
                  </a:moveTo>
                  <a:lnTo>
                    <a:pt x="120000" y="0"/>
                  </a:lnTo>
                  <a:lnTo>
                    <a:pt x="8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6B6D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20"/>
            <p:cNvSpPr/>
            <p:nvPr/>
          </p:nvSpPr>
          <p:spPr>
            <a:xfrm>
              <a:off x="47625" y="57150"/>
              <a:ext cx="142800" cy="190500"/>
            </a:xfrm>
            <a:custGeom>
              <a:rect b="b" l="l" r="r" t="t"/>
              <a:pathLst>
                <a:path extrusionOk="0" h="120000" w="120000">
                  <a:moveTo>
                    <a:pt x="80000" y="0"/>
                  </a:moveTo>
                  <a:lnTo>
                    <a:pt x="120000" y="0"/>
                  </a:lnTo>
                  <a:lnTo>
                    <a:pt x="4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7" name="Google Shape;387;p22"/>
          <p:cNvPicPr preferRelativeResize="0"/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0" y="11"/>
            <a:ext cx="9144002" cy="510362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8" name="Google Shape;388;p22"/>
          <p:cNvGrpSpPr/>
          <p:nvPr/>
        </p:nvGrpSpPr>
        <p:grpSpPr>
          <a:xfrm>
            <a:off x="190500" y="190500"/>
            <a:ext cx="8572425" cy="571500"/>
            <a:chOff x="-190500" y="-47625"/>
            <a:chExt cx="8572425" cy="571500"/>
          </a:xfrm>
        </p:grpSpPr>
        <p:sp>
          <p:nvSpPr>
            <p:cNvPr id="389" name="Google Shape;389;p22"/>
            <p:cNvSpPr/>
            <p:nvPr/>
          </p:nvSpPr>
          <p:spPr>
            <a:xfrm>
              <a:off x="-190500" y="57150"/>
              <a:ext cx="285900" cy="190500"/>
            </a:xfrm>
            <a:custGeom>
              <a:rect b="b" l="l" r="r" t="t"/>
              <a:pathLst>
                <a:path extrusionOk="0" h="120000" w="120000">
                  <a:moveTo>
                    <a:pt x="40000" y="0"/>
                  </a:moveTo>
                  <a:lnTo>
                    <a:pt x="120000" y="0"/>
                  </a:lnTo>
                  <a:lnTo>
                    <a:pt x="8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6B6D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22"/>
            <p:cNvSpPr/>
            <p:nvPr/>
          </p:nvSpPr>
          <p:spPr>
            <a:xfrm>
              <a:off x="47625" y="57150"/>
              <a:ext cx="142800" cy="190500"/>
            </a:xfrm>
            <a:custGeom>
              <a:rect b="b" l="l" r="r" t="t"/>
              <a:pathLst>
                <a:path extrusionOk="0" h="120000" w="120000">
                  <a:moveTo>
                    <a:pt x="80000" y="0"/>
                  </a:moveTo>
                  <a:lnTo>
                    <a:pt x="120000" y="0"/>
                  </a:lnTo>
                  <a:lnTo>
                    <a:pt x="4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22"/>
            <p:cNvSpPr txBox="1"/>
            <p:nvPr/>
          </p:nvSpPr>
          <p:spPr>
            <a:xfrm>
              <a:off x="428625" y="-47625"/>
              <a:ext cx="79533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000">
                  <a:solidFill>
                    <a:srgbClr val="0A192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Comparative Analysis</a:t>
              </a:r>
              <a:endParaRPr b="0" sz="2000">
                <a:solidFill>
                  <a:srgbClr val="0A192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lang="en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Empirical benchmarks across 40 surveyed papers: Every best result has a limitation.</a:t>
              </a:r>
              <a:endParaRPr b="0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92" name="Google Shape;392;p22"/>
          <p:cNvGrpSpPr/>
          <p:nvPr/>
        </p:nvGrpSpPr>
        <p:grpSpPr>
          <a:xfrm>
            <a:off x="381000" y="904875"/>
            <a:ext cx="8382000" cy="266700"/>
            <a:chOff x="0" y="0"/>
            <a:chExt cx="8382000" cy="266700"/>
          </a:xfrm>
        </p:grpSpPr>
        <p:sp>
          <p:nvSpPr>
            <p:cNvPr id="393" name="Google Shape;393;p22"/>
            <p:cNvSpPr/>
            <p:nvPr/>
          </p:nvSpPr>
          <p:spPr>
            <a:xfrm>
              <a:off x="0" y="0"/>
              <a:ext cx="8382000" cy="266700"/>
            </a:xfrm>
            <a:prstGeom prst="roundRect">
              <a:avLst>
                <a:gd fmla="val 21428" name="adj"/>
              </a:avLst>
            </a:prstGeom>
            <a:solidFill>
              <a:srgbClr val="0A192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22"/>
            <p:cNvSpPr txBox="1"/>
            <p:nvPr/>
          </p:nvSpPr>
          <p:spPr>
            <a:xfrm>
              <a:off x="142875" y="0"/>
              <a:ext cx="15240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rPr>
                <a:t>Benchmark Frontier</a:t>
              </a:r>
              <a:endParaRPr b="1" sz="9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95" name="Google Shape;395;p22"/>
            <p:cNvSpPr txBox="1"/>
            <p:nvPr/>
          </p:nvSpPr>
          <p:spPr>
            <a:xfrm>
              <a:off x="1762125" y="0"/>
              <a:ext cx="12384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rPr>
                <a:t>Published Paper</a:t>
              </a:r>
              <a:endParaRPr b="1" sz="9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96" name="Google Shape;396;p22"/>
            <p:cNvSpPr txBox="1"/>
            <p:nvPr/>
          </p:nvSpPr>
          <p:spPr>
            <a:xfrm>
              <a:off x="3095625" y="0"/>
              <a:ext cx="10953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rPr>
                <a:t>Best Result</a:t>
              </a:r>
              <a:endParaRPr b="1" sz="9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97" name="Google Shape;397;p22"/>
            <p:cNvSpPr txBox="1"/>
            <p:nvPr/>
          </p:nvSpPr>
          <p:spPr>
            <a:xfrm>
              <a:off x="4286250" y="0"/>
              <a:ext cx="16191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rPr>
                <a:t>Defense Mechanism</a:t>
              </a:r>
              <a:endParaRPr b="1" sz="9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98" name="Google Shape;398;p22"/>
            <p:cNvSpPr txBox="1"/>
            <p:nvPr/>
          </p:nvSpPr>
          <p:spPr>
            <a:xfrm>
              <a:off x="6000750" y="0"/>
              <a:ext cx="22383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rPr>
                <a:t>Limitation</a:t>
              </a:r>
              <a:endParaRPr b="1" sz="9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99" name="Google Shape;399;p22"/>
          <p:cNvGrpSpPr/>
          <p:nvPr/>
        </p:nvGrpSpPr>
        <p:grpSpPr>
          <a:xfrm>
            <a:off x="381000" y="1247775"/>
            <a:ext cx="8382000" cy="495300"/>
            <a:chOff x="0" y="0"/>
            <a:chExt cx="8382000" cy="495300"/>
          </a:xfrm>
        </p:grpSpPr>
        <p:sp>
          <p:nvSpPr>
            <p:cNvPr id="400" name="Google Shape;400;p22"/>
            <p:cNvSpPr/>
            <p:nvPr/>
          </p:nvSpPr>
          <p:spPr>
            <a:xfrm>
              <a:off x="0" y="0"/>
              <a:ext cx="8382000" cy="495300"/>
            </a:xfrm>
            <a:prstGeom prst="roundRect">
              <a:avLst>
                <a:gd fmla="val 15384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22"/>
            <p:cNvSpPr/>
            <p:nvPr/>
          </p:nvSpPr>
          <p:spPr>
            <a:xfrm>
              <a:off x="0" y="95250"/>
              <a:ext cx="38100" cy="3048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22"/>
            <p:cNvSpPr txBox="1"/>
            <p:nvPr/>
          </p:nvSpPr>
          <p:spPr>
            <a:xfrm>
              <a:off x="142875" y="0"/>
              <a:ext cx="15240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Best Clean Accuracy</a:t>
              </a:r>
              <a:endParaRPr b="1" sz="950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03" name="Google Shape;403;p22"/>
            <p:cNvSpPr txBox="1"/>
            <p:nvPr/>
          </p:nvSpPr>
          <p:spPr>
            <a:xfrm>
              <a:off x="1762125" y="0"/>
              <a:ext cx="12384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" sz="8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Roshan et al. (2023) /</a:t>
              </a:r>
              <a:endParaRPr b="0" i="1" sz="8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i="1" lang="en" sz="8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Zeng et al. (2025)</a:t>
              </a:r>
              <a:endParaRPr b="0" i="1" sz="8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04" name="Google Shape;404;p22"/>
            <p:cNvSpPr txBox="1"/>
            <p:nvPr/>
          </p:nvSpPr>
          <p:spPr>
            <a:xfrm>
              <a:off x="3095625" y="0"/>
              <a:ext cx="10953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98.2% </a:t>
              </a:r>
              <a:r>
                <a:rPr b="0" lang="en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Clean</a:t>
              </a:r>
              <a:endParaRPr b="1" sz="11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05" name="Google Shape;405;p22"/>
            <p:cNvSpPr txBox="1"/>
            <p:nvPr/>
          </p:nvSpPr>
          <p:spPr>
            <a:xfrm>
              <a:off x="4286250" y="0"/>
              <a:ext cx="16191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Standard Deep MLP /</a:t>
              </a:r>
              <a:endParaRPr b="0" sz="9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Graph Attention</a:t>
              </a:r>
              <a:endParaRPr b="0" sz="9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06" name="Google Shape;406;p22"/>
            <p:cNvSpPr txBox="1"/>
            <p:nvPr/>
          </p:nvSpPr>
          <p:spPr>
            <a:xfrm>
              <a:off x="6000750" y="0"/>
              <a:ext cx="22383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DC2626"/>
                  </a:solidFill>
                  <a:latin typeface="Inter"/>
                  <a:ea typeface="Inter"/>
                  <a:cs typeface="Inter"/>
                  <a:sym typeface="Inter"/>
                </a:rPr>
                <a:t>Zero Defense:</a:t>
              </a:r>
              <a:r>
                <a:rPr lang="en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Collapses to </a:t>
              </a:r>
              <a:r>
                <a:rPr b="1" lang="en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&lt;32%</a:t>
              </a:r>
              <a:r>
                <a:rPr lang="en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under white-box PGD attacks; or incurs 2.4 ms delay.</a:t>
              </a:r>
              <a:endParaRPr sz="8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07" name="Google Shape;407;p22"/>
          <p:cNvGrpSpPr/>
          <p:nvPr/>
        </p:nvGrpSpPr>
        <p:grpSpPr>
          <a:xfrm>
            <a:off x="381000" y="1790700"/>
            <a:ext cx="8382000" cy="495300"/>
            <a:chOff x="0" y="0"/>
            <a:chExt cx="8382000" cy="495300"/>
          </a:xfrm>
        </p:grpSpPr>
        <p:sp>
          <p:nvSpPr>
            <p:cNvPr id="408" name="Google Shape;408;p22"/>
            <p:cNvSpPr/>
            <p:nvPr/>
          </p:nvSpPr>
          <p:spPr>
            <a:xfrm>
              <a:off x="0" y="0"/>
              <a:ext cx="8382000" cy="495300"/>
            </a:xfrm>
            <a:prstGeom prst="roundRect">
              <a:avLst>
                <a:gd fmla="val 15384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22"/>
            <p:cNvSpPr/>
            <p:nvPr/>
          </p:nvSpPr>
          <p:spPr>
            <a:xfrm>
              <a:off x="0" y="95250"/>
              <a:ext cx="38100" cy="304800"/>
            </a:xfrm>
            <a:prstGeom prst="roundRect">
              <a:avLst>
                <a:gd fmla="val 50000" name="adj"/>
              </a:avLst>
            </a:prstGeom>
            <a:solidFill>
              <a:srgbClr val="06B6D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22"/>
            <p:cNvSpPr txBox="1"/>
            <p:nvPr/>
          </p:nvSpPr>
          <p:spPr>
            <a:xfrm>
              <a:off x="142875" y="0"/>
              <a:ext cx="15240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Best White-Box Robustness</a:t>
              </a:r>
              <a:endParaRPr b="1" sz="950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11" name="Google Shape;411;p22"/>
            <p:cNvSpPr txBox="1"/>
            <p:nvPr/>
          </p:nvSpPr>
          <p:spPr>
            <a:xfrm>
              <a:off x="1762125" y="0"/>
              <a:ext cx="12384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" sz="8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Olukola &amp; Rahimi</a:t>
              </a:r>
              <a:endParaRPr b="0" i="1" sz="8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i="1" lang="en" sz="8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(IEEE TIFS 2026)</a:t>
              </a:r>
              <a:endParaRPr b="0" i="1" sz="8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12" name="Google Shape;412;p22"/>
            <p:cNvSpPr txBox="1"/>
            <p:nvPr/>
          </p:nvSpPr>
          <p:spPr>
            <a:xfrm>
              <a:off x="3095625" y="0"/>
              <a:ext cx="10953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89.4% </a:t>
              </a:r>
              <a:r>
                <a:rPr b="0" lang="en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PGD₂₀</a:t>
              </a:r>
              <a:endParaRPr b="1" sz="11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13" name="Google Shape;413;p22"/>
            <p:cNvSpPr txBox="1"/>
            <p:nvPr/>
          </p:nvSpPr>
          <p:spPr>
            <a:xfrm>
              <a:off x="4286250" y="0"/>
              <a:ext cx="16191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Multi-Stage Dynamic PGD</a:t>
              </a:r>
              <a:endParaRPr b="0" sz="9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14" name="Google Shape;414;p22"/>
            <p:cNvSpPr txBox="1"/>
            <p:nvPr/>
          </p:nvSpPr>
          <p:spPr>
            <a:xfrm>
              <a:off x="6000750" y="0"/>
              <a:ext cx="22383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DC2626"/>
                  </a:solidFill>
                  <a:latin typeface="Inter"/>
                  <a:ea typeface="Inter"/>
                  <a:cs typeface="Inter"/>
                  <a:sym typeface="Inter"/>
                </a:rPr>
                <a:t>Clean Drop &amp; Overhead:</a:t>
              </a:r>
              <a:r>
                <a:rPr lang="en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2.1% clean penalty; keeps all 78 dimensions (+140% GPU).</a:t>
              </a:r>
              <a:endParaRPr sz="8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15" name="Google Shape;415;p22"/>
          <p:cNvGrpSpPr/>
          <p:nvPr/>
        </p:nvGrpSpPr>
        <p:grpSpPr>
          <a:xfrm>
            <a:off x="381000" y="2333625"/>
            <a:ext cx="8382000" cy="495300"/>
            <a:chOff x="0" y="0"/>
            <a:chExt cx="8382000" cy="495300"/>
          </a:xfrm>
        </p:grpSpPr>
        <p:sp>
          <p:nvSpPr>
            <p:cNvPr id="416" name="Google Shape;416;p22"/>
            <p:cNvSpPr/>
            <p:nvPr/>
          </p:nvSpPr>
          <p:spPr>
            <a:xfrm>
              <a:off x="0" y="0"/>
              <a:ext cx="8382000" cy="495300"/>
            </a:xfrm>
            <a:prstGeom prst="roundRect">
              <a:avLst>
                <a:gd fmla="val 15384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22"/>
            <p:cNvSpPr/>
            <p:nvPr/>
          </p:nvSpPr>
          <p:spPr>
            <a:xfrm>
              <a:off x="0" y="95250"/>
              <a:ext cx="38100" cy="304800"/>
            </a:xfrm>
            <a:prstGeom prst="roundRect">
              <a:avLst>
                <a:gd fmla="val 50000" name="adj"/>
              </a:avLst>
            </a:prstGeom>
            <a:solidFill>
              <a:srgbClr val="3B82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22"/>
            <p:cNvSpPr txBox="1"/>
            <p:nvPr/>
          </p:nvSpPr>
          <p:spPr>
            <a:xfrm>
              <a:off x="142875" y="0"/>
              <a:ext cx="15240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Best Static Defense</a:t>
              </a:r>
              <a:endParaRPr b="0" sz="8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19" name="Google Shape;419;p22"/>
            <p:cNvSpPr txBox="1"/>
            <p:nvPr/>
          </p:nvSpPr>
          <p:spPr>
            <a:xfrm>
              <a:off x="1762125" y="0"/>
              <a:ext cx="12384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" sz="8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Holla et al.</a:t>
              </a:r>
              <a:endParaRPr b="0" i="1" sz="8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i="1" lang="en" sz="8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(IEEE Access 2025)</a:t>
              </a:r>
              <a:endParaRPr b="0" i="1" sz="8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20" name="Google Shape;420;p22"/>
            <p:cNvSpPr txBox="1"/>
            <p:nvPr/>
          </p:nvSpPr>
          <p:spPr>
            <a:xfrm>
              <a:off x="3095625" y="0"/>
              <a:ext cx="10953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     </a:t>
              </a:r>
              <a:r>
                <a:rPr b="1" lang="en" sz="11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88.0% </a:t>
              </a:r>
              <a:r>
                <a:rPr b="0" lang="en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Def</a:t>
              </a:r>
              <a:endParaRPr b="1" sz="11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21" name="Google Shape;421;p22"/>
            <p:cNvSpPr txBox="1"/>
            <p:nvPr/>
          </p:nvSpPr>
          <p:spPr>
            <a:xfrm>
              <a:off x="4286250" y="0"/>
              <a:ext cx="16191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Static Triad Augmentation</a:t>
              </a:r>
              <a:endParaRPr b="0" sz="9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22" name="Google Shape;422;p22"/>
            <p:cNvSpPr txBox="1"/>
            <p:nvPr/>
          </p:nvSpPr>
          <p:spPr>
            <a:xfrm>
              <a:off x="6000750" y="0"/>
              <a:ext cx="22383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DC2626"/>
                  </a:solidFill>
                  <a:latin typeface="Inter"/>
                  <a:ea typeface="Inter"/>
                  <a:cs typeface="Inter"/>
                  <a:sym typeface="Inter"/>
                </a:rPr>
                <a:t>Staleness &amp; Shortcuts:</a:t>
              </a:r>
              <a:r>
                <a:rPr lang="en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Offline attacks go stale (16–20% evasion); retained ports.</a:t>
              </a:r>
              <a:endParaRPr sz="8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23" name="Google Shape;423;p22"/>
          <p:cNvGrpSpPr/>
          <p:nvPr/>
        </p:nvGrpSpPr>
        <p:grpSpPr>
          <a:xfrm>
            <a:off x="381000" y="2876550"/>
            <a:ext cx="8382000" cy="495300"/>
            <a:chOff x="0" y="0"/>
            <a:chExt cx="8382000" cy="495300"/>
          </a:xfrm>
        </p:grpSpPr>
        <p:sp>
          <p:nvSpPr>
            <p:cNvPr id="424" name="Google Shape;424;p22"/>
            <p:cNvSpPr/>
            <p:nvPr/>
          </p:nvSpPr>
          <p:spPr>
            <a:xfrm>
              <a:off x="0" y="0"/>
              <a:ext cx="8382000" cy="495300"/>
            </a:xfrm>
            <a:prstGeom prst="roundRect">
              <a:avLst>
                <a:gd fmla="val 15384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22"/>
            <p:cNvSpPr/>
            <p:nvPr/>
          </p:nvSpPr>
          <p:spPr>
            <a:xfrm>
              <a:off x="0" y="95250"/>
              <a:ext cx="38100" cy="304800"/>
            </a:xfrm>
            <a:prstGeom prst="roundRect">
              <a:avLst>
                <a:gd fmla="val 50000" name="adj"/>
              </a:avLst>
            </a:prstGeom>
            <a:solidFill>
              <a:srgbClr val="06B6D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22"/>
            <p:cNvSpPr txBox="1"/>
            <p:nvPr/>
          </p:nvSpPr>
          <p:spPr>
            <a:xfrm>
              <a:off x="142875" y="0"/>
              <a:ext cx="15240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Best Black-Box Robustness</a:t>
              </a:r>
              <a:endParaRPr b="1" sz="950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27" name="Google Shape;427;p22"/>
            <p:cNvSpPr txBox="1"/>
            <p:nvPr/>
          </p:nvSpPr>
          <p:spPr>
            <a:xfrm>
              <a:off x="1762125" y="0"/>
              <a:ext cx="12384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" sz="8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Ennaji et al.</a:t>
              </a:r>
              <a:endParaRPr b="0" i="1" sz="8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i="1" lang="en" sz="8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(IEEE TIFS 2025)</a:t>
              </a:r>
              <a:endParaRPr b="0" i="1" sz="8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28" name="Google Shape;428;p22"/>
            <p:cNvSpPr txBox="1"/>
            <p:nvPr/>
          </p:nvSpPr>
          <p:spPr>
            <a:xfrm>
              <a:off x="3095625" y="0"/>
              <a:ext cx="10953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88.6% </a:t>
              </a:r>
              <a:r>
                <a:rPr b="0" lang="en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B-Box</a:t>
              </a:r>
              <a:endParaRPr b="1" sz="11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29" name="Google Shape;429;p22"/>
            <p:cNvSpPr txBox="1"/>
            <p:nvPr/>
          </p:nvSpPr>
          <p:spPr>
            <a:xfrm>
              <a:off x="4286250" y="0"/>
              <a:ext cx="16191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Query Perturbation &amp;</a:t>
              </a:r>
              <a:endParaRPr b="0" sz="9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Anomaly Tracking</a:t>
              </a:r>
              <a:endParaRPr b="0" sz="9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30" name="Google Shape;430;p22"/>
            <p:cNvSpPr txBox="1"/>
            <p:nvPr/>
          </p:nvSpPr>
          <p:spPr>
            <a:xfrm>
              <a:off x="6000750" y="0"/>
              <a:ext cx="22383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DC2626"/>
                  </a:solidFill>
                  <a:latin typeface="Inter"/>
                  <a:ea typeface="Inter"/>
                  <a:cs typeface="Inter"/>
                  <a:sym typeface="Inter"/>
                </a:rPr>
                <a:t>High Complexity:</a:t>
              </a:r>
              <a:r>
                <a:rPr lang="en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Stateful query tracking; vulnerable to adaptive white-box transfer.</a:t>
              </a:r>
              <a:endParaRPr sz="8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31" name="Google Shape;431;p22"/>
          <p:cNvGrpSpPr/>
          <p:nvPr/>
        </p:nvGrpSpPr>
        <p:grpSpPr>
          <a:xfrm>
            <a:off x="381000" y="3419475"/>
            <a:ext cx="8382000" cy="495300"/>
            <a:chOff x="0" y="0"/>
            <a:chExt cx="8382000" cy="495300"/>
          </a:xfrm>
        </p:grpSpPr>
        <p:sp>
          <p:nvSpPr>
            <p:cNvPr id="432" name="Google Shape;432;p22"/>
            <p:cNvSpPr/>
            <p:nvPr/>
          </p:nvSpPr>
          <p:spPr>
            <a:xfrm>
              <a:off x="0" y="0"/>
              <a:ext cx="8382000" cy="495300"/>
            </a:xfrm>
            <a:prstGeom prst="roundRect">
              <a:avLst>
                <a:gd fmla="val 15384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22"/>
            <p:cNvSpPr/>
            <p:nvPr/>
          </p:nvSpPr>
          <p:spPr>
            <a:xfrm>
              <a:off x="0" y="95250"/>
              <a:ext cx="38100" cy="304800"/>
            </a:xfrm>
            <a:prstGeom prst="roundRect">
              <a:avLst>
                <a:gd fmla="val 50000" name="adj"/>
              </a:avLst>
            </a:prstGeom>
            <a:solidFill>
              <a:srgbClr val="4F46E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22"/>
            <p:cNvSpPr txBox="1"/>
            <p:nvPr/>
          </p:nvSpPr>
          <p:spPr>
            <a:xfrm>
              <a:off x="142875" y="0"/>
              <a:ext cx="15240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Best Certified Defense</a:t>
              </a:r>
              <a:endParaRPr b="1" sz="950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35" name="Google Shape;435;p22"/>
            <p:cNvSpPr txBox="1"/>
            <p:nvPr/>
          </p:nvSpPr>
          <p:spPr>
            <a:xfrm>
              <a:off x="1762125" y="0"/>
              <a:ext cx="12384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" sz="8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Zhou et al.</a:t>
              </a:r>
              <a:endParaRPr b="0" i="1" sz="8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i="1" lang="en" sz="8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(IEEE TDSC 2023)</a:t>
              </a:r>
              <a:endParaRPr b="0" i="1" sz="8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36" name="Google Shape;436;p22"/>
            <p:cNvSpPr txBox="1"/>
            <p:nvPr/>
          </p:nvSpPr>
          <p:spPr>
            <a:xfrm>
              <a:off x="3095625" y="0"/>
              <a:ext cx="10953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Provable L₂</a:t>
              </a:r>
              <a:endParaRPr b="1" sz="10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37" name="Google Shape;437;p22"/>
            <p:cNvSpPr txBox="1"/>
            <p:nvPr/>
          </p:nvSpPr>
          <p:spPr>
            <a:xfrm>
              <a:off x="4286250" y="0"/>
              <a:ext cx="16191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Randomized Smoothing</a:t>
              </a:r>
              <a:endParaRPr b="0" sz="9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38" name="Google Shape;438;p22"/>
            <p:cNvSpPr txBox="1"/>
            <p:nvPr/>
          </p:nvSpPr>
          <p:spPr>
            <a:xfrm>
              <a:off x="6000750" y="0"/>
              <a:ext cx="22383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DC2626"/>
                  </a:solidFill>
                  <a:latin typeface="Inter"/>
                  <a:ea typeface="Inter"/>
                  <a:cs typeface="Inter"/>
                  <a:sym typeface="Inter"/>
                </a:rPr>
                <a:t>Severe Accuracy Crash:</a:t>
              </a:r>
              <a:r>
                <a:rPr lang="en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Clean accuracy dropped from </a:t>
              </a:r>
              <a:r>
                <a:rPr b="1" lang="en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94.5% → 76.2%</a:t>
              </a:r>
              <a:r>
                <a:rPr lang="en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(-18.3% penalty).</a:t>
              </a:r>
              <a:endParaRPr sz="8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39" name="Google Shape;439;p22"/>
          <p:cNvGrpSpPr/>
          <p:nvPr/>
        </p:nvGrpSpPr>
        <p:grpSpPr>
          <a:xfrm>
            <a:off x="381000" y="4019550"/>
            <a:ext cx="8382000" cy="495300"/>
            <a:chOff x="0" y="0"/>
            <a:chExt cx="8382000" cy="495300"/>
          </a:xfrm>
        </p:grpSpPr>
        <p:sp>
          <p:nvSpPr>
            <p:cNvPr id="440" name="Google Shape;440;p22"/>
            <p:cNvSpPr/>
            <p:nvPr/>
          </p:nvSpPr>
          <p:spPr>
            <a:xfrm>
              <a:off x="0" y="0"/>
              <a:ext cx="8382000" cy="495300"/>
            </a:xfrm>
            <a:prstGeom prst="roundRect">
              <a:avLst>
                <a:gd fmla="val 15384" name="adj"/>
              </a:avLst>
            </a:prstGeom>
            <a:solidFill>
              <a:srgbClr val="EFF6FF"/>
            </a:solidFill>
            <a:ln cap="flat" cmpd="sng" w="14300">
              <a:solidFill>
                <a:srgbClr val="3B82F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22"/>
            <p:cNvSpPr/>
            <p:nvPr/>
          </p:nvSpPr>
          <p:spPr>
            <a:xfrm>
              <a:off x="0" y="0"/>
              <a:ext cx="57300" cy="4953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22"/>
            <p:cNvSpPr txBox="1"/>
            <p:nvPr/>
          </p:nvSpPr>
          <p:spPr>
            <a:xfrm>
              <a:off x="190500" y="0"/>
              <a:ext cx="15717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1E40A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The Literature Dilemma</a:t>
              </a:r>
              <a:endParaRPr b="0" sz="1050">
                <a:solidFill>
                  <a:srgbClr val="1E40A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443" name="Google Shape;443;p22"/>
            <p:cNvSpPr txBox="1"/>
            <p:nvPr/>
          </p:nvSpPr>
          <p:spPr>
            <a:xfrm>
              <a:off x="1857375" y="0"/>
              <a:ext cx="63342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1E3A8A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Across 40 surveyed papers, no existing system achieves high robustness without suffering a severe penalty in clean accuracy, latency, or computational complexity.</a:t>
              </a:r>
              <a:endParaRPr b="0" sz="950">
                <a:solidFill>
                  <a:srgbClr val="1E3A8A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8" name="Google Shape;448;p23"/>
          <p:cNvPicPr preferRelativeResize="0"/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 flipH="1">
            <a:off x="0" y="19936"/>
            <a:ext cx="9144002" cy="5103629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23"/>
          <p:cNvSpPr/>
          <p:nvPr/>
        </p:nvSpPr>
        <p:spPr>
          <a:xfrm>
            <a:off x="381000" y="1047750"/>
            <a:ext cx="8382000" cy="96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50" name="Google Shape;450;p23"/>
          <p:cNvGrpSpPr/>
          <p:nvPr/>
        </p:nvGrpSpPr>
        <p:grpSpPr>
          <a:xfrm>
            <a:off x="339090" y="285750"/>
            <a:ext cx="8423835" cy="714300"/>
            <a:chOff x="-41910" y="0"/>
            <a:chExt cx="8423835" cy="714300"/>
          </a:xfrm>
        </p:grpSpPr>
        <p:sp>
          <p:nvSpPr>
            <p:cNvPr id="451" name="Google Shape;451;p23"/>
            <p:cNvSpPr/>
            <p:nvPr/>
          </p:nvSpPr>
          <p:spPr>
            <a:xfrm>
              <a:off x="-41910" y="91440"/>
              <a:ext cx="285900" cy="190500"/>
            </a:xfrm>
            <a:custGeom>
              <a:rect b="b" l="l" r="r" t="t"/>
              <a:pathLst>
                <a:path extrusionOk="0" h="120000" w="120000">
                  <a:moveTo>
                    <a:pt x="40000" y="0"/>
                  </a:moveTo>
                  <a:lnTo>
                    <a:pt x="120000" y="0"/>
                  </a:lnTo>
                  <a:lnTo>
                    <a:pt x="8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6B6D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23"/>
            <p:cNvSpPr/>
            <p:nvPr/>
          </p:nvSpPr>
          <p:spPr>
            <a:xfrm>
              <a:off x="196215" y="91440"/>
              <a:ext cx="142800" cy="190500"/>
            </a:xfrm>
            <a:custGeom>
              <a:rect b="b" l="l" r="r" t="t"/>
              <a:pathLst>
                <a:path extrusionOk="0" h="120000" w="120000">
                  <a:moveTo>
                    <a:pt x="80000" y="0"/>
                  </a:moveTo>
                  <a:lnTo>
                    <a:pt x="120000" y="0"/>
                  </a:lnTo>
                  <a:lnTo>
                    <a:pt x="4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23"/>
            <p:cNvSpPr txBox="1"/>
            <p:nvPr/>
          </p:nvSpPr>
          <p:spPr>
            <a:xfrm>
              <a:off x="428625" y="0"/>
              <a:ext cx="79533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0A192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Proposed Methodology</a:t>
              </a:r>
              <a:endParaRPr b="0" sz="2400">
                <a:solidFill>
                  <a:srgbClr val="0A192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Data Sanitization and Screening</a:t>
              </a:r>
              <a:endParaRPr b="0" sz="14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54" name="Google Shape;454;p23"/>
          <p:cNvGrpSpPr/>
          <p:nvPr/>
        </p:nvGrpSpPr>
        <p:grpSpPr>
          <a:xfrm>
            <a:off x="523875" y="1333500"/>
            <a:ext cx="1809600" cy="762000"/>
            <a:chOff x="0" y="0"/>
            <a:chExt cx="1809600" cy="762000"/>
          </a:xfrm>
        </p:grpSpPr>
        <p:sp>
          <p:nvSpPr>
            <p:cNvPr id="455" name="Google Shape;455;p23"/>
            <p:cNvSpPr/>
            <p:nvPr/>
          </p:nvSpPr>
          <p:spPr>
            <a:xfrm>
              <a:off x="0" y="0"/>
              <a:ext cx="1809600" cy="762000"/>
            </a:xfrm>
            <a:prstGeom prst="roundRect">
              <a:avLst>
                <a:gd fmla="val 50000" name="adj"/>
              </a:avLst>
            </a:prstGeom>
            <a:solidFill>
              <a:srgbClr val="F8FAFC"/>
            </a:solidFill>
            <a:ln cap="flat" cmpd="sng" w="14300">
              <a:solidFill>
                <a:srgbClr val="2563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23"/>
            <p:cNvSpPr/>
            <p:nvPr/>
          </p:nvSpPr>
          <p:spPr>
            <a:xfrm>
              <a:off x="152400" y="152400"/>
              <a:ext cx="457200" cy="457200"/>
            </a:xfrm>
            <a:prstGeom prst="ellipse">
              <a:avLst/>
            </a:prstGeom>
            <a:solidFill>
              <a:srgbClr val="DBEAF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23"/>
            <p:cNvSpPr txBox="1"/>
            <p:nvPr/>
          </p:nvSpPr>
          <p:spPr>
            <a:xfrm>
              <a:off x="152400" y="152400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01</a:t>
              </a:r>
              <a:endParaRPr b="0" sz="1100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458" name="Google Shape;458;p23"/>
            <p:cNvSpPr txBox="1"/>
            <p:nvPr/>
          </p:nvSpPr>
          <p:spPr>
            <a:xfrm>
              <a:off x="714375" y="142875"/>
              <a:ext cx="10002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Sanitization</a:t>
              </a:r>
              <a:endParaRPr b="1" sz="1100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Feature Drop</a:t>
              </a:r>
              <a:endParaRPr b="0" sz="9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459" name="Google Shape;45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24100" y="1628775"/>
            <a:ext cx="304800" cy="171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60" name="Google Shape;460;p23"/>
          <p:cNvGrpSpPr/>
          <p:nvPr/>
        </p:nvGrpSpPr>
        <p:grpSpPr>
          <a:xfrm>
            <a:off x="519113" y="2281238"/>
            <a:ext cx="1819200" cy="2057400"/>
            <a:chOff x="-4762" y="-4762"/>
            <a:chExt cx="1819200" cy="2057400"/>
          </a:xfrm>
        </p:grpSpPr>
        <p:pic>
          <p:nvPicPr>
            <p:cNvPr id="461" name="Google Shape;461;p2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-4762" y="-4762"/>
              <a:ext cx="1819200" cy="2057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2" name="Google Shape;462;p2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0" y="0"/>
              <a:ext cx="1809600" cy="57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3" name="Google Shape;463;p23"/>
            <p:cNvSpPr txBox="1"/>
            <p:nvPr/>
          </p:nvSpPr>
          <p:spPr>
            <a:xfrm>
              <a:off x="142875" y="190500"/>
              <a:ext cx="1524000" cy="176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Data Sanitization</a:t>
              </a:r>
              <a:endParaRPr b="1" sz="1200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788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Permanently remove non-generalizable shortcuts: </a:t>
              </a:r>
              <a:r>
                <a:rPr b="1" lang="en" sz="788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Src/Dst IP, Ports, Timestamp, Flow ID</a:t>
              </a:r>
              <a:r>
                <a:rPr b="0" lang="en" sz="788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b="0" sz="788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788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Result:</a:t>
              </a:r>
              <a:r>
                <a:rPr b="0" lang="en" sz="788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1" lang="en" sz="788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69 continuous features</a:t>
              </a:r>
              <a:r>
                <a:rPr b="0" lang="en" sz="788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remain.</a:t>
              </a:r>
              <a:endParaRPr b="0" sz="788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64" name="Google Shape;464;p23"/>
          <p:cNvGrpSpPr/>
          <p:nvPr/>
        </p:nvGrpSpPr>
        <p:grpSpPr>
          <a:xfrm>
            <a:off x="2619375" y="1333500"/>
            <a:ext cx="1809600" cy="762000"/>
            <a:chOff x="0" y="0"/>
            <a:chExt cx="1809600" cy="762000"/>
          </a:xfrm>
        </p:grpSpPr>
        <p:sp>
          <p:nvSpPr>
            <p:cNvPr id="465" name="Google Shape;465;p23"/>
            <p:cNvSpPr/>
            <p:nvPr/>
          </p:nvSpPr>
          <p:spPr>
            <a:xfrm>
              <a:off x="0" y="0"/>
              <a:ext cx="1809600" cy="762000"/>
            </a:xfrm>
            <a:prstGeom prst="roundRect">
              <a:avLst>
                <a:gd fmla="val 50000" name="adj"/>
              </a:avLst>
            </a:prstGeom>
            <a:solidFill>
              <a:srgbClr val="F8FAFC"/>
            </a:solidFill>
            <a:ln cap="flat" cmpd="sng" w="14300">
              <a:solidFill>
                <a:srgbClr val="2563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23"/>
            <p:cNvSpPr/>
            <p:nvPr/>
          </p:nvSpPr>
          <p:spPr>
            <a:xfrm>
              <a:off x="152400" y="152400"/>
              <a:ext cx="457200" cy="457200"/>
            </a:xfrm>
            <a:prstGeom prst="ellipse">
              <a:avLst/>
            </a:prstGeom>
            <a:solidFill>
              <a:srgbClr val="DBEAF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23"/>
            <p:cNvSpPr txBox="1"/>
            <p:nvPr/>
          </p:nvSpPr>
          <p:spPr>
            <a:xfrm>
              <a:off x="152400" y="152400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02</a:t>
              </a:r>
              <a:endParaRPr b="0" sz="1100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468" name="Google Shape;468;p23"/>
            <p:cNvSpPr txBox="1"/>
            <p:nvPr/>
          </p:nvSpPr>
          <p:spPr>
            <a:xfrm>
              <a:off x="714375" y="142875"/>
              <a:ext cx="10002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Partitioning</a:t>
              </a:r>
              <a:endParaRPr b="1" sz="1100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Train/Val/Test</a:t>
              </a:r>
              <a:endParaRPr b="0" sz="9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469" name="Google Shape;46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19600" y="1628775"/>
            <a:ext cx="304800" cy="171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70" name="Google Shape;470;p23"/>
          <p:cNvGrpSpPr/>
          <p:nvPr/>
        </p:nvGrpSpPr>
        <p:grpSpPr>
          <a:xfrm>
            <a:off x="2614613" y="2281238"/>
            <a:ext cx="1819200" cy="2057400"/>
            <a:chOff x="-4762" y="-4762"/>
            <a:chExt cx="1819200" cy="2057400"/>
          </a:xfrm>
        </p:grpSpPr>
        <p:pic>
          <p:nvPicPr>
            <p:cNvPr id="471" name="Google Shape;471;p2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-4762" y="-4762"/>
              <a:ext cx="1819200" cy="2057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2" name="Google Shape;472;p2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0" y="0"/>
              <a:ext cx="1809600" cy="57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3" name="Google Shape;473;p23"/>
            <p:cNvSpPr txBox="1"/>
            <p:nvPr/>
          </p:nvSpPr>
          <p:spPr>
            <a:xfrm>
              <a:off x="142875" y="190500"/>
              <a:ext cx="1524000" cy="176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Strict Partitioning</a:t>
              </a:r>
              <a:endParaRPr b="1" sz="1200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788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80% Dev Set</a:t>
              </a:r>
              <a:r>
                <a:rPr b="0" lang="en" sz="788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(5M flows) / </a:t>
              </a:r>
              <a:r>
                <a:rPr b="1" lang="en" sz="788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20% Test Set</a:t>
              </a:r>
              <a:r>
                <a:rPr b="0" lang="en" sz="788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(1.2M flows) locked Day 0.</a:t>
              </a:r>
              <a:endParaRPr b="0" sz="788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788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Dev split: </a:t>
              </a:r>
              <a:r>
                <a:rPr b="1" lang="en" sz="788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72% Train</a:t>
              </a:r>
              <a:r>
                <a:rPr b="0" lang="en" sz="788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 / </a:t>
              </a:r>
              <a:r>
                <a:rPr b="1" lang="en" sz="788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8% Val</a:t>
              </a:r>
              <a:r>
                <a:rPr b="0" lang="en" sz="788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b="0" sz="788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788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Parameters fitted strictly on 72% Train.</a:t>
              </a:r>
              <a:endParaRPr b="0" sz="788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74" name="Google Shape;474;p23"/>
          <p:cNvGrpSpPr/>
          <p:nvPr/>
        </p:nvGrpSpPr>
        <p:grpSpPr>
          <a:xfrm>
            <a:off x="4714875" y="1333500"/>
            <a:ext cx="1809600" cy="762000"/>
            <a:chOff x="0" y="0"/>
            <a:chExt cx="1809600" cy="762000"/>
          </a:xfrm>
        </p:grpSpPr>
        <p:sp>
          <p:nvSpPr>
            <p:cNvPr id="475" name="Google Shape;475;p23"/>
            <p:cNvSpPr/>
            <p:nvPr/>
          </p:nvSpPr>
          <p:spPr>
            <a:xfrm>
              <a:off x="0" y="0"/>
              <a:ext cx="1809600" cy="762000"/>
            </a:xfrm>
            <a:prstGeom prst="roundRect">
              <a:avLst>
                <a:gd fmla="val 50000" name="adj"/>
              </a:avLst>
            </a:prstGeom>
            <a:solidFill>
              <a:srgbClr val="F8FAFC"/>
            </a:solidFill>
            <a:ln cap="flat" cmpd="sng" w="14300">
              <a:solidFill>
                <a:srgbClr val="2563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23"/>
            <p:cNvSpPr/>
            <p:nvPr/>
          </p:nvSpPr>
          <p:spPr>
            <a:xfrm>
              <a:off x="152400" y="152400"/>
              <a:ext cx="457200" cy="457200"/>
            </a:xfrm>
            <a:prstGeom prst="ellipse">
              <a:avLst/>
            </a:prstGeom>
            <a:solidFill>
              <a:srgbClr val="DBEAF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23"/>
            <p:cNvSpPr txBox="1"/>
            <p:nvPr/>
          </p:nvSpPr>
          <p:spPr>
            <a:xfrm>
              <a:off x="152400" y="152400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03</a:t>
              </a:r>
              <a:endParaRPr b="0" sz="1100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478" name="Google Shape;478;p23"/>
            <p:cNvSpPr txBox="1"/>
            <p:nvPr/>
          </p:nvSpPr>
          <p:spPr>
            <a:xfrm>
              <a:off x="714375" y="142875"/>
              <a:ext cx="10002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MI Screening</a:t>
              </a:r>
              <a:endParaRPr b="1" sz="1100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Shannon MI</a:t>
              </a:r>
              <a:endParaRPr b="0" sz="9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479" name="Google Shape;47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15100" y="1628775"/>
            <a:ext cx="304800" cy="171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80" name="Google Shape;480;p23"/>
          <p:cNvGrpSpPr/>
          <p:nvPr/>
        </p:nvGrpSpPr>
        <p:grpSpPr>
          <a:xfrm>
            <a:off x="4710113" y="2281238"/>
            <a:ext cx="1819200" cy="2057400"/>
            <a:chOff x="-4762" y="-4762"/>
            <a:chExt cx="1819200" cy="2057400"/>
          </a:xfrm>
        </p:grpSpPr>
        <p:pic>
          <p:nvPicPr>
            <p:cNvPr id="481" name="Google Shape;481;p2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-4762" y="-4762"/>
              <a:ext cx="1819200" cy="2057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2" name="Google Shape;482;p2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0" y="0"/>
              <a:ext cx="1809600" cy="57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3" name="Google Shape;483;p23"/>
            <p:cNvSpPr txBox="1"/>
            <p:nvPr/>
          </p:nvSpPr>
          <p:spPr>
            <a:xfrm>
              <a:off x="142875" y="190500"/>
              <a:ext cx="1524000" cy="176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Feature Selection</a:t>
              </a:r>
              <a:endParaRPr b="1" sz="1200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788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Mutual Information filters 69 down to </a:t>
              </a:r>
              <a:r>
                <a:rPr b="1" lang="en" sz="788">
                  <a:solidFill>
                    <a:schemeClr val="accent1"/>
                  </a:solidFill>
                  <a:latin typeface="Inter"/>
                  <a:ea typeface="Inter"/>
                  <a:cs typeface="Inter"/>
                  <a:sym typeface="Inter"/>
                </a:rPr>
                <a:t>top 40 candidates</a:t>
              </a:r>
              <a:r>
                <a:rPr b="0" lang="en" sz="788">
                  <a:solidFill>
                    <a:schemeClr val="accent1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b="0" sz="788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788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Preserves semantics (unlike PCA).</a:t>
              </a:r>
              <a:endParaRPr b="0" sz="788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788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Accelerates Shapley computation by </a:t>
              </a:r>
              <a:r>
                <a:rPr b="1" lang="en" sz="788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&gt;60%</a:t>
              </a:r>
              <a:r>
                <a:rPr b="0" lang="en" sz="788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b="0" sz="788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84" name="Google Shape;484;p23"/>
          <p:cNvGrpSpPr/>
          <p:nvPr/>
        </p:nvGrpSpPr>
        <p:grpSpPr>
          <a:xfrm>
            <a:off x="6810375" y="1333500"/>
            <a:ext cx="1809600" cy="762000"/>
            <a:chOff x="0" y="0"/>
            <a:chExt cx="1809600" cy="762000"/>
          </a:xfrm>
        </p:grpSpPr>
        <p:sp>
          <p:nvSpPr>
            <p:cNvPr id="485" name="Google Shape;485;p23"/>
            <p:cNvSpPr/>
            <p:nvPr/>
          </p:nvSpPr>
          <p:spPr>
            <a:xfrm>
              <a:off x="0" y="0"/>
              <a:ext cx="1809600" cy="762000"/>
            </a:xfrm>
            <a:prstGeom prst="roundRect">
              <a:avLst>
                <a:gd fmla="val 50000" name="adj"/>
              </a:avLst>
            </a:prstGeom>
            <a:solidFill>
              <a:srgbClr val="F8FAFC"/>
            </a:solidFill>
            <a:ln cap="flat" cmpd="sng" w="14300">
              <a:solidFill>
                <a:srgbClr val="2563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23"/>
            <p:cNvSpPr/>
            <p:nvPr/>
          </p:nvSpPr>
          <p:spPr>
            <a:xfrm>
              <a:off x="152400" y="152400"/>
              <a:ext cx="457200" cy="457200"/>
            </a:xfrm>
            <a:prstGeom prst="ellipse">
              <a:avLst/>
            </a:prstGeom>
            <a:solidFill>
              <a:srgbClr val="DBEAF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23"/>
            <p:cNvSpPr txBox="1"/>
            <p:nvPr/>
          </p:nvSpPr>
          <p:spPr>
            <a:xfrm>
              <a:off x="152400" y="152400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04</a:t>
              </a:r>
              <a:endParaRPr b="0" sz="1100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488" name="Google Shape;488;p23"/>
            <p:cNvSpPr txBox="1"/>
            <p:nvPr/>
          </p:nvSpPr>
          <p:spPr>
            <a:xfrm>
              <a:off x="714375" y="142875"/>
              <a:ext cx="10002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SMOTE</a:t>
              </a:r>
              <a:endParaRPr b="1" sz="1100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Balancing</a:t>
              </a:r>
              <a:endParaRPr b="0" sz="9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89" name="Google Shape;489;p23"/>
          <p:cNvGrpSpPr/>
          <p:nvPr/>
        </p:nvGrpSpPr>
        <p:grpSpPr>
          <a:xfrm>
            <a:off x="6805613" y="2281238"/>
            <a:ext cx="1819200" cy="2057400"/>
            <a:chOff x="-4762" y="-4762"/>
            <a:chExt cx="1819200" cy="2057400"/>
          </a:xfrm>
        </p:grpSpPr>
        <p:pic>
          <p:nvPicPr>
            <p:cNvPr id="490" name="Google Shape;490;p2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-4762" y="-4762"/>
              <a:ext cx="1819200" cy="2057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1" name="Google Shape;491;p2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0" y="0"/>
              <a:ext cx="1809600" cy="57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23"/>
            <p:cNvSpPr txBox="1"/>
            <p:nvPr/>
          </p:nvSpPr>
          <p:spPr>
            <a:xfrm>
              <a:off x="142875" y="190500"/>
              <a:ext cx="1524000" cy="176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Oversampling</a:t>
              </a:r>
              <a:endParaRPr b="1" sz="1200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788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Continuous-Only SMOTE applied </a:t>
              </a:r>
              <a:r>
                <a:rPr b="1" lang="en" sz="788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strictly within Dtrain</a:t>
              </a:r>
              <a:r>
                <a:rPr b="0" lang="en" sz="788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(72% Train).</a:t>
              </a:r>
              <a:endParaRPr b="0" sz="788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788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Balances minority attacks without interpolating discrete flags.</a:t>
              </a:r>
              <a:endParaRPr b="0" sz="788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493" name="Google Shape;493;p23"/>
          <p:cNvSpPr/>
          <p:nvPr/>
        </p:nvSpPr>
        <p:spPr>
          <a:xfrm>
            <a:off x="381000" y="4762500"/>
            <a:ext cx="8382000" cy="96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8" name="Google Shape;498;p24"/>
          <p:cNvPicPr preferRelativeResize="0"/>
          <p:nvPr/>
        </p:nvPicPr>
        <p:blipFill rotWithShape="1">
          <a:blip r:embed="rId3">
            <a:alphaModFix amt="40000"/>
          </a:blip>
          <a:srcRect b="0" l="387" r="387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99" name="Google Shape;499;p24"/>
          <p:cNvGrpSpPr/>
          <p:nvPr/>
        </p:nvGrpSpPr>
        <p:grpSpPr>
          <a:xfrm>
            <a:off x="381000" y="190500"/>
            <a:ext cx="8381925" cy="714300"/>
            <a:chOff x="0" y="-47625"/>
            <a:chExt cx="8381925" cy="714300"/>
          </a:xfrm>
        </p:grpSpPr>
        <p:sp>
          <p:nvSpPr>
            <p:cNvPr id="500" name="Google Shape;500;p24"/>
            <p:cNvSpPr/>
            <p:nvPr/>
          </p:nvSpPr>
          <p:spPr>
            <a:xfrm>
              <a:off x="0" y="0"/>
              <a:ext cx="285900" cy="190500"/>
            </a:xfrm>
            <a:custGeom>
              <a:rect b="b" l="l" r="r" t="t"/>
              <a:pathLst>
                <a:path extrusionOk="0" h="120000" w="120000">
                  <a:moveTo>
                    <a:pt x="40000" y="0"/>
                  </a:moveTo>
                  <a:lnTo>
                    <a:pt x="120000" y="0"/>
                  </a:lnTo>
                  <a:lnTo>
                    <a:pt x="8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6B6D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24"/>
            <p:cNvSpPr/>
            <p:nvPr/>
          </p:nvSpPr>
          <p:spPr>
            <a:xfrm>
              <a:off x="238125" y="0"/>
              <a:ext cx="142800" cy="190500"/>
            </a:xfrm>
            <a:custGeom>
              <a:rect b="b" l="l" r="r" t="t"/>
              <a:pathLst>
                <a:path extrusionOk="0" h="120000" w="120000">
                  <a:moveTo>
                    <a:pt x="80000" y="0"/>
                  </a:moveTo>
                  <a:lnTo>
                    <a:pt x="120000" y="0"/>
                  </a:lnTo>
                  <a:lnTo>
                    <a:pt x="4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24"/>
            <p:cNvSpPr txBox="1"/>
            <p:nvPr/>
          </p:nvSpPr>
          <p:spPr>
            <a:xfrm>
              <a:off x="428625" y="-47625"/>
              <a:ext cx="79533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400">
                  <a:solidFill>
                    <a:srgbClr val="0A192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Proposed Methodology: SHAP</a:t>
              </a:r>
              <a:endParaRPr b="0" sz="2400">
                <a:solidFill>
                  <a:srgbClr val="0A192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Our Approach: Measure feature stability under attack to keep only the 27 most reliable features.</a:t>
              </a:r>
              <a:endParaRPr b="0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03" name="Google Shape;503;p24"/>
          <p:cNvGrpSpPr/>
          <p:nvPr/>
        </p:nvGrpSpPr>
        <p:grpSpPr>
          <a:xfrm>
            <a:off x="381000" y="1095375"/>
            <a:ext cx="4048200" cy="1428900"/>
            <a:chOff x="0" y="0"/>
            <a:chExt cx="4048200" cy="1428900"/>
          </a:xfrm>
        </p:grpSpPr>
        <p:sp>
          <p:nvSpPr>
            <p:cNvPr id="504" name="Google Shape;504;p24"/>
            <p:cNvSpPr/>
            <p:nvPr/>
          </p:nvSpPr>
          <p:spPr>
            <a:xfrm>
              <a:off x="0" y="0"/>
              <a:ext cx="40482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14300">
              <a:solidFill>
                <a:srgbClr val="DBEA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24"/>
            <p:cNvSpPr txBox="1"/>
            <p:nvPr/>
          </p:nvSpPr>
          <p:spPr>
            <a:xfrm>
              <a:off x="190500" y="142875"/>
              <a:ext cx="36672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>01 Clean-Only Vulnerability</a:t>
              </a:r>
              <a:endParaRPr b="1" sz="12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t>Selecting features only on normal traffic is dangerous: features that look important on clean data are often the easiest for attackers to manipulate.</a:t>
              </a:r>
              <a:endParaRPr b="1" sz="1000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endParaRPr b="0"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06" name="Google Shape;506;p24"/>
          <p:cNvGrpSpPr/>
          <p:nvPr/>
        </p:nvGrpSpPr>
        <p:grpSpPr>
          <a:xfrm>
            <a:off x="4714875" y="1095375"/>
            <a:ext cx="4048200" cy="1428900"/>
            <a:chOff x="0" y="0"/>
            <a:chExt cx="4048200" cy="1428900"/>
          </a:xfrm>
        </p:grpSpPr>
        <p:sp>
          <p:nvSpPr>
            <p:cNvPr id="507" name="Google Shape;507;p24"/>
            <p:cNvSpPr/>
            <p:nvPr/>
          </p:nvSpPr>
          <p:spPr>
            <a:xfrm>
              <a:off x="0" y="0"/>
              <a:ext cx="40482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14300">
              <a:solidFill>
                <a:srgbClr val="DBEA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24"/>
            <p:cNvSpPr txBox="1"/>
            <p:nvPr/>
          </p:nvSpPr>
          <p:spPr>
            <a:xfrm>
              <a:off x="190500" y="142875"/>
              <a:ext cx="36672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>02 Dual-State Attribution Auditing</a:t>
              </a:r>
              <a:endParaRPr b="1" sz="12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8892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475569"/>
                </a:buClr>
                <a:buSzPts val="950"/>
                <a:buFont typeface="Inter"/>
                <a:buChar char="●"/>
              </a:pPr>
              <a:r>
                <a:t>Train a baseline model on 40 candidates. Attack it with 20-step PGD, then compare feature importance on normal vs. attacked traffic.</a:t>
              </a:r>
              <a:endParaRPr b="0"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88925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475569"/>
                </a:buClr>
                <a:buSzPts val="950"/>
                <a:buFont typeface="Inter"/>
                <a:buChar char="●"/>
              </a:pPr>
              <a:endParaRPr b="0"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09" name="Google Shape;509;p24"/>
          <p:cNvGrpSpPr/>
          <p:nvPr/>
        </p:nvGrpSpPr>
        <p:grpSpPr>
          <a:xfrm>
            <a:off x="381000" y="2667000"/>
            <a:ext cx="4048200" cy="1381200"/>
            <a:chOff x="0" y="0"/>
            <a:chExt cx="4048200" cy="1381200"/>
          </a:xfrm>
        </p:grpSpPr>
        <p:sp>
          <p:nvSpPr>
            <p:cNvPr id="510" name="Google Shape;510;p24"/>
            <p:cNvSpPr/>
            <p:nvPr/>
          </p:nvSpPr>
          <p:spPr>
            <a:xfrm>
              <a:off x="0" y="0"/>
              <a:ext cx="4048200" cy="1381200"/>
            </a:xfrm>
            <a:prstGeom prst="roundRect">
              <a:avLst>
                <a:gd fmla="val 8275" name="adj"/>
              </a:avLst>
            </a:prstGeom>
            <a:solidFill>
              <a:srgbClr val="FFFFFF"/>
            </a:solidFill>
            <a:ln cap="flat" cmpd="sng" w="14300">
              <a:solidFill>
                <a:srgbClr val="DBEA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24"/>
            <p:cNvSpPr txBox="1"/>
            <p:nvPr/>
          </p:nvSpPr>
          <p:spPr>
            <a:xfrm>
              <a:off x="190500" y="142875"/>
              <a:ext cx="36672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5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03 </a:t>
              </a:r>
              <a:r>
                <a:rPr b="1" lang="en" sz="115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Exact Mathematical Stability Score (S_j)</a:t>
              </a:r>
              <a:endParaRPr b="1" sz="115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450"/>
                </a:spcAft>
                <a:buNone/>
              </a:pPr>
              <a:r>
                <a:rPr b="0" lang="en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Quantifying individual feature robustness under perturbation:</a:t>
              </a:r>
              <a:endParaRPr b="0"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id="512" name="Google Shape;512;p24"/>
            <p:cNvPicPr preferRelativeResize="0"/>
            <p:nvPr/>
          </p:nvPicPr>
          <p:blipFill rotWithShape="1">
            <a:blip r:embed="rId4">
              <a:alphaModFix/>
            </a:blip>
            <a:srcRect b="6210" l="0" r="0" t="6201"/>
            <a:stretch/>
          </p:blipFill>
          <p:spPr>
            <a:xfrm>
              <a:off x="366755" y="533688"/>
              <a:ext cx="3314700" cy="8094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13" name="Google Shape;513;p24"/>
          <p:cNvGrpSpPr/>
          <p:nvPr/>
        </p:nvGrpSpPr>
        <p:grpSpPr>
          <a:xfrm>
            <a:off x="4714875" y="2667000"/>
            <a:ext cx="4048200" cy="1381200"/>
            <a:chOff x="0" y="0"/>
            <a:chExt cx="4048200" cy="1381200"/>
          </a:xfrm>
        </p:grpSpPr>
        <p:sp>
          <p:nvSpPr>
            <p:cNvPr id="514" name="Google Shape;514;p24"/>
            <p:cNvSpPr/>
            <p:nvPr/>
          </p:nvSpPr>
          <p:spPr>
            <a:xfrm>
              <a:off x="0" y="0"/>
              <a:ext cx="4048200" cy="1381200"/>
            </a:xfrm>
            <a:prstGeom prst="roundRect">
              <a:avLst>
                <a:gd fmla="val 8275" name="adj"/>
              </a:avLst>
            </a:prstGeom>
            <a:solidFill>
              <a:srgbClr val="FFFFFF"/>
            </a:solidFill>
            <a:ln cap="flat" cmpd="sng" w="14300">
              <a:solidFill>
                <a:srgbClr val="DBEA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24"/>
            <p:cNvSpPr txBox="1"/>
            <p:nvPr/>
          </p:nvSpPr>
          <p:spPr>
            <a:xfrm>
              <a:off x="190500" y="142875"/>
              <a:ext cx="36672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5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04 </a:t>
              </a:r>
              <a:r>
                <a:rPr b="1" lang="en" sz="115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80% Cumulative Stability-Mass Selection</a:t>
              </a:r>
              <a:endParaRPr b="1" sz="115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450"/>
                </a:spcAft>
                <a:buNone/>
              </a:pPr>
              <a:r>
                <a:rPr b="0" lang="en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Rank features descending and select minimal subset </a:t>
              </a:r>
              <a:r>
                <a:rPr b="1" lang="en" sz="95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m</a:t>
              </a:r>
              <a:r>
                <a:rPr b="0" lang="en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satisfying:</a:t>
              </a:r>
              <a:endParaRPr b="0"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id="516" name="Google Shape;516;p24"/>
            <p:cNvPicPr preferRelativeResize="0"/>
            <p:nvPr/>
          </p:nvPicPr>
          <p:blipFill rotWithShape="1">
            <a:blip r:embed="rId5">
              <a:alphaModFix/>
            </a:blip>
            <a:srcRect b="12373" l="0" r="0" t="12365"/>
            <a:stretch/>
          </p:blipFill>
          <p:spPr>
            <a:xfrm>
              <a:off x="847725" y="609600"/>
              <a:ext cx="2880300" cy="627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17" name="Google Shape;517;p24"/>
          <p:cNvGrpSpPr/>
          <p:nvPr/>
        </p:nvGrpSpPr>
        <p:grpSpPr>
          <a:xfrm>
            <a:off x="381000" y="4191000"/>
            <a:ext cx="4048200" cy="400200"/>
            <a:chOff x="0" y="0"/>
            <a:chExt cx="4048200" cy="400200"/>
          </a:xfrm>
        </p:grpSpPr>
        <p:sp>
          <p:nvSpPr>
            <p:cNvPr id="518" name="Google Shape;518;p24"/>
            <p:cNvSpPr/>
            <p:nvPr/>
          </p:nvSpPr>
          <p:spPr>
            <a:xfrm>
              <a:off x="0" y="0"/>
              <a:ext cx="4048200" cy="400200"/>
            </a:xfrm>
            <a:prstGeom prst="roundRect">
              <a:avLst>
                <a:gd fmla="val 19047" name="adj"/>
              </a:avLst>
            </a:prstGeom>
            <a:solidFill>
              <a:srgbClr val="112240"/>
            </a:solidFill>
            <a:ln cap="flat" cmpd="sng" w="14300">
              <a:solidFill>
                <a:srgbClr val="06B6D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24"/>
            <p:cNvSpPr txBox="1"/>
            <p:nvPr/>
          </p:nvSpPr>
          <p:spPr>
            <a:xfrm>
              <a:off x="0" y="0"/>
              <a:ext cx="404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06B6D4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27 </a:t>
              </a:r>
              <a:r>
                <a:rPr b="1" lang="en" sz="10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STABLE FEATURES SELECTED</a:t>
              </a:r>
              <a:endParaRPr b="0" sz="1600">
                <a:solidFill>
                  <a:srgbClr val="06B6D4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520" name="Google Shape;520;p24"/>
          <p:cNvGrpSpPr/>
          <p:nvPr/>
        </p:nvGrpSpPr>
        <p:grpSpPr>
          <a:xfrm>
            <a:off x="4714875" y="4191000"/>
            <a:ext cx="4048200" cy="400200"/>
            <a:chOff x="0" y="0"/>
            <a:chExt cx="4048200" cy="400200"/>
          </a:xfrm>
        </p:grpSpPr>
        <p:sp>
          <p:nvSpPr>
            <p:cNvPr id="521" name="Google Shape;521;p24"/>
            <p:cNvSpPr/>
            <p:nvPr/>
          </p:nvSpPr>
          <p:spPr>
            <a:xfrm>
              <a:off x="0" y="0"/>
              <a:ext cx="4048200" cy="400200"/>
            </a:xfrm>
            <a:prstGeom prst="roundRect">
              <a:avLst>
                <a:gd fmla="val 19047" name="adj"/>
              </a:avLst>
            </a:prstGeom>
            <a:solidFill>
              <a:srgbClr val="112240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24"/>
            <p:cNvSpPr txBox="1"/>
            <p:nvPr/>
          </p:nvSpPr>
          <p:spPr>
            <a:xfrm>
              <a:off x="0" y="0"/>
              <a:ext cx="404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DC262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13 </a:t>
              </a:r>
              <a:r>
                <a:rPr b="1" lang="en" sz="1000">
                  <a:solidFill>
                    <a:srgbClr val="E2E8F0"/>
                  </a:solidFill>
                  <a:latin typeface="Inter"/>
                  <a:ea typeface="Inter"/>
                  <a:cs typeface="Inter"/>
                  <a:sym typeface="Inter"/>
                </a:rPr>
                <a:t>VOLATILE FEATURES PRUNED</a:t>
              </a:r>
              <a:endParaRPr b="0" sz="1600">
                <a:solidFill>
                  <a:srgbClr val="DC262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7" name="Google Shape;527;p25"/>
          <p:cNvPicPr preferRelativeResize="0"/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0" y="19936"/>
            <a:ext cx="9144002" cy="5103629"/>
          </a:xfrm>
          <a:prstGeom prst="rect">
            <a:avLst/>
          </a:prstGeom>
          <a:noFill/>
          <a:ln>
            <a:noFill/>
          </a:ln>
        </p:spPr>
      </p:pic>
      <p:sp>
        <p:nvSpPr>
          <p:cNvPr id="528" name="Google Shape;528;p25"/>
          <p:cNvSpPr/>
          <p:nvPr/>
        </p:nvSpPr>
        <p:spPr>
          <a:xfrm>
            <a:off x="381000" y="1000125"/>
            <a:ext cx="8382000" cy="96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25"/>
          <p:cNvSpPr/>
          <p:nvPr/>
        </p:nvSpPr>
        <p:spPr>
          <a:xfrm>
            <a:off x="381000" y="4667250"/>
            <a:ext cx="8382000" cy="96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30" name="Google Shape;530;p25"/>
          <p:cNvGrpSpPr/>
          <p:nvPr/>
        </p:nvGrpSpPr>
        <p:grpSpPr>
          <a:xfrm>
            <a:off x="381000" y="228600"/>
            <a:ext cx="8381925" cy="714300"/>
            <a:chOff x="0" y="-57150"/>
            <a:chExt cx="8381925" cy="714300"/>
          </a:xfrm>
        </p:grpSpPr>
        <p:sp>
          <p:nvSpPr>
            <p:cNvPr id="531" name="Google Shape;531;p25"/>
            <p:cNvSpPr/>
            <p:nvPr/>
          </p:nvSpPr>
          <p:spPr>
            <a:xfrm>
              <a:off x="0" y="0"/>
              <a:ext cx="285900" cy="190500"/>
            </a:xfrm>
            <a:custGeom>
              <a:rect b="b" l="l" r="r" t="t"/>
              <a:pathLst>
                <a:path extrusionOk="0" h="120000" w="120000">
                  <a:moveTo>
                    <a:pt x="40000" y="0"/>
                  </a:moveTo>
                  <a:lnTo>
                    <a:pt x="120000" y="0"/>
                  </a:lnTo>
                  <a:lnTo>
                    <a:pt x="8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6B6D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25"/>
            <p:cNvSpPr/>
            <p:nvPr/>
          </p:nvSpPr>
          <p:spPr>
            <a:xfrm>
              <a:off x="238125" y="0"/>
              <a:ext cx="142800" cy="190500"/>
            </a:xfrm>
            <a:custGeom>
              <a:rect b="b" l="l" r="r" t="t"/>
              <a:pathLst>
                <a:path extrusionOk="0" h="120000" w="120000">
                  <a:moveTo>
                    <a:pt x="80000" y="0"/>
                  </a:moveTo>
                  <a:lnTo>
                    <a:pt x="120000" y="0"/>
                  </a:lnTo>
                  <a:lnTo>
                    <a:pt x="4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25"/>
            <p:cNvSpPr txBox="1"/>
            <p:nvPr/>
          </p:nvSpPr>
          <p:spPr>
            <a:xfrm>
              <a:off x="428625" y="-57150"/>
              <a:ext cx="79533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900">
                  <a:solidFill>
                    <a:srgbClr val="0A192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Proposed Methodology : Two-Phase Dynamic</a:t>
              </a:r>
              <a:r>
                <a:rPr lang="en" sz="1900">
                  <a:solidFill>
                    <a:srgbClr val="0A192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 Training</a:t>
              </a:r>
              <a:endParaRPr b="0" sz="1900">
                <a:solidFill>
                  <a:srgbClr val="0A192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450"/>
                </a:spcAft>
                <a:buNone/>
              </a:pPr>
              <a:r>
                <a:rPr b="0" lang="en" sz="10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Curriculum training to mitigate static attack staleness.</a:t>
              </a:r>
              <a:endParaRPr b="0" sz="10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34" name="Google Shape;534;p25"/>
          <p:cNvGrpSpPr/>
          <p:nvPr/>
        </p:nvGrpSpPr>
        <p:grpSpPr>
          <a:xfrm>
            <a:off x="381000" y="1095375"/>
            <a:ext cx="8382000" cy="685800"/>
            <a:chOff x="0" y="0"/>
            <a:chExt cx="8382000" cy="685800"/>
          </a:xfrm>
        </p:grpSpPr>
        <p:sp>
          <p:nvSpPr>
            <p:cNvPr id="535" name="Google Shape;535;p25"/>
            <p:cNvSpPr/>
            <p:nvPr/>
          </p:nvSpPr>
          <p:spPr>
            <a:xfrm>
              <a:off x="0" y="0"/>
              <a:ext cx="8382000" cy="685800"/>
            </a:xfrm>
            <a:prstGeom prst="roundRect">
              <a:avLst>
                <a:gd fmla="val 11111" name="adj"/>
              </a:avLst>
            </a:prstGeom>
            <a:solidFill>
              <a:schemeClr val="l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25"/>
            <p:cNvSpPr/>
            <p:nvPr/>
          </p:nvSpPr>
          <p:spPr>
            <a:xfrm>
              <a:off x="0" y="190500"/>
              <a:ext cx="38100" cy="3048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25"/>
            <p:cNvSpPr txBox="1"/>
            <p:nvPr/>
          </p:nvSpPr>
          <p:spPr>
            <a:xfrm>
              <a:off x="190500" y="114300"/>
              <a:ext cx="8001000" cy="457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>Why Two Phases?</a:t>
              </a:r>
              <a:endParaRPr b="1" sz="935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t>Attacking a brand-new model from day one ruins its learning. It must learn normal traffic patterns first before facing adversarial attacks.</a:t>
              </a:r>
              <a:endParaRPr b="0" sz="808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38" name="Google Shape;538;p25"/>
          <p:cNvGrpSpPr/>
          <p:nvPr/>
        </p:nvGrpSpPr>
        <p:grpSpPr>
          <a:xfrm>
            <a:off x="381000" y="1924050"/>
            <a:ext cx="4048200" cy="1619100"/>
            <a:chOff x="0" y="0"/>
            <a:chExt cx="4048200" cy="1619100"/>
          </a:xfrm>
        </p:grpSpPr>
        <p:sp>
          <p:nvSpPr>
            <p:cNvPr id="539" name="Google Shape;539;p25"/>
            <p:cNvSpPr/>
            <p:nvPr/>
          </p:nvSpPr>
          <p:spPr>
            <a:xfrm>
              <a:off x="0" y="0"/>
              <a:ext cx="4048200" cy="1619100"/>
            </a:xfrm>
            <a:prstGeom prst="roundRect">
              <a:avLst>
                <a:gd fmla="val 7058" name="adj"/>
              </a:avLst>
            </a:prstGeom>
            <a:solidFill>
              <a:schemeClr val="l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25"/>
            <p:cNvSpPr/>
            <p:nvPr/>
          </p:nvSpPr>
          <p:spPr>
            <a:xfrm>
              <a:off x="0" y="190500"/>
              <a:ext cx="38100" cy="3810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25"/>
            <p:cNvSpPr txBox="1"/>
            <p:nvPr/>
          </p:nvSpPr>
          <p:spPr>
            <a:xfrm>
              <a:off x="190500" y="142875"/>
              <a:ext cx="3667200" cy="1333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>PHASE 1: Representation Warmup (Epochs 1–10)</a:t>
              </a:r>
              <a:endParaRPr b="1" sz="900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t>Train exclusively on clean data using standard cross-entropy loss so the model builds solid, accurate classification foundations.</a:t>
              </a:r>
              <a:endParaRPr b="1" sz="1300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8892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950"/>
                <a:buFont typeface="Inter"/>
                <a:buChar char="●"/>
              </a:pPr>
              <a:endParaRPr b="0" sz="9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88925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334155"/>
                </a:buClr>
                <a:buSzPts val="950"/>
                <a:buFont typeface="Inter"/>
                <a:buChar char="●"/>
              </a:pPr>
              <a:endParaRPr b="0" sz="9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42" name="Google Shape;542;p25"/>
          <p:cNvGrpSpPr/>
          <p:nvPr/>
        </p:nvGrpSpPr>
        <p:grpSpPr>
          <a:xfrm>
            <a:off x="4714875" y="1924050"/>
            <a:ext cx="4048200" cy="1619100"/>
            <a:chOff x="0" y="0"/>
            <a:chExt cx="4048200" cy="1619100"/>
          </a:xfrm>
        </p:grpSpPr>
        <p:sp>
          <p:nvSpPr>
            <p:cNvPr id="543" name="Google Shape;543;p25"/>
            <p:cNvSpPr/>
            <p:nvPr/>
          </p:nvSpPr>
          <p:spPr>
            <a:xfrm>
              <a:off x="0" y="0"/>
              <a:ext cx="4048200" cy="1619100"/>
            </a:xfrm>
            <a:prstGeom prst="roundRect">
              <a:avLst>
                <a:gd fmla="val 7058" name="adj"/>
              </a:avLst>
            </a:prstGeom>
            <a:solidFill>
              <a:schemeClr val="l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25"/>
            <p:cNvSpPr/>
            <p:nvPr/>
          </p:nvSpPr>
          <p:spPr>
            <a:xfrm>
              <a:off x="0" y="190500"/>
              <a:ext cx="38100" cy="381000"/>
            </a:xfrm>
            <a:prstGeom prst="roundRect">
              <a:avLst>
                <a:gd fmla="val 50000" name="adj"/>
              </a:avLst>
            </a:prstGeom>
            <a:solidFill>
              <a:srgbClr val="0369A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25"/>
            <p:cNvSpPr txBox="1"/>
            <p:nvPr/>
          </p:nvSpPr>
          <p:spPr>
            <a:xfrm>
              <a:off x="190500" y="142875"/>
              <a:ext cx="3667200" cy="1333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>PHASE 2: Dynamic Online Training (Epochs 11–50)</a:t>
              </a:r>
              <a:endParaRPr b="1" sz="900">
                <a:solidFill>
                  <a:srgbClr val="0369A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t>Generate live, fresh PGD attacks for every training batch to defeat evolving attacks without hurting normal accuracy.</a:t>
              </a:r>
              <a:endParaRPr b="1" sz="1300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8892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950"/>
                <a:buFont typeface="Inter"/>
                <a:buChar char="●"/>
              </a:pPr>
              <a:endParaRPr b="0" sz="9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88925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334155"/>
                </a:buClr>
                <a:buSzPts val="950"/>
                <a:buFont typeface="Inter"/>
                <a:buChar char="●"/>
              </a:pPr>
              <a:endParaRPr b="0" sz="9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46" name="Google Shape;546;p25"/>
          <p:cNvGrpSpPr/>
          <p:nvPr/>
        </p:nvGrpSpPr>
        <p:grpSpPr>
          <a:xfrm>
            <a:off x="381000" y="3657600"/>
            <a:ext cx="8382000" cy="800100"/>
            <a:chOff x="0" y="0"/>
            <a:chExt cx="8382000" cy="800100"/>
          </a:xfrm>
        </p:grpSpPr>
        <p:sp>
          <p:nvSpPr>
            <p:cNvPr id="547" name="Google Shape;547;p25"/>
            <p:cNvSpPr/>
            <p:nvPr/>
          </p:nvSpPr>
          <p:spPr>
            <a:xfrm>
              <a:off x="0" y="0"/>
              <a:ext cx="8382000" cy="800100"/>
            </a:xfrm>
            <a:prstGeom prst="roundRect">
              <a:avLst>
                <a:gd fmla="val 9523" name="adj"/>
              </a:avLst>
            </a:prstGeom>
            <a:solidFill>
              <a:srgbClr val="112240"/>
            </a:solidFill>
            <a:ln cap="flat" cmpd="sng" w="9525">
              <a:solidFill>
                <a:srgbClr val="06B6D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25"/>
            <p:cNvSpPr txBox="1"/>
            <p:nvPr/>
          </p:nvSpPr>
          <p:spPr>
            <a:xfrm>
              <a:off x="190500" y="114300"/>
              <a:ext cx="80010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>Joint Objective:</a:t>
              </a:r>
              <a:endParaRPr b="1" sz="950">
                <a:solidFill>
                  <a:srgbClr val="00F0FF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t>Defends against evolving attacks while keeping normal traffic accuracy high.</a:t>
              </a:r>
              <a:endParaRPr b="1" sz="950">
                <a:solidFill>
                  <a:srgbClr val="00F0FF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pic>
        <p:nvPicPr>
          <p:cNvPr id="549" name="Google Shape;549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40150" y="3842050"/>
            <a:ext cx="3938226" cy="26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4" name="Google Shape;554;p26"/>
          <p:cNvPicPr preferRelativeResize="0"/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0" y="19936"/>
            <a:ext cx="9144002" cy="5103629"/>
          </a:xfrm>
          <a:prstGeom prst="rect">
            <a:avLst/>
          </a:prstGeom>
          <a:noFill/>
          <a:ln>
            <a:noFill/>
          </a:ln>
        </p:spPr>
      </p:pic>
      <p:sp>
        <p:nvSpPr>
          <p:cNvPr id="555" name="Google Shape;555;p26"/>
          <p:cNvSpPr/>
          <p:nvPr/>
        </p:nvSpPr>
        <p:spPr>
          <a:xfrm>
            <a:off x="381000" y="952500"/>
            <a:ext cx="8382000" cy="96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26"/>
          <p:cNvSpPr/>
          <p:nvPr/>
        </p:nvSpPr>
        <p:spPr>
          <a:xfrm>
            <a:off x="381000" y="4667250"/>
            <a:ext cx="8382000" cy="96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57" name="Google Shape;557;p26"/>
          <p:cNvGrpSpPr/>
          <p:nvPr/>
        </p:nvGrpSpPr>
        <p:grpSpPr>
          <a:xfrm>
            <a:off x="381000" y="342900"/>
            <a:ext cx="380925" cy="190500"/>
            <a:chOff x="0" y="0"/>
            <a:chExt cx="380925" cy="190500"/>
          </a:xfrm>
        </p:grpSpPr>
        <p:sp>
          <p:nvSpPr>
            <p:cNvPr id="558" name="Google Shape;558;p26"/>
            <p:cNvSpPr/>
            <p:nvPr/>
          </p:nvSpPr>
          <p:spPr>
            <a:xfrm>
              <a:off x="0" y="0"/>
              <a:ext cx="285900" cy="190500"/>
            </a:xfrm>
            <a:custGeom>
              <a:rect b="b" l="l" r="r" t="t"/>
              <a:pathLst>
                <a:path extrusionOk="0" h="120000" w="120000">
                  <a:moveTo>
                    <a:pt x="40000" y="0"/>
                  </a:moveTo>
                  <a:lnTo>
                    <a:pt x="120000" y="0"/>
                  </a:lnTo>
                  <a:lnTo>
                    <a:pt x="8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6B6D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26"/>
            <p:cNvSpPr/>
            <p:nvPr/>
          </p:nvSpPr>
          <p:spPr>
            <a:xfrm>
              <a:off x="238125" y="0"/>
              <a:ext cx="142800" cy="190500"/>
            </a:xfrm>
            <a:custGeom>
              <a:rect b="b" l="l" r="r" t="t"/>
              <a:pathLst>
                <a:path extrusionOk="0" h="120000" w="120000">
                  <a:moveTo>
                    <a:pt x="80000" y="0"/>
                  </a:moveTo>
                  <a:lnTo>
                    <a:pt x="120000" y="0"/>
                  </a:lnTo>
                  <a:lnTo>
                    <a:pt x="4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60" name="Google Shape;560;p26"/>
          <p:cNvSpPr txBox="1"/>
          <p:nvPr/>
        </p:nvSpPr>
        <p:spPr>
          <a:xfrm>
            <a:off x="809625" y="228600"/>
            <a:ext cx="79533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000">
                <a:solidFill>
                  <a:srgbClr val="0A192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Dataset &amp; Environment</a:t>
            </a:r>
            <a:endParaRPr b="0" sz="2000">
              <a:solidFill>
                <a:srgbClr val="0A192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225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Experimental configuration and technical architecture parameters</a:t>
            </a:r>
            <a:endParaRPr b="0" sz="10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561" name="Google Shape;561;p26"/>
          <p:cNvGrpSpPr/>
          <p:nvPr/>
        </p:nvGrpSpPr>
        <p:grpSpPr>
          <a:xfrm>
            <a:off x="381000" y="1095375"/>
            <a:ext cx="2600400" cy="3333900"/>
            <a:chOff x="0" y="0"/>
            <a:chExt cx="2600400" cy="3333900"/>
          </a:xfrm>
        </p:grpSpPr>
        <p:sp>
          <p:nvSpPr>
            <p:cNvPr id="562" name="Google Shape;562;p26"/>
            <p:cNvSpPr/>
            <p:nvPr/>
          </p:nvSpPr>
          <p:spPr>
            <a:xfrm>
              <a:off x="0" y="0"/>
              <a:ext cx="2600400" cy="3333900"/>
            </a:xfrm>
            <a:prstGeom prst="roundRect">
              <a:avLst>
                <a:gd fmla="val 4395" name="adj"/>
              </a:avLst>
            </a:prstGeom>
            <a:solidFill>
              <a:srgbClr val="FFFFFF"/>
            </a:solidFill>
            <a:ln cap="flat" cmpd="sng" w="143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26"/>
            <p:cNvSpPr/>
            <p:nvPr/>
          </p:nvSpPr>
          <p:spPr>
            <a:xfrm>
              <a:off x="142875" y="171450"/>
              <a:ext cx="57300" cy="3429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26"/>
            <p:cNvSpPr txBox="1"/>
            <p:nvPr/>
          </p:nvSpPr>
          <p:spPr>
            <a:xfrm>
              <a:off x="285750" y="142875"/>
              <a:ext cx="21717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50">
                  <a:solidFill>
                    <a:srgbClr val="0A192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1. Benchmark Dataset</a:t>
              </a:r>
              <a:endParaRPr b="0" sz="1250">
                <a:solidFill>
                  <a:srgbClr val="0A192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CSE-CIC-</a:t>
              </a:r>
              <a:r>
                <a:rPr b="1" lang="en" sz="9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IDS 2018</a:t>
              </a:r>
              <a:r>
                <a:rPr b="1" lang="en" sz="9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: </a:t>
              </a:r>
              <a:r>
                <a:rPr lang="en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from dhoogla/csecicids201</a:t>
              </a:r>
              <a:r>
                <a:rPr lang="en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8</a:t>
              </a:r>
              <a:r>
                <a:rPr lang="en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14 attacks </a:t>
              </a:r>
              <a:r>
                <a:rPr lang="en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across</a:t>
              </a:r>
              <a:r>
                <a:rPr lang="en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7 </a:t>
              </a:r>
              <a:r>
                <a:rPr lang="en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profiles</a:t>
              </a:r>
              <a:r>
                <a:rPr lang="en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; curated Parquet flows replace raw 250 GB dataset</a:t>
              </a:r>
              <a:endParaRPr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Total Valid Flow Volume:</a:t>
              </a:r>
              <a:endParaRPr b="1" sz="9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800">
                  <a:solidFill>
                    <a:srgbClr val="2563E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6,320,003</a:t>
              </a:r>
              <a:endParaRPr b="0" sz="1250">
                <a:solidFill>
                  <a:srgbClr val="0A192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flows (post-sanitization).</a:t>
              </a:r>
              <a:endParaRPr b="0" sz="8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Partition Breakdown:</a:t>
              </a:r>
              <a:endParaRPr b="1" sz="900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82575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475569"/>
                </a:buClr>
                <a:buSzPts val="850"/>
                <a:buFont typeface="Inter"/>
                <a:buChar char="●"/>
              </a:pPr>
              <a:r>
                <a:rPr b="1" lang="en" sz="85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72% Core Train:</a:t>
              </a:r>
              <a:r>
                <a:rPr b="0" lang="en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4.55M flows</a:t>
              </a:r>
              <a:endParaRPr b="0" sz="8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82575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475569"/>
                </a:buClr>
                <a:buSzPts val="850"/>
                <a:buFont typeface="Inter"/>
                <a:buChar char="●"/>
              </a:pPr>
              <a:r>
                <a:rPr b="1" lang="en" sz="85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8% Validation:</a:t>
              </a:r>
              <a:r>
                <a:rPr b="0" lang="en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505K flows</a:t>
              </a:r>
              <a:endParaRPr b="0" sz="8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82575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475569"/>
                </a:buClr>
                <a:buSzPts val="850"/>
                <a:buFont typeface="Inter"/>
                <a:buChar char="●"/>
              </a:pPr>
              <a:r>
                <a:rPr b="1" lang="en" sz="85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20% Frozen Test:</a:t>
              </a:r>
              <a:r>
                <a:rPr b="0" lang="en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1.26M flows</a:t>
              </a:r>
              <a:endParaRPr b="0" sz="8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65" name="Google Shape;565;p26"/>
          <p:cNvGrpSpPr/>
          <p:nvPr/>
        </p:nvGrpSpPr>
        <p:grpSpPr>
          <a:xfrm>
            <a:off x="3267075" y="1095375"/>
            <a:ext cx="2600400" cy="3333900"/>
            <a:chOff x="0" y="0"/>
            <a:chExt cx="2600400" cy="3333900"/>
          </a:xfrm>
        </p:grpSpPr>
        <p:sp>
          <p:nvSpPr>
            <p:cNvPr id="566" name="Google Shape;566;p26"/>
            <p:cNvSpPr/>
            <p:nvPr/>
          </p:nvSpPr>
          <p:spPr>
            <a:xfrm>
              <a:off x="0" y="0"/>
              <a:ext cx="2600400" cy="3333900"/>
            </a:xfrm>
            <a:prstGeom prst="roundRect">
              <a:avLst>
                <a:gd fmla="val 4395" name="adj"/>
              </a:avLst>
            </a:prstGeom>
            <a:solidFill>
              <a:srgbClr val="FFFFFF"/>
            </a:solidFill>
            <a:ln cap="flat" cmpd="sng" w="14300">
              <a:solidFill>
                <a:srgbClr val="06B6D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26"/>
            <p:cNvSpPr/>
            <p:nvPr/>
          </p:nvSpPr>
          <p:spPr>
            <a:xfrm>
              <a:off x="142875" y="171450"/>
              <a:ext cx="57300" cy="342900"/>
            </a:xfrm>
            <a:prstGeom prst="roundRect">
              <a:avLst>
                <a:gd fmla="val 50000" name="adj"/>
              </a:avLst>
            </a:prstGeom>
            <a:solidFill>
              <a:srgbClr val="06B6D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26"/>
            <p:cNvSpPr txBox="1"/>
            <p:nvPr/>
          </p:nvSpPr>
          <p:spPr>
            <a:xfrm>
              <a:off x="285750" y="142875"/>
              <a:ext cx="21717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50">
                  <a:solidFill>
                    <a:srgbClr val="0A192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2. Platform &amp; Stack</a:t>
              </a:r>
              <a:endParaRPr b="0" sz="1250">
                <a:solidFill>
                  <a:srgbClr val="0A192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GPU Platform:</a:t>
              </a:r>
              <a:br>
                <a:rPr b="1" lang="en" sz="95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b="0" lang="en" sz="92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AMD Radeon RX 7600 (8 GB VRAM, RDNA 3 architecture).</a:t>
              </a:r>
              <a:endParaRPr b="1" sz="950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Software Stack:</a:t>
              </a:r>
              <a:br>
                <a:rPr b="1" lang="en" sz="95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b="0" lang="en" sz="92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Python 3.10, PyTorch, ROCm Windows, Adversarial Robustness Toolbox.</a:t>
              </a:r>
              <a:endParaRPr b="1" sz="950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Batch Optimization:</a:t>
              </a:r>
              <a:br>
                <a:rPr b="1" lang="en" sz="95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b="0" lang="en" sz="92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Vectorized GPU tensor operations </a:t>
              </a:r>
              <a:r>
                <a:rPr b="0" lang="en" sz="92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(Batch Size = 2048)</a:t>
              </a:r>
              <a:r>
                <a:rPr b="0" lang="en" sz="92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, mixed-precision (~70 min for 50 epochs).</a:t>
              </a:r>
              <a:endParaRPr b="1" sz="950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69" name="Google Shape;569;p26"/>
          <p:cNvGrpSpPr/>
          <p:nvPr/>
        </p:nvGrpSpPr>
        <p:grpSpPr>
          <a:xfrm>
            <a:off x="6153150" y="1095375"/>
            <a:ext cx="2600400" cy="3333900"/>
            <a:chOff x="0" y="0"/>
            <a:chExt cx="2600400" cy="3333900"/>
          </a:xfrm>
        </p:grpSpPr>
        <p:sp>
          <p:nvSpPr>
            <p:cNvPr id="570" name="Google Shape;570;p26"/>
            <p:cNvSpPr/>
            <p:nvPr/>
          </p:nvSpPr>
          <p:spPr>
            <a:xfrm>
              <a:off x="0" y="0"/>
              <a:ext cx="2600400" cy="3333900"/>
            </a:xfrm>
            <a:prstGeom prst="roundRect">
              <a:avLst>
                <a:gd fmla="val 4395" name="adj"/>
              </a:avLst>
            </a:prstGeom>
            <a:solidFill>
              <a:srgbClr val="FFFFFF"/>
            </a:solidFill>
            <a:ln cap="flat" cmpd="sng" w="14300">
              <a:solidFill>
                <a:srgbClr val="2A64C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26"/>
            <p:cNvSpPr/>
            <p:nvPr/>
          </p:nvSpPr>
          <p:spPr>
            <a:xfrm>
              <a:off x="142875" y="171450"/>
              <a:ext cx="57300" cy="342900"/>
            </a:xfrm>
            <a:prstGeom prst="roundRect">
              <a:avLst>
                <a:gd fmla="val 50000" name="adj"/>
              </a:avLst>
            </a:prstGeom>
            <a:solidFill>
              <a:srgbClr val="1E3A8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26"/>
            <p:cNvSpPr txBox="1"/>
            <p:nvPr/>
          </p:nvSpPr>
          <p:spPr>
            <a:xfrm>
              <a:off x="285750" y="142875"/>
              <a:ext cx="2171700" cy="2571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50">
                  <a:solidFill>
                    <a:srgbClr val="0A192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3. Target Architecture</a:t>
              </a:r>
              <a:endParaRPr b="0" sz="1250">
                <a:solidFill>
                  <a:srgbClr val="0A192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Topology:</a:t>
              </a:r>
              <a:br>
                <a:rPr b="0" lang="en" sz="950">
                  <a:solidFill>
                    <a:srgbClr val="0A192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</a:br>
              <a:r>
                <a:rPr b="0" lang="en" sz="92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4-Layer Multi-Layer Perceptron (MLP).</a:t>
              </a:r>
              <a:endParaRPr b="0" sz="950">
                <a:solidFill>
                  <a:srgbClr val="0A192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Layer Design:</a:t>
              </a:r>
              <a:br>
                <a:rPr b="0" lang="en" sz="950">
                  <a:solidFill>
                    <a:srgbClr val="0A192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</a:br>
              <a:r>
                <a:rPr b="0" lang="en" sz="92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Linear → Batch Normalization → ReLU Activation → Dropout (p = 0.30).</a:t>
              </a:r>
              <a:endParaRPr b="0" sz="950">
                <a:solidFill>
                  <a:srgbClr val="0A192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800"/>
                </a:spcAft>
                <a:buNone/>
              </a:pPr>
              <a:r>
                <a:rPr b="1" lang="en" sz="95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Complexity:</a:t>
              </a:r>
              <a:br>
                <a:rPr b="0" lang="en" sz="950">
                  <a:solidFill>
                    <a:srgbClr val="0A192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</a:br>
              <a:r>
                <a:rPr b="0" lang="en" sz="92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Compact feed-forward pass (~14,000 parameters) ensuring high GPU throughput.</a:t>
              </a:r>
              <a:endParaRPr b="0" sz="950">
                <a:solidFill>
                  <a:srgbClr val="0A192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grpSp>
          <p:nvGrpSpPr>
            <p:cNvPr id="573" name="Google Shape;573;p26"/>
            <p:cNvGrpSpPr/>
            <p:nvPr/>
          </p:nvGrpSpPr>
          <p:grpSpPr>
            <a:xfrm>
              <a:off x="142875" y="1994540"/>
              <a:ext cx="2266950" cy="228610"/>
              <a:chOff x="0" y="-815335"/>
              <a:chExt cx="2266950" cy="228610"/>
            </a:xfrm>
          </p:grpSpPr>
          <p:sp>
            <p:nvSpPr>
              <p:cNvPr id="574" name="Google Shape;574;p26"/>
              <p:cNvSpPr/>
              <p:nvPr/>
            </p:nvSpPr>
            <p:spPr>
              <a:xfrm>
                <a:off x="0" y="-815325"/>
                <a:ext cx="304800" cy="228600"/>
              </a:xfrm>
              <a:prstGeom prst="roundRect">
                <a:avLst>
                  <a:gd fmla="val 25000" name="adj"/>
                </a:avLst>
              </a:prstGeom>
              <a:solidFill>
                <a:srgbClr val="F1F5F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5" name="Google Shape;575;p26"/>
              <p:cNvSpPr txBox="1"/>
              <p:nvPr/>
            </p:nvSpPr>
            <p:spPr>
              <a:xfrm>
                <a:off x="0" y="-815335"/>
                <a:ext cx="304800" cy="2286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00">
                    <a:solidFill>
                      <a:srgbClr val="1E3A8A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27</a:t>
                </a:r>
                <a:endParaRPr b="1" sz="900">
                  <a:solidFill>
                    <a:srgbClr val="1E3A8A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  <p:sp>
            <p:nvSpPr>
              <p:cNvPr id="576" name="Google Shape;576;p26"/>
              <p:cNvSpPr txBox="1"/>
              <p:nvPr/>
            </p:nvSpPr>
            <p:spPr>
              <a:xfrm>
                <a:off x="323850" y="-815335"/>
                <a:ext cx="152400" cy="2286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00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→</a:t>
                </a:r>
                <a:endParaRPr sz="9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77" name="Google Shape;577;p26"/>
              <p:cNvSpPr/>
              <p:nvPr/>
            </p:nvSpPr>
            <p:spPr>
              <a:xfrm>
                <a:off x="495300" y="-815325"/>
                <a:ext cx="362100" cy="228600"/>
              </a:xfrm>
              <a:prstGeom prst="roundRect">
                <a:avLst>
                  <a:gd fmla="val 25000" name="adj"/>
                </a:avLst>
              </a:prstGeom>
              <a:solidFill>
                <a:srgbClr val="1E3A8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8" name="Google Shape;578;p26"/>
              <p:cNvSpPr txBox="1"/>
              <p:nvPr/>
            </p:nvSpPr>
            <p:spPr>
              <a:xfrm>
                <a:off x="495300" y="-815335"/>
                <a:ext cx="362100" cy="2286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00">
                    <a:solidFill>
                      <a:srgbClr val="FFFFFF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128</a:t>
                </a:r>
                <a:endParaRPr b="1" sz="900">
                  <a:solidFill>
                    <a:srgbClr val="FFFFFF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  <p:sp>
            <p:nvSpPr>
              <p:cNvPr id="579" name="Google Shape;579;p26"/>
              <p:cNvSpPr txBox="1"/>
              <p:nvPr/>
            </p:nvSpPr>
            <p:spPr>
              <a:xfrm>
                <a:off x="876300" y="-815335"/>
                <a:ext cx="152400" cy="2286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00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→</a:t>
                </a:r>
                <a:endParaRPr sz="9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80" name="Google Shape;580;p26"/>
              <p:cNvSpPr/>
              <p:nvPr/>
            </p:nvSpPr>
            <p:spPr>
              <a:xfrm>
                <a:off x="1047750" y="-815325"/>
                <a:ext cx="304800" cy="228600"/>
              </a:xfrm>
              <a:prstGeom prst="roundRect">
                <a:avLst>
                  <a:gd fmla="val 25000" name="adj"/>
                </a:avLst>
              </a:prstGeom>
              <a:solidFill>
                <a:srgbClr val="EFF6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1" name="Google Shape;581;p26"/>
              <p:cNvSpPr txBox="1"/>
              <p:nvPr/>
            </p:nvSpPr>
            <p:spPr>
              <a:xfrm>
                <a:off x="1047750" y="-815335"/>
                <a:ext cx="304800" cy="2286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00">
                    <a:solidFill>
                      <a:srgbClr val="2563EB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64</a:t>
                </a:r>
                <a:endParaRPr b="1" sz="900">
                  <a:solidFill>
                    <a:srgbClr val="2563EB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  <p:sp>
            <p:nvSpPr>
              <p:cNvPr id="582" name="Google Shape;582;p26"/>
              <p:cNvSpPr txBox="1"/>
              <p:nvPr/>
            </p:nvSpPr>
            <p:spPr>
              <a:xfrm>
                <a:off x="1371600" y="-815335"/>
                <a:ext cx="152400" cy="2286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00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→</a:t>
                </a:r>
                <a:endParaRPr sz="9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83" name="Google Shape;583;p26"/>
              <p:cNvSpPr/>
              <p:nvPr/>
            </p:nvSpPr>
            <p:spPr>
              <a:xfrm>
                <a:off x="1543050" y="-815325"/>
                <a:ext cx="304800" cy="228600"/>
              </a:xfrm>
              <a:prstGeom prst="roundRect">
                <a:avLst>
                  <a:gd fmla="val 25000" name="adj"/>
                </a:avLst>
              </a:prstGeom>
              <a:solidFill>
                <a:srgbClr val="EFF6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4" name="Google Shape;584;p26"/>
              <p:cNvSpPr txBox="1"/>
              <p:nvPr/>
            </p:nvSpPr>
            <p:spPr>
              <a:xfrm>
                <a:off x="1543050" y="-815335"/>
                <a:ext cx="304800" cy="2286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00">
                    <a:solidFill>
                      <a:srgbClr val="2563EB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32</a:t>
                </a:r>
                <a:endParaRPr b="1" sz="900">
                  <a:solidFill>
                    <a:srgbClr val="2563EB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  <p:sp>
            <p:nvSpPr>
              <p:cNvPr id="585" name="Google Shape;585;p26"/>
              <p:cNvSpPr txBox="1"/>
              <p:nvPr/>
            </p:nvSpPr>
            <p:spPr>
              <a:xfrm>
                <a:off x="1866900" y="-815335"/>
                <a:ext cx="152400" cy="2286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00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→</a:t>
                </a:r>
                <a:endParaRPr sz="9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86" name="Google Shape;586;p26"/>
              <p:cNvSpPr/>
              <p:nvPr/>
            </p:nvSpPr>
            <p:spPr>
              <a:xfrm>
                <a:off x="2038350" y="-815325"/>
                <a:ext cx="228600" cy="228600"/>
              </a:xfrm>
              <a:prstGeom prst="roundRect">
                <a:avLst>
                  <a:gd fmla="val 25000" name="adj"/>
                </a:avLst>
              </a:prstGeom>
              <a:solidFill>
                <a:srgbClr val="F0F9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7" name="Google Shape;587;p26"/>
              <p:cNvSpPr txBox="1"/>
              <p:nvPr/>
            </p:nvSpPr>
            <p:spPr>
              <a:xfrm>
                <a:off x="2038350" y="-815335"/>
                <a:ext cx="228600" cy="2286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00">
                    <a:solidFill>
                      <a:srgbClr val="06B6D4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2</a:t>
                </a:r>
                <a:endParaRPr b="1" sz="900">
                  <a:solidFill>
                    <a:srgbClr val="06B6D4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</p:grp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2" name="Google Shape;592;p27"/>
          <p:cNvPicPr preferRelativeResize="0"/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H="1">
            <a:off x="0" y="19936"/>
            <a:ext cx="9144002" cy="5103629"/>
          </a:xfrm>
          <a:prstGeom prst="rect">
            <a:avLst/>
          </a:prstGeom>
          <a:noFill/>
          <a:ln>
            <a:noFill/>
          </a:ln>
        </p:spPr>
      </p:pic>
      <p:sp>
        <p:nvSpPr>
          <p:cNvPr id="593" name="Google Shape;593;p27"/>
          <p:cNvSpPr/>
          <p:nvPr/>
        </p:nvSpPr>
        <p:spPr>
          <a:xfrm>
            <a:off x="251450" y="676175"/>
            <a:ext cx="8600100" cy="4010100"/>
          </a:xfrm>
          <a:prstGeom prst="roundRect">
            <a:avLst>
              <a:gd fmla="val 5595" name="adj"/>
            </a:avLst>
          </a:prstGeom>
          <a:solidFill>
            <a:srgbClr val="FFFFFF"/>
          </a:solidFill>
          <a:ln cap="flat" cmpd="sng" w="9525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94" name="Google Shape;594;p27"/>
          <p:cNvGrpSpPr/>
          <p:nvPr/>
        </p:nvGrpSpPr>
        <p:grpSpPr>
          <a:xfrm>
            <a:off x="285750" y="333375"/>
            <a:ext cx="8477400" cy="666900"/>
            <a:chOff x="-95250" y="0"/>
            <a:chExt cx="8477400" cy="666900"/>
          </a:xfrm>
        </p:grpSpPr>
        <p:grpSp>
          <p:nvGrpSpPr>
            <p:cNvPr id="595" name="Google Shape;595;p27"/>
            <p:cNvGrpSpPr/>
            <p:nvPr/>
          </p:nvGrpSpPr>
          <p:grpSpPr>
            <a:xfrm>
              <a:off x="-95250" y="57150"/>
              <a:ext cx="476325" cy="190500"/>
              <a:chOff x="-95250" y="0"/>
              <a:chExt cx="476325" cy="190500"/>
            </a:xfrm>
          </p:grpSpPr>
          <p:sp>
            <p:nvSpPr>
              <p:cNvPr id="596" name="Google Shape;596;p27"/>
              <p:cNvSpPr/>
              <p:nvPr/>
            </p:nvSpPr>
            <p:spPr>
              <a:xfrm>
                <a:off x="-95250" y="0"/>
                <a:ext cx="285900" cy="190500"/>
              </a:xfrm>
              <a:custGeom>
                <a:rect b="b" l="l" r="r" t="t"/>
                <a:pathLst>
                  <a:path extrusionOk="0" h="120000" w="120000">
                    <a:moveTo>
                      <a:pt x="40000" y="0"/>
                    </a:moveTo>
                    <a:lnTo>
                      <a:pt x="120000" y="0"/>
                    </a:lnTo>
                    <a:lnTo>
                      <a:pt x="8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06B6D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7" name="Google Shape;597;p27"/>
              <p:cNvSpPr/>
              <p:nvPr/>
            </p:nvSpPr>
            <p:spPr>
              <a:xfrm>
                <a:off x="142875" y="0"/>
                <a:ext cx="238200" cy="190500"/>
              </a:xfrm>
              <a:custGeom>
                <a:rect b="b" l="l" r="r" t="t"/>
                <a:pathLst>
                  <a:path extrusionOk="0" h="120000" w="120000">
                    <a:moveTo>
                      <a:pt x="48000" y="0"/>
                    </a:moveTo>
                    <a:lnTo>
                      <a:pt x="120000" y="0"/>
                    </a:lnTo>
                    <a:lnTo>
                      <a:pt x="72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98" name="Google Shape;598;p27"/>
            <p:cNvSpPr txBox="1"/>
            <p:nvPr/>
          </p:nvSpPr>
          <p:spPr>
            <a:xfrm>
              <a:off x="476250" y="0"/>
              <a:ext cx="79059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200">
                  <a:solidFill>
                    <a:srgbClr val="0A192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Weekly Research Timeline &amp; Gantt Chart</a:t>
              </a:r>
              <a:endParaRPr b="0" sz="2200">
                <a:solidFill>
                  <a:srgbClr val="0A192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75569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Project Execution Timeline (Weeks 1-14)</a:t>
              </a:r>
              <a:endParaRPr b="0" sz="1100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599" name="Google Shape;599;p27"/>
          <p:cNvGrpSpPr/>
          <p:nvPr/>
        </p:nvGrpSpPr>
        <p:grpSpPr>
          <a:xfrm>
            <a:off x="381000" y="3762375"/>
            <a:ext cx="8382075" cy="809700"/>
            <a:chOff x="0" y="0"/>
            <a:chExt cx="8382075" cy="809700"/>
          </a:xfrm>
        </p:grpSpPr>
        <p:grpSp>
          <p:nvGrpSpPr>
            <p:cNvPr id="600" name="Google Shape;600;p27"/>
            <p:cNvGrpSpPr/>
            <p:nvPr/>
          </p:nvGrpSpPr>
          <p:grpSpPr>
            <a:xfrm>
              <a:off x="0" y="0"/>
              <a:ext cx="4048200" cy="809700"/>
              <a:chOff x="0" y="0"/>
              <a:chExt cx="4048200" cy="809700"/>
            </a:xfrm>
          </p:grpSpPr>
          <p:sp>
            <p:nvSpPr>
              <p:cNvPr id="601" name="Google Shape;601;p27"/>
              <p:cNvSpPr/>
              <p:nvPr/>
            </p:nvSpPr>
            <p:spPr>
              <a:xfrm>
                <a:off x="0" y="0"/>
                <a:ext cx="4048200" cy="809700"/>
              </a:xfrm>
              <a:prstGeom prst="roundRect">
                <a:avLst>
                  <a:gd fmla="val 9411" name="adj"/>
                </a:avLst>
              </a:prstGeom>
              <a:solidFill>
                <a:srgbClr val="EFF6FF"/>
              </a:solidFill>
              <a:ln cap="flat" cmpd="sng" w="9525">
                <a:solidFill>
                  <a:srgbClr val="BFDBF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2" name="Google Shape;602;p27"/>
              <p:cNvSpPr/>
              <p:nvPr/>
            </p:nvSpPr>
            <p:spPr>
              <a:xfrm>
                <a:off x="0" y="152400"/>
                <a:ext cx="38100" cy="342900"/>
              </a:xfrm>
              <a:prstGeom prst="roundRect">
                <a:avLst>
                  <a:gd fmla="val 50000" name="adj"/>
                </a:avLst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3" name="Google Shape;603;p27"/>
              <p:cNvSpPr txBox="1"/>
              <p:nvPr/>
            </p:nvSpPr>
            <p:spPr>
              <a:xfrm>
                <a:off x="190500" y="114300"/>
                <a:ext cx="36672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25">
                    <a:solidFill>
                      <a:srgbClr val="1E3A8A"/>
                    </a:solidFill>
                    <a:latin typeface="Inter"/>
                    <a:ea typeface="Inter"/>
                    <a:cs typeface="Inter"/>
                    <a:sym typeface="Inter"/>
                  </a:rPr>
                  <a:t>Current Status (September 10, 2026)</a:t>
                </a:r>
                <a:endParaRPr b="1" sz="925">
                  <a:solidFill>
                    <a:srgbClr val="1E3A8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786">
                    <a:solidFill>
                      <a:srgbClr val="334155"/>
                    </a:solidFill>
                    <a:latin typeface="Inter"/>
                    <a:ea typeface="Inter"/>
                    <a:cs typeface="Inter"/>
                    <a:sym typeface="Inter"/>
                  </a:rPr>
                  <a:t>Tasks 1 through 7 are complete (Theoretical formulation, literature audit, data ingestion pipeline, and GPU environment verified). The </a:t>
                </a:r>
                <a:r>
                  <a:rPr b="1" lang="en" sz="786">
                    <a:solidFill>
                      <a:srgbClr val="1E3A8A"/>
                    </a:solidFill>
                    <a:latin typeface="Inter"/>
                    <a:ea typeface="Inter"/>
                    <a:cs typeface="Inter"/>
                    <a:sym typeface="Inter"/>
                  </a:rPr>
                  <a:t>Pre-Defense Milestone</a:t>
                </a:r>
                <a:r>
                  <a:rPr b="0" lang="en" sz="786">
                    <a:solidFill>
                      <a:srgbClr val="334155"/>
                    </a:solidFill>
                    <a:latin typeface="Inter"/>
                    <a:ea typeface="Inter"/>
                    <a:cs typeface="Inter"/>
                    <a:sym typeface="Inter"/>
                  </a:rPr>
                  <a:t> has been successfully achieved.</a:t>
                </a:r>
                <a:endParaRPr b="0" sz="786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604" name="Google Shape;604;p27"/>
            <p:cNvGrpSpPr/>
            <p:nvPr/>
          </p:nvGrpSpPr>
          <p:grpSpPr>
            <a:xfrm>
              <a:off x="4333875" y="0"/>
              <a:ext cx="4048200" cy="809700"/>
              <a:chOff x="0" y="0"/>
              <a:chExt cx="4048200" cy="809700"/>
            </a:xfrm>
          </p:grpSpPr>
          <p:sp>
            <p:nvSpPr>
              <p:cNvPr id="605" name="Google Shape;605;p27"/>
              <p:cNvSpPr/>
              <p:nvPr/>
            </p:nvSpPr>
            <p:spPr>
              <a:xfrm>
                <a:off x="0" y="0"/>
                <a:ext cx="4048200" cy="809700"/>
              </a:xfrm>
              <a:prstGeom prst="roundRect">
                <a:avLst>
                  <a:gd fmla="val 9411" name="adj"/>
                </a:avLst>
              </a:prstGeom>
              <a:solidFill>
                <a:srgbClr val="F8FAFC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6" name="Google Shape;606;p27"/>
              <p:cNvSpPr/>
              <p:nvPr/>
            </p:nvSpPr>
            <p:spPr>
              <a:xfrm>
                <a:off x="0" y="152400"/>
                <a:ext cx="38100" cy="342900"/>
              </a:xfrm>
              <a:prstGeom prst="roundRect">
                <a:avLst>
                  <a:gd fmla="val 50000" name="adj"/>
                </a:avLst>
              </a:prstGeom>
              <a:solidFill>
                <a:srgbClr val="06B6D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7" name="Google Shape;607;p27"/>
              <p:cNvSpPr txBox="1"/>
              <p:nvPr/>
            </p:nvSpPr>
            <p:spPr>
              <a:xfrm>
                <a:off x="190500" y="114300"/>
                <a:ext cx="36672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Immediate Transitions &amp; Next Steps</a:t>
                </a:r>
                <a:endParaRPr b="1" sz="10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850">
                    <a:solidFill>
                      <a:srgbClr val="334155"/>
                    </a:solidFill>
                    <a:latin typeface="Inter"/>
                    <a:ea typeface="Inter"/>
                    <a:cs typeface="Inter"/>
                    <a:sym typeface="Inter"/>
                  </a:rPr>
                  <a:t>Immediately transitioning to </a:t>
                </a:r>
                <a:r>
                  <a:rPr b="1" lang="en" sz="85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multi-threat evaluation</a:t>
                </a:r>
                <a:r>
                  <a:rPr b="0" lang="en" sz="850">
                    <a:solidFill>
                      <a:srgbClr val="334155"/>
                    </a:solidFill>
                    <a:latin typeface="Inter"/>
                    <a:ea typeface="Inter"/>
                    <a:cs typeface="Inter"/>
                    <a:sym typeface="Inter"/>
                  </a:rPr>
                  <a:t> (Weeks 11–12) and </a:t>
                </a:r>
                <a:r>
                  <a:rPr b="1" lang="en" sz="850">
                    <a:solidFill>
                      <a:srgbClr val="2563EB"/>
                    </a:solidFill>
                    <a:latin typeface="Inter"/>
                    <a:ea typeface="Inter"/>
                    <a:cs typeface="Inter"/>
                    <a:sym typeface="Inter"/>
                  </a:rPr>
                  <a:t>final manuscript submission</a:t>
                </a:r>
                <a:r>
                  <a:rPr b="0" lang="en" sz="850">
                    <a:solidFill>
                      <a:srgbClr val="334155"/>
                    </a:solidFill>
                    <a:latin typeface="Inter"/>
                    <a:ea typeface="Inter"/>
                    <a:cs typeface="Inter"/>
                    <a:sym typeface="Inter"/>
                  </a:rPr>
                  <a:t> (Weeks 13–14).</a:t>
                </a:r>
                <a:endParaRPr b="0" sz="8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608" name="Google Shape;608;p27"/>
          <p:cNvGrpSpPr/>
          <p:nvPr/>
        </p:nvGrpSpPr>
        <p:grpSpPr>
          <a:xfrm>
            <a:off x="-397675" y="676170"/>
            <a:ext cx="9160817" cy="3038986"/>
            <a:chOff x="95250" y="876300"/>
            <a:chExt cx="8610600" cy="2453565"/>
          </a:xfrm>
        </p:grpSpPr>
        <p:cxnSp>
          <p:nvCxnSpPr>
            <p:cNvPr id="609" name="Google Shape;609;p27"/>
            <p:cNvCxnSpPr/>
            <p:nvPr/>
          </p:nvCxnSpPr>
          <p:spPr>
            <a:xfrm>
              <a:off x="2476500" y="1285875"/>
              <a:ext cx="0" cy="20001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6F0FA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10" name="Google Shape;610;p27"/>
            <p:cNvCxnSpPr/>
            <p:nvPr/>
          </p:nvCxnSpPr>
          <p:spPr>
            <a:xfrm>
              <a:off x="2918746" y="1285875"/>
              <a:ext cx="0" cy="20001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6F0FA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11" name="Google Shape;611;p27"/>
            <p:cNvCxnSpPr/>
            <p:nvPr/>
          </p:nvCxnSpPr>
          <p:spPr>
            <a:xfrm>
              <a:off x="3360992" y="1285875"/>
              <a:ext cx="0" cy="20001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6F0FA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12" name="Google Shape;612;p27"/>
            <p:cNvCxnSpPr/>
            <p:nvPr/>
          </p:nvCxnSpPr>
          <p:spPr>
            <a:xfrm>
              <a:off x="3803237" y="1285875"/>
              <a:ext cx="0" cy="20001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6F0FA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13" name="Google Shape;613;p27"/>
            <p:cNvCxnSpPr/>
            <p:nvPr/>
          </p:nvCxnSpPr>
          <p:spPr>
            <a:xfrm>
              <a:off x="4245388" y="1285875"/>
              <a:ext cx="0" cy="20001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6F0FA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14" name="Google Shape;614;p27"/>
            <p:cNvCxnSpPr/>
            <p:nvPr/>
          </p:nvCxnSpPr>
          <p:spPr>
            <a:xfrm>
              <a:off x="4687634" y="1285875"/>
              <a:ext cx="0" cy="20001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6F0FA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15" name="Google Shape;615;p27"/>
            <p:cNvCxnSpPr/>
            <p:nvPr/>
          </p:nvCxnSpPr>
          <p:spPr>
            <a:xfrm>
              <a:off x="5129879" y="1285875"/>
              <a:ext cx="0" cy="20001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6F0FA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16" name="Google Shape;616;p27"/>
            <p:cNvCxnSpPr/>
            <p:nvPr/>
          </p:nvCxnSpPr>
          <p:spPr>
            <a:xfrm>
              <a:off x="5572125" y="1285875"/>
              <a:ext cx="0" cy="20001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6F0FA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17" name="Google Shape;617;p27"/>
            <p:cNvCxnSpPr/>
            <p:nvPr/>
          </p:nvCxnSpPr>
          <p:spPr>
            <a:xfrm>
              <a:off x="6014371" y="1285875"/>
              <a:ext cx="0" cy="20001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6F0FA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18" name="Google Shape;618;p27"/>
            <p:cNvCxnSpPr/>
            <p:nvPr/>
          </p:nvCxnSpPr>
          <p:spPr>
            <a:xfrm>
              <a:off x="6456617" y="1285875"/>
              <a:ext cx="0" cy="20001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6F0FA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19" name="Google Shape;619;p27"/>
            <p:cNvCxnSpPr/>
            <p:nvPr/>
          </p:nvCxnSpPr>
          <p:spPr>
            <a:xfrm>
              <a:off x="6898862" y="1285875"/>
              <a:ext cx="0" cy="20001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6F0FA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20" name="Google Shape;620;p27"/>
            <p:cNvCxnSpPr/>
            <p:nvPr/>
          </p:nvCxnSpPr>
          <p:spPr>
            <a:xfrm>
              <a:off x="7341013" y="1285875"/>
              <a:ext cx="0" cy="20001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6F0FA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21" name="Google Shape;621;p27"/>
            <p:cNvCxnSpPr/>
            <p:nvPr/>
          </p:nvCxnSpPr>
          <p:spPr>
            <a:xfrm>
              <a:off x="7783259" y="1285875"/>
              <a:ext cx="0" cy="20001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6F0FA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22" name="Google Shape;622;p27"/>
            <p:cNvCxnSpPr/>
            <p:nvPr/>
          </p:nvCxnSpPr>
          <p:spPr>
            <a:xfrm>
              <a:off x="8225504" y="1285875"/>
              <a:ext cx="0" cy="20001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6F0FA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23" name="Google Shape;623;p27"/>
            <p:cNvCxnSpPr/>
            <p:nvPr/>
          </p:nvCxnSpPr>
          <p:spPr>
            <a:xfrm>
              <a:off x="8667750" y="1285875"/>
              <a:ext cx="0" cy="20001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6F0FA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24" name="Google Shape;624;p27"/>
            <p:cNvSpPr txBox="1"/>
            <p:nvPr/>
          </p:nvSpPr>
          <p:spPr>
            <a:xfrm>
              <a:off x="2653332" y="1162050"/>
              <a:ext cx="1905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850">
                  <a:solidFill>
                    <a:srgbClr val="888888"/>
                  </a:solidFill>
                  <a:latin typeface="Inter"/>
                  <a:ea typeface="Inter"/>
                  <a:cs typeface="Inter"/>
                  <a:sym typeface="Inter"/>
                </a:rPr>
                <a:t>W1</a:t>
              </a:r>
              <a:endParaRPr b="1" i="0" sz="85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25" name="Google Shape;625;p27"/>
            <p:cNvSpPr txBox="1"/>
            <p:nvPr/>
          </p:nvSpPr>
          <p:spPr>
            <a:xfrm>
              <a:off x="3095292" y="1162050"/>
              <a:ext cx="1905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850">
                  <a:solidFill>
                    <a:srgbClr val="888888"/>
                  </a:solidFill>
                  <a:latin typeface="Inter"/>
                  <a:ea typeface="Inter"/>
                  <a:cs typeface="Inter"/>
                  <a:sym typeface="Inter"/>
                </a:rPr>
                <a:t>W2</a:t>
              </a:r>
              <a:endParaRPr b="1" i="0" sz="85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26" name="Google Shape;626;p27"/>
            <p:cNvSpPr txBox="1"/>
            <p:nvPr/>
          </p:nvSpPr>
          <p:spPr>
            <a:xfrm>
              <a:off x="3538204" y="1162050"/>
              <a:ext cx="1905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850">
                  <a:solidFill>
                    <a:srgbClr val="888888"/>
                  </a:solidFill>
                  <a:latin typeface="Inter"/>
                  <a:ea typeface="Inter"/>
                  <a:cs typeface="Inter"/>
                  <a:sym typeface="Inter"/>
                </a:rPr>
                <a:t>W3</a:t>
              </a:r>
              <a:endParaRPr b="1" i="0" sz="85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27" name="Google Shape;627;p27"/>
            <p:cNvSpPr txBox="1"/>
            <p:nvPr/>
          </p:nvSpPr>
          <p:spPr>
            <a:xfrm>
              <a:off x="3980164" y="1162050"/>
              <a:ext cx="1905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850">
                  <a:solidFill>
                    <a:srgbClr val="888888"/>
                  </a:solidFill>
                  <a:latin typeface="Inter"/>
                  <a:ea typeface="Inter"/>
                  <a:cs typeface="Inter"/>
                  <a:sym typeface="Inter"/>
                </a:rPr>
                <a:t>W4</a:t>
              </a:r>
              <a:endParaRPr b="1" i="0" sz="85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28" name="Google Shape;628;p27"/>
            <p:cNvSpPr txBox="1"/>
            <p:nvPr/>
          </p:nvSpPr>
          <p:spPr>
            <a:xfrm>
              <a:off x="4422124" y="1162050"/>
              <a:ext cx="1905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850">
                  <a:solidFill>
                    <a:srgbClr val="888888"/>
                  </a:solidFill>
                  <a:latin typeface="Inter"/>
                  <a:ea typeface="Inter"/>
                  <a:cs typeface="Inter"/>
                  <a:sym typeface="Inter"/>
                </a:rPr>
                <a:t>W5</a:t>
              </a:r>
              <a:endParaRPr b="1" i="0" sz="85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29" name="Google Shape;629;p27"/>
            <p:cNvSpPr txBox="1"/>
            <p:nvPr/>
          </p:nvSpPr>
          <p:spPr>
            <a:xfrm>
              <a:off x="4864084" y="1162050"/>
              <a:ext cx="1905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850">
                  <a:solidFill>
                    <a:srgbClr val="888888"/>
                  </a:solidFill>
                  <a:latin typeface="Inter"/>
                  <a:ea typeface="Inter"/>
                  <a:cs typeface="Inter"/>
                  <a:sym typeface="Inter"/>
                </a:rPr>
                <a:t>W6</a:t>
              </a:r>
              <a:endParaRPr b="1" i="0" sz="85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30" name="Google Shape;630;p27"/>
            <p:cNvSpPr txBox="1"/>
            <p:nvPr/>
          </p:nvSpPr>
          <p:spPr>
            <a:xfrm>
              <a:off x="5306997" y="1162050"/>
              <a:ext cx="1905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850">
                  <a:solidFill>
                    <a:srgbClr val="888888"/>
                  </a:solidFill>
                  <a:latin typeface="Inter"/>
                  <a:ea typeface="Inter"/>
                  <a:cs typeface="Inter"/>
                  <a:sym typeface="Inter"/>
                </a:rPr>
                <a:t>W7</a:t>
              </a:r>
              <a:endParaRPr b="1" i="0" sz="85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31" name="Google Shape;631;p27"/>
            <p:cNvSpPr txBox="1"/>
            <p:nvPr/>
          </p:nvSpPr>
          <p:spPr>
            <a:xfrm>
              <a:off x="5748957" y="1162050"/>
              <a:ext cx="1905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850">
                  <a:solidFill>
                    <a:srgbClr val="888888"/>
                  </a:solidFill>
                  <a:latin typeface="Inter"/>
                  <a:ea typeface="Inter"/>
                  <a:cs typeface="Inter"/>
                  <a:sym typeface="Inter"/>
                </a:rPr>
                <a:t>W8</a:t>
              </a:r>
              <a:endParaRPr b="1" i="0" sz="85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32" name="Google Shape;632;p27"/>
            <p:cNvSpPr txBox="1"/>
            <p:nvPr/>
          </p:nvSpPr>
          <p:spPr>
            <a:xfrm>
              <a:off x="6190917" y="1162050"/>
              <a:ext cx="1905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850">
                  <a:solidFill>
                    <a:srgbClr val="888888"/>
                  </a:solidFill>
                  <a:latin typeface="Inter"/>
                  <a:ea typeface="Inter"/>
                  <a:cs typeface="Inter"/>
                  <a:sym typeface="Inter"/>
                </a:rPr>
                <a:t>W9</a:t>
              </a:r>
              <a:endParaRPr b="1" i="0" sz="85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33" name="Google Shape;633;p27"/>
            <p:cNvSpPr txBox="1"/>
            <p:nvPr/>
          </p:nvSpPr>
          <p:spPr>
            <a:xfrm>
              <a:off x="6610807" y="1162050"/>
              <a:ext cx="2859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850">
                  <a:solidFill>
                    <a:srgbClr val="888888"/>
                  </a:solidFill>
                  <a:latin typeface="Inter"/>
                  <a:ea typeface="Inter"/>
                  <a:cs typeface="Inter"/>
                  <a:sym typeface="Inter"/>
                </a:rPr>
                <a:t>W10</a:t>
              </a:r>
              <a:endParaRPr b="1" i="0" sz="85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34" name="Google Shape;634;p27"/>
            <p:cNvSpPr txBox="1"/>
            <p:nvPr/>
          </p:nvSpPr>
          <p:spPr>
            <a:xfrm>
              <a:off x="7053720" y="1162050"/>
              <a:ext cx="2859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850">
                  <a:solidFill>
                    <a:srgbClr val="888888"/>
                  </a:solidFill>
                  <a:latin typeface="Inter"/>
                  <a:ea typeface="Inter"/>
                  <a:cs typeface="Inter"/>
                  <a:sym typeface="Inter"/>
                </a:rPr>
                <a:t>W11</a:t>
              </a:r>
              <a:endParaRPr b="1" i="0" sz="85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35" name="Google Shape;635;p27"/>
            <p:cNvSpPr txBox="1"/>
            <p:nvPr/>
          </p:nvSpPr>
          <p:spPr>
            <a:xfrm>
              <a:off x="7495670" y="1162050"/>
              <a:ext cx="2859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850">
                  <a:solidFill>
                    <a:srgbClr val="888888"/>
                  </a:solidFill>
                  <a:latin typeface="Inter"/>
                  <a:ea typeface="Inter"/>
                  <a:cs typeface="Inter"/>
                  <a:sym typeface="Inter"/>
                </a:rPr>
                <a:t>W12</a:t>
              </a:r>
              <a:endParaRPr b="1" i="0" sz="85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36" name="Google Shape;636;p27"/>
            <p:cNvSpPr txBox="1"/>
            <p:nvPr/>
          </p:nvSpPr>
          <p:spPr>
            <a:xfrm>
              <a:off x="7937630" y="1162050"/>
              <a:ext cx="2859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850">
                  <a:solidFill>
                    <a:srgbClr val="888888"/>
                  </a:solidFill>
                  <a:latin typeface="Inter"/>
                  <a:ea typeface="Inter"/>
                  <a:cs typeface="Inter"/>
                  <a:sym typeface="Inter"/>
                </a:rPr>
                <a:t>W13</a:t>
              </a:r>
              <a:endParaRPr b="1" i="0" sz="85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37" name="Google Shape;637;p27"/>
            <p:cNvSpPr txBox="1"/>
            <p:nvPr/>
          </p:nvSpPr>
          <p:spPr>
            <a:xfrm>
              <a:off x="8379600" y="1162050"/>
              <a:ext cx="2859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850">
                  <a:solidFill>
                    <a:srgbClr val="888888"/>
                  </a:solidFill>
                  <a:latin typeface="Inter"/>
                  <a:ea typeface="Inter"/>
                  <a:cs typeface="Inter"/>
                  <a:sym typeface="Inter"/>
                </a:rPr>
                <a:t>W14</a:t>
              </a:r>
              <a:endParaRPr b="1" i="0" sz="85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38" name="Google Shape;638;p27"/>
            <p:cNvSpPr/>
            <p:nvPr/>
          </p:nvSpPr>
          <p:spPr>
            <a:xfrm>
              <a:off x="2476490" y="1285880"/>
              <a:ext cx="3980100" cy="2000100"/>
            </a:xfrm>
            <a:prstGeom prst="rect">
              <a:avLst/>
            </a:prstGeom>
            <a:solidFill>
              <a:srgbClr val="1E90FF">
                <a:alpha val="3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39" name="Google Shape;639;p2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447013" y="1047108"/>
              <a:ext cx="19200" cy="2257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0" name="Google Shape;640;p27"/>
            <p:cNvSpPr txBox="1"/>
            <p:nvPr/>
          </p:nvSpPr>
          <p:spPr>
            <a:xfrm>
              <a:off x="5334000" y="876300"/>
              <a:ext cx="15240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800">
                  <a:solidFill>
                    <a:srgbClr val="1E90FF"/>
                  </a:solidFill>
                  <a:latin typeface="Inter"/>
                  <a:ea typeface="Inter"/>
                  <a:cs typeface="Inter"/>
                  <a:sym typeface="Inter"/>
                </a:rPr>
                <a:t>★ PRE-DEFENSE (SEP 10)</a:t>
              </a:r>
              <a:endParaRPr b="1" i="0" sz="800">
                <a:solidFill>
                  <a:srgbClr val="1E90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id="641" name="Google Shape;641;p2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8658225" y="1028700"/>
              <a:ext cx="19200" cy="2257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2" name="Google Shape;642;p27"/>
            <p:cNvSpPr txBox="1"/>
            <p:nvPr/>
          </p:nvSpPr>
          <p:spPr>
            <a:xfrm>
              <a:off x="7096125" y="876300"/>
              <a:ext cx="15240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800">
                  <a:solidFill>
                    <a:srgbClr val="0D2B5C"/>
                  </a:solidFill>
                  <a:latin typeface="Inter"/>
                  <a:ea typeface="Inter"/>
                  <a:cs typeface="Inter"/>
                  <a:sym typeface="Inter"/>
                </a:rPr>
                <a:t>★ FINAL DEFENSE (OCT 11)</a:t>
              </a:r>
              <a:endParaRPr b="1" i="0" sz="800">
                <a:solidFill>
                  <a:srgbClr val="0D2B5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43" name="Google Shape;643;p27"/>
            <p:cNvSpPr txBox="1"/>
            <p:nvPr/>
          </p:nvSpPr>
          <p:spPr>
            <a:xfrm>
              <a:off x="95250" y="1358265"/>
              <a:ext cx="2286000" cy="142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850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1. Topic Selection</a:t>
              </a:r>
              <a:endParaRPr b="0" i="0" sz="85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644" name="Google Shape;644;p27"/>
            <p:cNvSpPr/>
            <p:nvPr/>
          </p:nvSpPr>
          <p:spPr>
            <a:xfrm>
              <a:off x="2476500" y="1352550"/>
              <a:ext cx="442200" cy="95400"/>
            </a:xfrm>
            <a:prstGeom prst="roundRect">
              <a:avLst>
                <a:gd fmla="val 35000" name="adj"/>
              </a:avLst>
            </a:prstGeom>
            <a:solidFill>
              <a:srgbClr val="2A64C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27"/>
            <p:cNvSpPr txBox="1"/>
            <p:nvPr/>
          </p:nvSpPr>
          <p:spPr>
            <a:xfrm>
              <a:off x="95250" y="1510665"/>
              <a:ext cx="2286000" cy="142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850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2. Literature Review</a:t>
              </a:r>
              <a:endParaRPr b="0" i="0" sz="85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646" name="Google Shape;646;p27"/>
            <p:cNvSpPr/>
            <p:nvPr/>
          </p:nvSpPr>
          <p:spPr>
            <a:xfrm>
              <a:off x="2918749" y="1504958"/>
              <a:ext cx="442200" cy="95400"/>
            </a:xfrm>
            <a:prstGeom prst="roundRect">
              <a:avLst>
                <a:gd fmla="val 35000" name="adj"/>
              </a:avLst>
            </a:prstGeom>
            <a:solidFill>
              <a:srgbClr val="2A64C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27"/>
            <p:cNvSpPr txBox="1"/>
            <p:nvPr/>
          </p:nvSpPr>
          <p:spPr>
            <a:xfrm>
              <a:off x="95250" y="1663065"/>
              <a:ext cx="2286000" cy="142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850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3. Base Paper Selection</a:t>
              </a:r>
              <a:endParaRPr b="0" i="0" sz="85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648" name="Google Shape;648;p27"/>
            <p:cNvSpPr/>
            <p:nvPr/>
          </p:nvSpPr>
          <p:spPr>
            <a:xfrm>
              <a:off x="3360973" y="1653475"/>
              <a:ext cx="442200" cy="95400"/>
            </a:xfrm>
            <a:prstGeom prst="roundRect">
              <a:avLst>
                <a:gd fmla="val 35000" name="adj"/>
              </a:avLst>
            </a:prstGeom>
            <a:solidFill>
              <a:srgbClr val="2A64C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27"/>
            <p:cNvSpPr txBox="1"/>
            <p:nvPr/>
          </p:nvSpPr>
          <p:spPr>
            <a:xfrm>
              <a:off x="95250" y="1815465"/>
              <a:ext cx="2286000" cy="142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850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4. Methodology Study</a:t>
              </a:r>
              <a:endParaRPr b="0" i="0" sz="85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650" name="Google Shape;650;p27"/>
            <p:cNvSpPr/>
            <p:nvPr/>
          </p:nvSpPr>
          <p:spPr>
            <a:xfrm>
              <a:off x="3803236" y="1815469"/>
              <a:ext cx="884400" cy="95400"/>
            </a:xfrm>
            <a:prstGeom prst="roundRect">
              <a:avLst>
                <a:gd fmla="val 35000" name="adj"/>
              </a:avLst>
            </a:prstGeom>
            <a:solidFill>
              <a:srgbClr val="2A64C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27"/>
            <p:cNvSpPr txBox="1"/>
            <p:nvPr/>
          </p:nvSpPr>
          <p:spPr>
            <a:xfrm>
              <a:off x="95250" y="1967865"/>
              <a:ext cx="2286000" cy="142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850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5. Limitation Identify</a:t>
              </a:r>
              <a:endParaRPr b="0" i="0" sz="85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652" name="Google Shape;652;p27"/>
            <p:cNvSpPr/>
            <p:nvPr/>
          </p:nvSpPr>
          <p:spPr>
            <a:xfrm>
              <a:off x="4687650" y="1967862"/>
              <a:ext cx="442200" cy="95400"/>
            </a:xfrm>
            <a:prstGeom prst="roundRect">
              <a:avLst>
                <a:gd fmla="val 35000" name="adj"/>
              </a:avLst>
            </a:prstGeom>
            <a:solidFill>
              <a:srgbClr val="2A64C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27"/>
            <p:cNvSpPr txBox="1"/>
            <p:nvPr/>
          </p:nvSpPr>
          <p:spPr>
            <a:xfrm>
              <a:off x="95250" y="2120265"/>
              <a:ext cx="2286000" cy="142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850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6. Environment Setup</a:t>
              </a:r>
              <a:endParaRPr b="0" i="0" sz="85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654" name="Google Shape;654;p27"/>
            <p:cNvSpPr/>
            <p:nvPr/>
          </p:nvSpPr>
          <p:spPr>
            <a:xfrm>
              <a:off x="5129896" y="2109746"/>
              <a:ext cx="442200" cy="95400"/>
            </a:xfrm>
            <a:prstGeom prst="roundRect">
              <a:avLst>
                <a:gd fmla="val 35000" name="adj"/>
              </a:avLst>
            </a:prstGeom>
            <a:solidFill>
              <a:srgbClr val="2A64C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27"/>
            <p:cNvSpPr txBox="1"/>
            <p:nvPr/>
          </p:nvSpPr>
          <p:spPr>
            <a:xfrm>
              <a:off x="95250" y="2272665"/>
              <a:ext cx="2286000" cy="142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850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7. Pre-Defense Prep</a:t>
              </a:r>
              <a:endParaRPr b="0" i="0" sz="85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656" name="Google Shape;656;p27"/>
            <p:cNvSpPr/>
            <p:nvPr/>
          </p:nvSpPr>
          <p:spPr>
            <a:xfrm>
              <a:off x="5572177" y="2272662"/>
              <a:ext cx="884400" cy="95400"/>
            </a:xfrm>
            <a:prstGeom prst="roundRect">
              <a:avLst>
                <a:gd fmla="val 35000" name="adj"/>
              </a:avLst>
            </a:prstGeom>
            <a:solidFill>
              <a:srgbClr val="06B6D4">
                <a:alpha val="8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27"/>
            <p:cNvSpPr txBox="1"/>
            <p:nvPr/>
          </p:nvSpPr>
          <p:spPr>
            <a:xfrm>
              <a:off x="95250" y="2425065"/>
              <a:ext cx="2286000" cy="142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850">
                  <a:solidFill>
                    <a:schemeClr val="dk2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8. Implementation</a:t>
              </a:r>
              <a:endParaRPr b="0" i="0" sz="850">
                <a:solidFill>
                  <a:schemeClr val="dk2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pic>
          <p:nvPicPr>
            <p:cNvPr id="658" name="Google Shape;658;p2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6456640" y="2406716"/>
              <a:ext cx="457200" cy="104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9" name="Google Shape;659;p27"/>
            <p:cNvSpPr txBox="1"/>
            <p:nvPr/>
          </p:nvSpPr>
          <p:spPr>
            <a:xfrm>
              <a:off x="95250" y="2577465"/>
              <a:ext cx="2286000" cy="142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850">
                  <a:solidFill>
                    <a:schemeClr val="dk2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9. Empirical Evaluation</a:t>
              </a:r>
              <a:endParaRPr b="0" i="0" sz="850">
                <a:solidFill>
                  <a:schemeClr val="dk2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pic>
          <p:nvPicPr>
            <p:cNvPr id="660" name="Google Shape;660;p27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6896145" y="2596517"/>
              <a:ext cx="457200" cy="104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1" name="Google Shape;661;p27"/>
            <p:cNvSpPr txBox="1"/>
            <p:nvPr/>
          </p:nvSpPr>
          <p:spPr>
            <a:xfrm>
              <a:off x="95250" y="2729865"/>
              <a:ext cx="2286000" cy="142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850">
                  <a:solidFill>
                    <a:schemeClr val="dk2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10. Result Analysis &amp; Comparison</a:t>
              </a:r>
              <a:endParaRPr b="0" i="0" sz="850">
                <a:solidFill>
                  <a:schemeClr val="dk2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pic>
          <p:nvPicPr>
            <p:cNvPr id="662" name="Google Shape;662;p27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7338388" y="2711647"/>
              <a:ext cx="457200" cy="104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3" name="Google Shape;663;p27"/>
            <p:cNvSpPr txBox="1"/>
            <p:nvPr/>
          </p:nvSpPr>
          <p:spPr>
            <a:xfrm>
              <a:off x="95250" y="2882265"/>
              <a:ext cx="2286000" cy="142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850">
                  <a:solidFill>
                    <a:schemeClr val="dk2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11. Thesis Manuscript Drafting</a:t>
              </a:r>
              <a:endParaRPr b="0" i="0" sz="850">
                <a:solidFill>
                  <a:schemeClr val="dk2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pic>
          <p:nvPicPr>
            <p:cNvPr id="664" name="Google Shape;664;p27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7344725" y="2867928"/>
              <a:ext cx="870300" cy="104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5" name="Google Shape;665;p27"/>
            <p:cNvSpPr txBox="1"/>
            <p:nvPr/>
          </p:nvSpPr>
          <p:spPr>
            <a:xfrm>
              <a:off x="95250" y="3034665"/>
              <a:ext cx="2286000" cy="142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850">
                  <a:solidFill>
                    <a:schemeClr val="dk2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12. Supervisor Review &amp; Revisions</a:t>
              </a:r>
              <a:endParaRPr b="0" i="0" sz="850">
                <a:solidFill>
                  <a:schemeClr val="dk2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pic>
          <p:nvPicPr>
            <p:cNvPr id="666" name="Google Shape;666;p27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7773428" y="3024208"/>
              <a:ext cx="452400" cy="104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7" name="Google Shape;667;p27"/>
            <p:cNvSpPr txBox="1"/>
            <p:nvPr/>
          </p:nvSpPr>
          <p:spPr>
            <a:xfrm>
              <a:off x="95250" y="3187065"/>
              <a:ext cx="2286000" cy="142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850">
                  <a:solidFill>
                    <a:schemeClr val="dk2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13. Final Thesis Defense</a:t>
              </a:r>
              <a:endParaRPr b="0" i="0" sz="850">
                <a:solidFill>
                  <a:schemeClr val="dk2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668" name="Google Shape;668;p27"/>
            <p:cNvSpPr/>
            <p:nvPr/>
          </p:nvSpPr>
          <p:spPr>
            <a:xfrm>
              <a:off x="8629650" y="3181350"/>
              <a:ext cx="76200" cy="95400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lnTo>
                    <a:pt x="120000" y="60000"/>
                  </a:lnTo>
                  <a:lnTo>
                    <a:pt x="60000" y="120000"/>
                  </a:lnTo>
                  <a:lnTo>
                    <a:pt x="0" y="60000"/>
                  </a:lnTo>
                  <a:close/>
                </a:path>
              </a:pathLst>
            </a:custGeom>
            <a:solidFill>
              <a:srgbClr val="0D2B5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669" name="Google Shape;669;p2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230404" y="3511869"/>
            <a:ext cx="481200" cy="1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4" name="Google Shape;674;p28"/>
          <p:cNvPicPr preferRelativeResize="0"/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 flipH="1">
            <a:off x="0" y="19936"/>
            <a:ext cx="9144002" cy="510362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75" name="Google Shape;675;p28"/>
          <p:cNvGrpSpPr/>
          <p:nvPr/>
        </p:nvGrpSpPr>
        <p:grpSpPr>
          <a:xfrm>
            <a:off x="285750" y="381000"/>
            <a:ext cx="8477175" cy="857400"/>
            <a:chOff x="-95250" y="0"/>
            <a:chExt cx="8477175" cy="857400"/>
          </a:xfrm>
        </p:grpSpPr>
        <p:grpSp>
          <p:nvGrpSpPr>
            <p:cNvPr id="676" name="Google Shape;676;p28"/>
            <p:cNvGrpSpPr/>
            <p:nvPr/>
          </p:nvGrpSpPr>
          <p:grpSpPr>
            <a:xfrm>
              <a:off x="-95250" y="57150"/>
              <a:ext cx="380925" cy="190500"/>
              <a:chOff x="-95250" y="0"/>
              <a:chExt cx="380925" cy="190500"/>
            </a:xfrm>
          </p:grpSpPr>
          <p:sp>
            <p:nvSpPr>
              <p:cNvPr id="677" name="Google Shape;677;p28"/>
              <p:cNvSpPr/>
              <p:nvPr/>
            </p:nvSpPr>
            <p:spPr>
              <a:xfrm>
                <a:off x="-95250" y="0"/>
                <a:ext cx="285900" cy="190500"/>
              </a:xfrm>
              <a:custGeom>
                <a:rect b="b" l="l" r="r" t="t"/>
                <a:pathLst>
                  <a:path extrusionOk="0" h="120000" w="120000">
                    <a:moveTo>
                      <a:pt x="40000" y="0"/>
                    </a:moveTo>
                    <a:lnTo>
                      <a:pt x="120000" y="0"/>
                    </a:lnTo>
                    <a:lnTo>
                      <a:pt x="8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06B6D4">
                  <a:alpha val="8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8" name="Google Shape;678;p28"/>
              <p:cNvSpPr/>
              <p:nvPr/>
            </p:nvSpPr>
            <p:spPr>
              <a:xfrm>
                <a:off x="142875" y="0"/>
                <a:ext cx="142800" cy="190500"/>
              </a:xfrm>
              <a:custGeom>
                <a:rect b="b" l="l" r="r" t="t"/>
                <a:pathLst>
                  <a:path extrusionOk="0" h="120000" w="120000">
                    <a:moveTo>
                      <a:pt x="80000" y="0"/>
                    </a:moveTo>
                    <a:lnTo>
                      <a:pt x="120000" y="0"/>
                    </a:lnTo>
                    <a:lnTo>
                      <a:pt x="4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2563EB">
                  <a:alpha val="6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679" name="Google Shape;679;p28"/>
            <p:cNvSpPr txBox="1"/>
            <p:nvPr/>
          </p:nvSpPr>
          <p:spPr>
            <a:xfrm>
              <a:off x="428625" y="0"/>
              <a:ext cx="7953300" cy="857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400">
                  <a:solidFill>
                    <a:srgbClr val="0A192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Expected Results &amp; Research Hypotheses</a:t>
              </a:r>
              <a:endParaRPr b="0" sz="2400">
                <a:solidFill>
                  <a:srgbClr val="0A192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Comprehensive multi-threat evaluation protocol and performance targets.</a:t>
              </a:r>
              <a:endParaRPr b="0" sz="14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80" name="Google Shape;680;p28"/>
          <p:cNvGrpSpPr/>
          <p:nvPr/>
        </p:nvGrpSpPr>
        <p:grpSpPr>
          <a:xfrm>
            <a:off x="381000" y="1333500"/>
            <a:ext cx="1952700" cy="1143000"/>
            <a:chOff x="0" y="0"/>
            <a:chExt cx="1952700" cy="1143000"/>
          </a:xfrm>
        </p:grpSpPr>
        <p:sp>
          <p:nvSpPr>
            <p:cNvPr id="681" name="Google Shape;681;p28"/>
            <p:cNvSpPr/>
            <p:nvPr/>
          </p:nvSpPr>
          <p:spPr>
            <a:xfrm>
              <a:off x="0" y="0"/>
              <a:ext cx="1952700" cy="1143000"/>
            </a:xfrm>
            <a:prstGeom prst="roundRect">
              <a:avLst>
                <a:gd fmla="val 8333" name="adj"/>
              </a:avLst>
            </a:prstGeom>
            <a:solidFill>
              <a:srgbClr val="FFFFFF"/>
            </a:solidFill>
            <a:ln cap="flat" cmpd="sng" w="9525">
              <a:solidFill>
                <a:srgbClr val="0369A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28"/>
            <p:cNvSpPr txBox="1"/>
            <p:nvPr/>
          </p:nvSpPr>
          <p:spPr>
            <a:xfrm>
              <a:off x="0" y="0"/>
              <a:ext cx="1952700" cy="1143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142875" lIns="142875" spcFirstLastPara="1" rIns="142875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64748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Clean Accuracy</a:t>
              </a:r>
              <a:endParaRPr b="0" sz="900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0A192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</a:t>
              </a:r>
              <a:r>
                <a:rPr b="1" lang="en" sz="2400">
                  <a:solidFill>
                    <a:srgbClr val="0A192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≥95%</a:t>
              </a:r>
              <a:endParaRPr b="1" sz="1000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Pruning 13 unstable features mitigates degradation.</a:t>
              </a:r>
              <a:endParaRPr b="0" sz="8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83" name="Google Shape;683;p28"/>
          <p:cNvGrpSpPr/>
          <p:nvPr/>
        </p:nvGrpSpPr>
        <p:grpSpPr>
          <a:xfrm>
            <a:off x="2524125" y="1333500"/>
            <a:ext cx="1952700" cy="1143000"/>
            <a:chOff x="0" y="0"/>
            <a:chExt cx="1952700" cy="1143000"/>
          </a:xfrm>
        </p:grpSpPr>
        <p:sp>
          <p:nvSpPr>
            <p:cNvPr id="684" name="Google Shape;684;p28"/>
            <p:cNvSpPr/>
            <p:nvPr/>
          </p:nvSpPr>
          <p:spPr>
            <a:xfrm>
              <a:off x="0" y="0"/>
              <a:ext cx="1952700" cy="1143000"/>
            </a:xfrm>
            <a:prstGeom prst="roundRect">
              <a:avLst>
                <a:gd fmla="val 8333" name="adj"/>
              </a:avLst>
            </a:prstGeom>
            <a:solidFill>
              <a:srgbClr val="FFFFFF"/>
            </a:solidFill>
            <a:ln cap="flat" cmpd="sng" w="9525">
              <a:solidFill>
                <a:srgbClr val="3B82F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28"/>
            <p:cNvSpPr txBox="1"/>
            <p:nvPr/>
          </p:nvSpPr>
          <p:spPr>
            <a:xfrm>
              <a:off x="0" y="0"/>
              <a:ext cx="1952700" cy="1143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142875" lIns="142875" spcFirstLastPara="1" rIns="142875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33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Robust Accuracy</a:t>
              </a:r>
              <a:endParaRPr b="0" sz="833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850">
                  <a:solidFill>
                    <a:srgbClr val="2563E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88.0% – 90%</a:t>
              </a:r>
              <a:endParaRPr b="1" sz="925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786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PGD-100 (ε=0.05) vs. undefended baselines.</a:t>
              </a:r>
              <a:endParaRPr b="0" sz="786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86" name="Google Shape;686;p28"/>
          <p:cNvGrpSpPr/>
          <p:nvPr/>
        </p:nvGrpSpPr>
        <p:grpSpPr>
          <a:xfrm>
            <a:off x="381000" y="2667000"/>
            <a:ext cx="1952700" cy="1143000"/>
            <a:chOff x="0" y="0"/>
            <a:chExt cx="1952700" cy="1143000"/>
          </a:xfrm>
        </p:grpSpPr>
        <p:sp>
          <p:nvSpPr>
            <p:cNvPr id="687" name="Google Shape;687;p28"/>
            <p:cNvSpPr/>
            <p:nvPr/>
          </p:nvSpPr>
          <p:spPr>
            <a:xfrm>
              <a:off x="0" y="0"/>
              <a:ext cx="1952700" cy="1143000"/>
            </a:xfrm>
            <a:prstGeom prst="roundRect">
              <a:avLst>
                <a:gd fmla="val 8333" name="adj"/>
              </a:avLst>
            </a:prstGeom>
            <a:solidFill>
              <a:srgbClr val="FFFFFF"/>
            </a:solidFill>
            <a:ln cap="flat" cmpd="sng" w="9525">
              <a:solidFill>
                <a:srgbClr val="3B82F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28"/>
            <p:cNvSpPr txBox="1"/>
            <p:nvPr/>
          </p:nvSpPr>
          <p:spPr>
            <a:xfrm>
              <a:off x="0" y="0"/>
              <a:ext cx="1952700" cy="1143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142875" lIns="142875" spcFirstLastPara="1" rIns="142875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Attack Success Rate</a:t>
              </a:r>
              <a:endParaRPr b="0" sz="900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2563E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&lt; 12.0%</a:t>
              </a:r>
              <a:endParaRPr b="1" sz="10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Under iterative white-box gradient attacks.</a:t>
              </a:r>
              <a:endParaRPr b="0" sz="8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89" name="Google Shape;689;p28"/>
          <p:cNvGrpSpPr/>
          <p:nvPr/>
        </p:nvGrpSpPr>
        <p:grpSpPr>
          <a:xfrm>
            <a:off x="2524125" y="2667000"/>
            <a:ext cx="1952700" cy="1143000"/>
            <a:chOff x="0" y="0"/>
            <a:chExt cx="1952700" cy="1143000"/>
          </a:xfrm>
        </p:grpSpPr>
        <p:sp>
          <p:nvSpPr>
            <p:cNvPr id="690" name="Google Shape;690;p28"/>
            <p:cNvSpPr/>
            <p:nvPr/>
          </p:nvSpPr>
          <p:spPr>
            <a:xfrm>
              <a:off x="0" y="0"/>
              <a:ext cx="1952700" cy="1143000"/>
            </a:xfrm>
            <a:prstGeom prst="roundRect">
              <a:avLst>
                <a:gd fmla="val 8333" name="adj"/>
              </a:avLst>
            </a:prstGeom>
            <a:solidFill>
              <a:srgbClr val="FFFFFF"/>
            </a:solidFill>
            <a:ln cap="flat" cmpd="sng" w="9525">
              <a:solidFill>
                <a:srgbClr val="06B6D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28"/>
            <p:cNvSpPr txBox="1"/>
            <p:nvPr/>
          </p:nvSpPr>
          <p:spPr>
            <a:xfrm>
              <a:off x="0" y="0"/>
              <a:ext cx="1952700" cy="1143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142875" lIns="142875" spcFirstLastPara="1" rIns="142875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06B6D4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Inference Speed</a:t>
              </a:r>
              <a:endParaRPr b="0" sz="900">
                <a:solidFill>
                  <a:srgbClr val="06B6D4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2200">
                  <a:solidFill>
                    <a:srgbClr val="06B6D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&lt; 0.05 ms</a:t>
              </a:r>
              <a:endParaRPr b="1" sz="1000">
                <a:solidFill>
                  <a:srgbClr val="06B6D4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Amortized per flow (preliminary: &lt;0.02 ms).</a:t>
              </a:r>
              <a:endParaRPr b="0" sz="8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92" name="Google Shape;692;p28"/>
          <p:cNvGrpSpPr/>
          <p:nvPr/>
        </p:nvGrpSpPr>
        <p:grpSpPr>
          <a:xfrm>
            <a:off x="4667250" y="1333500"/>
            <a:ext cx="4095900" cy="2476500"/>
            <a:chOff x="0" y="0"/>
            <a:chExt cx="4095900" cy="2476500"/>
          </a:xfrm>
        </p:grpSpPr>
        <p:sp>
          <p:nvSpPr>
            <p:cNvPr id="693" name="Google Shape;693;p28"/>
            <p:cNvSpPr/>
            <p:nvPr/>
          </p:nvSpPr>
          <p:spPr>
            <a:xfrm>
              <a:off x="0" y="0"/>
              <a:ext cx="4095900" cy="2476500"/>
            </a:xfrm>
            <a:prstGeom prst="roundRect">
              <a:avLst>
                <a:gd fmla="val 4615" name="adj"/>
              </a:avLst>
            </a:prstGeom>
            <a:solidFill>
              <a:srgbClr val="FFFFFF"/>
            </a:solidFill>
            <a:ln cap="flat" cmpd="sng" w="9525">
              <a:solidFill>
                <a:srgbClr val="0D2B5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28"/>
            <p:cNvSpPr/>
            <p:nvPr/>
          </p:nvSpPr>
          <p:spPr>
            <a:xfrm>
              <a:off x="190500" y="190500"/>
              <a:ext cx="38100" cy="3810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 cap="flat" cmpd="sng" w="9525">
              <a:solidFill>
                <a:srgbClr val="0D2B5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28"/>
            <p:cNvSpPr txBox="1"/>
            <p:nvPr/>
          </p:nvSpPr>
          <p:spPr>
            <a:xfrm>
              <a:off x="333375" y="171450"/>
              <a:ext cx="3571800" cy="2143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0A192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Multi-Threat Evaluation Suite</a:t>
              </a:r>
              <a:endParaRPr b="0" sz="1300">
                <a:solidFill>
                  <a:srgbClr val="0A192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First-Order Gradient Attacks</a:t>
              </a:r>
              <a:endParaRPr b="1" sz="950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FGSM, PGD20, PGD100, BIM</a:t>
              </a:r>
              <a:endParaRPr b="0" sz="9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Parameter-Free &amp; Optimization Attacks</a:t>
              </a:r>
              <a:endParaRPr b="1" sz="950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Auto-PGD (APGD-CE), Carlini-Wagner (l∞)</a:t>
              </a:r>
              <a:endParaRPr b="0" sz="9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Decision-Based &amp; Black-Box Attacks</a:t>
              </a:r>
              <a:endParaRPr b="1" sz="950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Square Attack (query-based), Surrogate Model Transferability</a:t>
              </a:r>
              <a:endParaRPr b="0" sz="9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96" name="Google Shape;696;p28"/>
          <p:cNvGrpSpPr/>
          <p:nvPr/>
        </p:nvGrpSpPr>
        <p:grpSpPr>
          <a:xfrm>
            <a:off x="381000" y="3952875"/>
            <a:ext cx="8382000" cy="619200"/>
            <a:chOff x="0" y="0"/>
            <a:chExt cx="8382000" cy="619200"/>
          </a:xfrm>
        </p:grpSpPr>
        <p:sp>
          <p:nvSpPr>
            <p:cNvPr id="697" name="Google Shape;697;p28"/>
            <p:cNvSpPr/>
            <p:nvPr/>
          </p:nvSpPr>
          <p:spPr>
            <a:xfrm>
              <a:off x="0" y="0"/>
              <a:ext cx="8382000" cy="619200"/>
            </a:xfrm>
            <a:prstGeom prst="roundRect">
              <a:avLst>
                <a:gd fmla="val 12307" name="adj"/>
              </a:avLst>
            </a:prstGeom>
            <a:solidFill>
              <a:srgbClr val="112240"/>
            </a:solidFill>
            <a:ln cap="flat" cmpd="sng" w="9525">
              <a:solidFill>
                <a:srgbClr val="06B6D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98" name="Google Shape;698;p28"/>
            <p:cNvGrpSpPr/>
            <p:nvPr/>
          </p:nvGrpSpPr>
          <p:grpSpPr>
            <a:xfrm>
              <a:off x="190500" y="190500"/>
              <a:ext cx="1047900" cy="238200"/>
              <a:chOff x="0" y="0"/>
              <a:chExt cx="1047900" cy="238200"/>
            </a:xfrm>
          </p:grpSpPr>
          <p:sp>
            <p:nvSpPr>
              <p:cNvPr id="699" name="Google Shape;699;p28"/>
              <p:cNvSpPr/>
              <p:nvPr/>
            </p:nvSpPr>
            <p:spPr>
              <a:xfrm>
                <a:off x="0" y="0"/>
                <a:ext cx="1047900" cy="238200"/>
              </a:xfrm>
              <a:prstGeom prst="roundRect">
                <a:avLst>
                  <a:gd fmla="val 16000" name="adj"/>
                </a:avLst>
              </a:prstGeom>
              <a:solidFill>
                <a:srgbClr val="06B6D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0" name="Google Shape;700;p28"/>
              <p:cNvSpPr txBox="1"/>
              <p:nvPr/>
            </p:nvSpPr>
            <p:spPr>
              <a:xfrm>
                <a:off x="0" y="0"/>
                <a:ext cx="1047900" cy="2382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50">
                    <a:solidFill>
                      <a:srgbClr val="112240"/>
                    </a:solidFill>
                    <a:latin typeface="Inter"/>
                    <a:ea typeface="Inter"/>
                    <a:cs typeface="Inter"/>
                    <a:sym typeface="Inter"/>
                  </a:rPr>
                  <a:t>VERIFICATION</a:t>
                </a:r>
                <a:endParaRPr b="1" sz="850">
                  <a:solidFill>
                    <a:srgbClr val="11224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sp>
          <p:nvSpPr>
            <p:cNvPr id="701" name="Google Shape;701;p28"/>
            <p:cNvSpPr txBox="1"/>
            <p:nvPr/>
          </p:nvSpPr>
          <p:spPr>
            <a:xfrm>
              <a:off x="1428750" y="114300"/>
              <a:ext cx="6762900" cy="400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14">
                  <a:solidFill>
                    <a:srgbClr val="00F0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Gradient Obfuscation Safeguards</a:t>
              </a:r>
              <a:endParaRPr b="0" sz="814">
                <a:solidFill>
                  <a:srgbClr val="00F0F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736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Validate that robustness is genuine and not caused by gradient masking (verifying non-zero input gradients and evaluating black-box transferability).</a:t>
              </a:r>
              <a:endParaRPr b="0" sz="736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" name="Google Shape;706;p29"/>
          <p:cNvPicPr preferRelativeResize="0"/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0" y="19936"/>
            <a:ext cx="9144002" cy="5103629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pic>
      <p:sp>
        <p:nvSpPr>
          <p:cNvPr id="707" name="Google Shape;707;p29"/>
          <p:cNvSpPr/>
          <p:nvPr/>
        </p:nvSpPr>
        <p:spPr>
          <a:xfrm>
            <a:off x="381000" y="952500"/>
            <a:ext cx="8382000" cy="96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29"/>
          <p:cNvSpPr/>
          <p:nvPr/>
        </p:nvSpPr>
        <p:spPr>
          <a:xfrm>
            <a:off x="381000" y="4667250"/>
            <a:ext cx="8382000" cy="96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09" name="Google Shape;709;p29"/>
          <p:cNvGrpSpPr/>
          <p:nvPr/>
        </p:nvGrpSpPr>
        <p:grpSpPr>
          <a:xfrm>
            <a:off x="381000" y="333375"/>
            <a:ext cx="285900" cy="190500"/>
            <a:chOff x="0" y="0"/>
            <a:chExt cx="285900" cy="190500"/>
          </a:xfrm>
        </p:grpSpPr>
        <p:sp>
          <p:nvSpPr>
            <p:cNvPr id="710" name="Google Shape;710;p29"/>
            <p:cNvSpPr/>
            <p:nvPr/>
          </p:nvSpPr>
          <p:spPr>
            <a:xfrm>
              <a:off x="0" y="0"/>
              <a:ext cx="285900" cy="190500"/>
            </a:xfrm>
            <a:custGeom>
              <a:rect b="b" l="l" r="r" t="t"/>
              <a:pathLst>
                <a:path extrusionOk="0" h="120000" w="120000">
                  <a:moveTo>
                    <a:pt x="40000" y="0"/>
                  </a:moveTo>
                  <a:lnTo>
                    <a:pt x="120000" y="0"/>
                  </a:lnTo>
                  <a:lnTo>
                    <a:pt x="8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6B6D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1" name="Google Shape;711;p29"/>
            <p:cNvSpPr/>
            <p:nvPr/>
          </p:nvSpPr>
          <p:spPr>
            <a:xfrm>
              <a:off x="142875" y="0"/>
              <a:ext cx="142800" cy="190500"/>
            </a:xfrm>
            <a:custGeom>
              <a:rect b="b" l="l" r="r" t="t"/>
              <a:pathLst>
                <a:path extrusionOk="0" h="120000" w="120000">
                  <a:moveTo>
                    <a:pt x="80000" y="0"/>
                  </a:moveTo>
                  <a:lnTo>
                    <a:pt x="120000" y="0"/>
                  </a:lnTo>
                  <a:lnTo>
                    <a:pt x="4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12" name="Google Shape;712;p29"/>
          <p:cNvSpPr txBox="1"/>
          <p:nvPr/>
        </p:nvSpPr>
        <p:spPr>
          <a:xfrm>
            <a:off x="857250" y="228600"/>
            <a:ext cx="79059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000">
                <a:solidFill>
                  <a:srgbClr val="0A192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Conclusion &amp; Immediate Next Steps</a:t>
            </a:r>
            <a:endParaRPr b="0" sz="2000">
              <a:solidFill>
                <a:srgbClr val="0A192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225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Summary of proposed contributions and immediate project execution roadmap</a:t>
            </a:r>
            <a:endParaRPr b="0" sz="10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713" name="Google Shape;713;p29"/>
          <p:cNvGrpSpPr/>
          <p:nvPr/>
        </p:nvGrpSpPr>
        <p:grpSpPr>
          <a:xfrm>
            <a:off x="381000" y="1095375"/>
            <a:ext cx="4048200" cy="3381300"/>
            <a:chOff x="0" y="0"/>
            <a:chExt cx="4048200" cy="3381300"/>
          </a:xfrm>
        </p:grpSpPr>
        <p:sp>
          <p:nvSpPr>
            <p:cNvPr id="714" name="Google Shape;714;p29"/>
            <p:cNvSpPr/>
            <p:nvPr/>
          </p:nvSpPr>
          <p:spPr>
            <a:xfrm>
              <a:off x="0" y="0"/>
              <a:ext cx="4048200" cy="3381300"/>
            </a:xfrm>
            <a:prstGeom prst="roundRect">
              <a:avLst>
                <a:gd fmla="val 3380" name="adj"/>
              </a:avLst>
            </a:prstGeom>
            <a:solidFill>
              <a:srgbClr val="FFFFFF"/>
            </a:solidFill>
            <a:ln cap="flat" cmpd="sng" w="14300">
              <a:solidFill>
                <a:srgbClr val="DBEA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5" name="Google Shape;715;p29"/>
            <p:cNvSpPr/>
            <p:nvPr/>
          </p:nvSpPr>
          <p:spPr>
            <a:xfrm>
              <a:off x="142875" y="142875"/>
              <a:ext cx="1524000" cy="209700"/>
            </a:xfrm>
            <a:prstGeom prst="roundRect">
              <a:avLst>
                <a:gd fmla="val 18181" name="adj"/>
              </a:avLst>
            </a:prstGeom>
            <a:solidFill>
              <a:srgbClr val="EFF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6" name="Google Shape;716;p29"/>
            <p:cNvSpPr txBox="1"/>
            <p:nvPr/>
          </p:nvSpPr>
          <p:spPr>
            <a:xfrm>
              <a:off x="142875" y="142875"/>
              <a:ext cx="15240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50">
                  <a:solidFill>
                    <a:srgbClr val="2563E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PROPOSED CONTRIBUTIONS</a:t>
              </a:r>
              <a:endParaRPr b="1" sz="750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717" name="Google Shape;717;p29"/>
            <p:cNvSpPr txBox="1"/>
            <p:nvPr/>
          </p:nvSpPr>
          <p:spPr>
            <a:xfrm>
              <a:off x="142875" y="428625"/>
              <a:ext cx="37623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0A192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Summary of Key Innovations</a:t>
              </a:r>
              <a:endParaRPr b="0" sz="1300">
                <a:solidFill>
                  <a:srgbClr val="0A192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grpSp>
          <p:nvGrpSpPr>
            <p:cNvPr id="718" name="Google Shape;718;p29"/>
            <p:cNvGrpSpPr/>
            <p:nvPr/>
          </p:nvGrpSpPr>
          <p:grpSpPr>
            <a:xfrm>
              <a:off x="142875" y="809625"/>
              <a:ext cx="3762300" cy="666900"/>
              <a:chOff x="0" y="0"/>
              <a:chExt cx="3762300" cy="666900"/>
            </a:xfrm>
          </p:grpSpPr>
          <p:sp>
            <p:nvSpPr>
              <p:cNvPr id="719" name="Google Shape;719;p29"/>
              <p:cNvSpPr/>
              <p:nvPr/>
            </p:nvSpPr>
            <p:spPr>
              <a:xfrm>
                <a:off x="0" y="0"/>
                <a:ext cx="28500" cy="666900"/>
              </a:xfrm>
              <a:prstGeom prst="roundRect">
                <a:avLst>
                  <a:gd fmla="val 50000" name="adj"/>
                </a:avLst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0" name="Google Shape;720;p29"/>
              <p:cNvSpPr txBox="1"/>
              <p:nvPr/>
            </p:nvSpPr>
            <p:spPr>
              <a:xfrm>
                <a:off x="114300" y="0"/>
                <a:ext cx="36480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00">
                    <a:solidFill>
                      <a:srgbClr val="0A192F"/>
                    </a:solidFill>
                    <a:latin typeface="Inter"/>
                    <a:ea typeface="Inter"/>
                    <a:cs typeface="Inter"/>
                    <a:sym typeface="Inter"/>
                  </a:rPr>
                  <a:t>Theoretical Contribution</a:t>
                </a:r>
                <a:endParaRPr b="1" sz="90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225"/>
                  </a:spcBef>
                  <a:spcAft>
                    <a:spcPts val="0"/>
                  </a:spcAft>
                  <a:buNone/>
                </a:pPr>
                <a:r>
                  <a:rPr lang="en" sz="850">
                    <a:solidFill>
                      <a:srgbClr val="334155"/>
                    </a:solidFill>
                    <a:latin typeface="Inter"/>
                    <a:ea typeface="Inter"/>
                    <a:cs typeface="Inter"/>
                    <a:sym typeface="Inter"/>
                  </a:rPr>
                  <a:t>Identifies 27 stable, attack-resistant features using our Adversarial Stability SHAP method. </a:t>
                </a:r>
                <a:endParaRPr b="0" sz="8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721" name="Google Shape;721;p29"/>
            <p:cNvGrpSpPr/>
            <p:nvPr/>
          </p:nvGrpSpPr>
          <p:grpSpPr>
            <a:xfrm>
              <a:off x="142875" y="1571625"/>
              <a:ext cx="3762300" cy="762000"/>
              <a:chOff x="0" y="0"/>
              <a:chExt cx="3762300" cy="762000"/>
            </a:xfrm>
          </p:grpSpPr>
          <p:sp>
            <p:nvSpPr>
              <p:cNvPr id="722" name="Google Shape;722;p29"/>
              <p:cNvSpPr/>
              <p:nvPr/>
            </p:nvSpPr>
            <p:spPr>
              <a:xfrm>
                <a:off x="0" y="0"/>
                <a:ext cx="28500" cy="762000"/>
              </a:xfrm>
              <a:prstGeom prst="roundRect">
                <a:avLst>
                  <a:gd fmla="val 50000" name="adj"/>
                </a:avLst>
              </a:prstGeom>
              <a:solidFill>
                <a:srgbClr val="06B6D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3" name="Google Shape;723;p29"/>
              <p:cNvSpPr txBox="1"/>
              <p:nvPr/>
            </p:nvSpPr>
            <p:spPr>
              <a:xfrm>
                <a:off x="114300" y="0"/>
                <a:ext cx="36480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00">
                    <a:solidFill>
                      <a:srgbClr val="0A192F"/>
                    </a:solidFill>
                    <a:latin typeface="Inter"/>
                    <a:ea typeface="Inter"/>
                    <a:cs typeface="Inter"/>
                    <a:sym typeface="Inter"/>
                  </a:rPr>
                  <a:t>Architectural Contribution</a:t>
                </a:r>
                <a:endParaRPr b="1" sz="90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225"/>
                  </a:spcBef>
                  <a:spcAft>
                    <a:spcPts val="0"/>
                  </a:spcAft>
                  <a:buNone/>
                </a:pPr>
                <a:r>
                  <a:rPr lang="en" sz="850">
                    <a:solidFill>
                      <a:srgbClr val="334155"/>
                    </a:solidFill>
                    <a:latin typeface="Inter"/>
                    <a:ea typeface="Inter"/>
                    <a:cs typeface="Inter"/>
                    <a:sym typeface="Inter"/>
                  </a:rPr>
                  <a:t>Introduces two-phase dynamic training to stop attack staleness without sacrificing normal traffic accuracy. </a:t>
                </a:r>
                <a:endParaRPr b="0" sz="8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724" name="Google Shape;724;p29"/>
            <p:cNvGrpSpPr/>
            <p:nvPr/>
          </p:nvGrpSpPr>
          <p:grpSpPr>
            <a:xfrm>
              <a:off x="142875" y="2428875"/>
              <a:ext cx="3762300" cy="714300"/>
              <a:chOff x="0" y="0"/>
              <a:chExt cx="3762300" cy="714300"/>
            </a:xfrm>
          </p:grpSpPr>
          <p:sp>
            <p:nvSpPr>
              <p:cNvPr id="725" name="Google Shape;725;p29"/>
              <p:cNvSpPr/>
              <p:nvPr/>
            </p:nvSpPr>
            <p:spPr>
              <a:xfrm>
                <a:off x="0" y="0"/>
                <a:ext cx="28500" cy="714300"/>
              </a:xfrm>
              <a:prstGeom prst="roundRect">
                <a:avLst>
                  <a:gd fmla="val 50000" name="adj"/>
                </a:avLst>
              </a:prstGeom>
              <a:solidFill>
                <a:srgbClr val="1E3A8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6" name="Google Shape;726;p29"/>
              <p:cNvSpPr txBox="1"/>
              <p:nvPr/>
            </p:nvSpPr>
            <p:spPr>
              <a:xfrm>
                <a:off x="114300" y="0"/>
                <a:ext cx="3648000" cy="7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00">
                    <a:solidFill>
                      <a:srgbClr val="0A192F"/>
                    </a:solidFill>
                    <a:latin typeface="Inter"/>
                    <a:ea typeface="Inter"/>
                    <a:cs typeface="Inter"/>
                    <a:sym typeface="Inter"/>
                  </a:rPr>
                  <a:t>Methodological Hygiene</a:t>
                </a:r>
                <a:endParaRPr b="1" sz="90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225"/>
                  </a:spcBef>
                  <a:spcAft>
                    <a:spcPts val="0"/>
                  </a:spcAft>
                  <a:buNone/>
                </a:pPr>
                <a:r>
                  <a:rPr b="0" lang="en" sz="850">
                    <a:solidFill>
                      <a:srgbClr val="334155"/>
                    </a:solidFill>
                    <a:latin typeface="Inter"/>
                    <a:ea typeface="Inter"/>
                    <a:cs typeface="Inter"/>
                    <a:sym typeface="Inter"/>
                  </a:rPr>
                  <a:t>Permanently removes socket shortcut leakage and enforces strict zero-leakage 72/8/20 partitioning on 6.32M valid flows.</a:t>
                </a:r>
                <a:endParaRPr b="0" sz="8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727" name="Google Shape;727;p29"/>
          <p:cNvGrpSpPr/>
          <p:nvPr/>
        </p:nvGrpSpPr>
        <p:grpSpPr>
          <a:xfrm>
            <a:off x="4714875" y="1095375"/>
            <a:ext cx="4048200" cy="3381300"/>
            <a:chOff x="0" y="0"/>
            <a:chExt cx="4048200" cy="3381300"/>
          </a:xfrm>
        </p:grpSpPr>
        <p:sp>
          <p:nvSpPr>
            <p:cNvPr id="728" name="Google Shape;728;p29"/>
            <p:cNvSpPr/>
            <p:nvPr/>
          </p:nvSpPr>
          <p:spPr>
            <a:xfrm>
              <a:off x="0" y="0"/>
              <a:ext cx="4048200" cy="3381300"/>
            </a:xfrm>
            <a:prstGeom prst="roundRect">
              <a:avLst>
                <a:gd fmla="val 3380" name="adj"/>
              </a:avLst>
            </a:prstGeom>
            <a:solidFill>
              <a:srgbClr val="FFFFFF"/>
            </a:solidFill>
            <a:ln cap="flat" cmpd="sng" w="14300">
              <a:solidFill>
                <a:srgbClr val="DBEA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29"/>
            <p:cNvSpPr/>
            <p:nvPr/>
          </p:nvSpPr>
          <p:spPr>
            <a:xfrm>
              <a:off x="142875" y="142875"/>
              <a:ext cx="1095300" cy="209700"/>
            </a:xfrm>
            <a:prstGeom prst="roundRect">
              <a:avLst>
                <a:gd fmla="val 18181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29"/>
            <p:cNvSpPr txBox="1"/>
            <p:nvPr/>
          </p:nvSpPr>
          <p:spPr>
            <a:xfrm>
              <a:off x="142875" y="142875"/>
              <a:ext cx="10953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50">
                  <a:solidFill>
                    <a:srgbClr val="475569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SEPT 11 – OCT 11</a:t>
              </a:r>
              <a:endParaRPr b="1" sz="750">
                <a:solidFill>
                  <a:srgbClr val="475569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731" name="Google Shape;731;p29"/>
            <p:cNvSpPr txBox="1"/>
            <p:nvPr/>
          </p:nvSpPr>
          <p:spPr>
            <a:xfrm>
              <a:off x="142875" y="428625"/>
              <a:ext cx="37623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0A192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Immediate Next Milestones</a:t>
              </a:r>
              <a:endParaRPr b="0" sz="1300">
                <a:solidFill>
                  <a:srgbClr val="0A192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grpSp>
          <p:nvGrpSpPr>
            <p:cNvPr id="732" name="Google Shape;732;p29"/>
            <p:cNvGrpSpPr/>
            <p:nvPr/>
          </p:nvGrpSpPr>
          <p:grpSpPr>
            <a:xfrm>
              <a:off x="142875" y="702945"/>
              <a:ext cx="3762450" cy="619200"/>
              <a:chOff x="0" y="-106680"/>
              <a:chExt cx="3762450" cy="619200"/>
            </a:xfrm>
          </p:grpSpPr>
          <p:sp>
            <p:nvSpPr>
              <p:cNvPr id="733" name="Google Shape;733;p29"/>
              <p:cNvSpPr/>
              <p:nvPr/>
            </p:nvSpPr>
            <p:spPr>
              <a:xfrm>
                <a:off x="0" y="0"/>
                <a:ext cx="285900" cy="2859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4" name="Google Shape;734;p29"/>
              <p:cNvSpPr txBox="1"/>
              <p:nvPr/>
            </p:nvSpPr>
            <p:spPr>
              <a:xfrm>
                <a:off x="0" y="0"/>
                <a:ext cx="285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00">
                    <a:solidFill>
                      <a:srgbClr val="FFFFFF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01</a:t>
                </a:r>
                <a:endParaRPr b="1" sz="900">
                  <a:solidFill>
                    <a:srgbClr val="FFFFFF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  <p:sp>
            <p:nvSpPr>
              <p:cNvPr id="735" name="Google Shape;735;p29"/>
              <p:cNvSpPr txBox="1"/>
              <p:nvPr/>
            </p:nvSpPr>
            <p:spPr>
              <a:xfrm>
                <a:off x="400050" y="-106680"/>
                <a:ext cx="3362400" cy="6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334155"/>
                    </a:solidFill>
                    <a:latin typeface="Inter"/>
                    <a:ea typeface="Inter"/>
                    <a:cs typeface="Inter"/>
                    <a:sym typeface="Inter"/>
                  </a:rPr>
                  <a:t>Execute 3-seed experimental runs across all 9 adversarial threat models.</a:t>
                </a:r>
                <a:endParaRPr b="0" sz="9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736" name="Google Shape;736;p29"/>
            <p:cNvGrpSpPr/>
            <p:nvPr/>
          </p:nvGrpSpPr>
          <p:grpSpPr>
            <a:xfrm>
              <a:off x="142875" y="1464945"/>
              <a:ext cx="3762450" cy="619200"/>
              <a:chOff x="0" y="-106680"/>
              <a:chExt cx="3762450" cy="619200"/>
            </a:xfrm>
          </p:grpSpPr>
          <p:sp>
            <p:nvSpPr>
              <p:cNvPr id="737" name="Google Shape;737;p29"/>
              <p:cNvSpPr/>
              <p:nvPr/>
            </p:nvSpPr>
            <p:spPr>
              <a:xfrm>
                <a:off x="0" y="0"/>
                <a:ext cx="285900" cy="285900"/>
              </a:xfrm>
              <a:prstGeom prst="ellipse">
                <a:avLst/>
              </a:prstGeom>
              <a:solidFill>
                <a:srgbClr val="06B6D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8" name="Google Shape;738;p29"/>
              <p:cNvSpPr txBox="1"/>
              <p:nvPr/>
            </p:nvSpPr>
            <p:spPr>
              <a:xfrm>
                <a:off x="0" y="0"/>
                <a:ext cx="285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00">
                    <a:solidFill>
                      <a:srgbClr val="FFFFFF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02</a:t>
                </a:r>
                <a:endParaRPr b="1" sz="900">
                  <a:solidFill>
                    <a:srgbClr val="FFFFFF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  <p:sp>
            <p:nvSpPr>
              <p:cNvPr id="739" name="Google Shape;739;p29"/>
              <p:cNvSpPr txBox="1"/>
              <p:nvPr/>
            </p:nvSpPr>
            <p:spPr>
              <a:xfrm>
                <a:off x="400050" y="-106680"/>
                <a:ext cx="3362400" cy="6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334155"/>
                    </a:solidFill>
                    <a:latin typeface="Inter"/>
                    <a:ea typeface="Inter"/>
                    <a:cs typeface="Inter"/>
                    <a:sym typeface="Inter"/>
                  </a:rPr>
                  <a:t>Conduct ablation studies: (1) Full 69D vs. 40D MI vs. 27D Stable; (2) Static Triad vs. Dynamic PGD.</a:t>
                </a:r>
                <a:endParaRPr b="0" sz="9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740" name="Google Shape;740;p29"/>
            <p:cNvGrpSpPr/>
            <p:nvPr/>
          </p:nvGrpSpPr>
          <p:grpSpPr>
            <a:xfrm>
              <a:off x="142875" y="2226945"/>
              <a:ext cx="3762450" cy="619200"/>
              <a:chOff x="0" y="-106680"/>
              <a:chExt cx="3762450" cy="619200"/>
            </a:xfrm>
          </p:grpSpPr>
          <p:sp>
            <p:nvSpPr>
              <p:cNvPr id="741" name="Google Shape;741;p29"/>
              <p:cNvSpPr/>
              <p:nvPr/>
            </p:nvSpPr>
            <p:spPr>
              <a:xfrm>
                <a:off x="0" y="0"/>
                <a:ext cx="285900" cy="285900"/>
              </a:xfrm>
              <a:prstGeom prst="ellipse">
                <a:avLst/>
              </a:prstGeom>
              <a:solidFill>
                <a:srgbClr val="1E3A8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2" name="Google Shape;742;p29"/>
              <p:cNvSpPr txBox="1"/>
              <p:nvPr/>
            </p:nvSpPr>
            <p:spPr>
              <a:xfrm>
                <a:off x="0" y="0"/>
                <a:ext cx="285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00">
                    <a:solidFill>
                      <a:srgbClr val="FFFFFF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03</a:t>
                </a:r>
                <a:endParaRPr b="1" sz="900">
                  <a:solidFill>
                    <a:srgbClr val="FFFFFF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  <p:sp>
            <p:nvSpPr>
              <p:cNvPr id="743" name="Google Shape;743;p29"/>
              <p:cNvSpPr txBox="1"/>
              <p:nvPr/>
            </p:nvSpPr>
            <p:spPr>
              <a:xfrm>
                <a:off x="400050" y="-106680"/>
                <a:ext cx="3362400" cy="6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334155"/>
                    </a:solidFill>
                    <a:latin typeface="Inter"/>
                    <a:ea typeface="Inter"/>
                    <a:cs typeface="Inter"/>
                    <a:sym typeface="Inter"/>
                  </a:rPr>
                  <a:t>Complete and submit the final B.Sc. thesis manuscript for October defense.</a:t>
                </a:r>
                <a:endParaRPr b="0" sz="9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